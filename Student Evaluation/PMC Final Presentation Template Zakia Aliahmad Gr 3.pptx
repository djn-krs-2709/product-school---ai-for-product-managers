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Merriweather Sans"/>
      <p:regular r:id="rId27"/>
      <p:bold r:id="rId28"/>
      <p:italic r:id="rId29"/>
      <p:boldItalic r:id="rId30"/>
    </p:embeddedFont>
    <p:embeddedFont>
      <p:font typeface="Poppins"/>
      <p:regular r:id="rId31"/>
      <p:bold r:id="rId32"/>
      <p:italic r:id="rId33"/>
      <p:boldItalic r:id="rId34"/>
    </p:embeddedFont>
    <p:embeddedFont>
      <p:font typeface="Lato"/>
      <p:regular r:id="rId35"/>
      <p:bold r:id="rId36"/>
      <p:italic r:id="rId37"/>
      <p:boldItalic r:id="rId38"/>
    </p:embeddedFont>
    <p:embeddedFont>
      <p:font typeface="Lato Light"/>
      <p:regular r:id="rId39"/>
      <p:bold r:id="rId40"/>
      <p:italic r:id="rId41"/>
      <p:boldItalic r:id="rId42"/>
    </p:embeddedFont>
    <p:embeddedFont>
      <p:font typeface="Poppins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9DE109-F2CC-45FD-8F9A-4B69E8F95048}">
  <a:tblStyle styleId="{649DE109-F2CC-45FD-8F9A-4B69E8F9504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C3B3467-1ACA-4B72-9468-429F52581097}"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D674B5D-665A-4A29-8576-8D9D123CEF60}" styleName="Table_2">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LatoLight-bold.fntdata"/><Relationship Id="rId20" Type="http://schemas.openxmlformats.org/officeDocument/2006/relationships/slide" Target="slides/slide15.xml"/><Relationship Id="rId42" Type="http://schemas.openxmlformats.org/officeDocument/2006/relationships/font" Target="fonts/LatoLight-boldItalic.fntdata"/><Relationship Id="rId41" Type="http://schemas.openxmlformats.org/officeDocument/2006/relationships/font" Target="fonts/LatoLight-italic.fntdata"/><Relationship Id="rId22" Type="http://schemas.openxmlformats.org/officeDocument/2006/relationships/slide" Target="slides/slide17.xml"/><Relationship Id="rId44" Type="http://schemas.openxmlformats.org/officeDocument/2006/relationships/font" Target="fonts/PoppinsSemiBold-bold.fntdata"/><Relationship Id="rId21" Type="http://schemas.openxmlformats.org/officeDocument/2006/relationships/slide" Target="slides/slide16.xml"/><Relationship Id="rId43" Type="http://schemas.openxmlformats.org/officeDocument/2006/relationships/font" Target="fonts/PoppinsSemiBold-regular.fntdata"/><Relationship Id="rId24" Type="http://schemas.openxmlformats.org/officeDocument/2006/relationships/slide" Target="slides/slide19.xml"/><Relationship Id="rId46" Type="http://schemas.openxmlformats.org/officeDocument/2006/relationships/font" Target="fonts/PoppinsSemiBold-boldItalic.fntdata"/><Relationship Id="rId23" Type="http://schemas.openxmlformats.org/officeDocument/2006/relationships/slide" Target="slides/slide18.xml"/><Relationship Id="rId45"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erriweatherSans-bold.fntdata"/><Relationship Id="rId27" Type="http://schemas.openxmlformats.org/officeDocument/2006/relationships/font" Target="fonts/Merriweather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regular.fntdata"/><Relationship Id="rId30" Type="http://schemas.openxmlformats.org/officeDocument/2006/relationships/font" Target="fonts/MerriweatherSans-boldItalic.fntdata"/><Relationship Id="rId11" Type="http://schemas.openxmlformats.org/officeDocument/2006/relationships/slide" Target="slides/slide6.xml"/><Relationship Id="rId33" Type="http://schemas.openxmlformats.org/officeDocument/2006/relationships/font" Target="fonts/Poppins-italic.fntdata"/><Relationship Id="rId10" Type="http://schemas.openxmlformats.org/officeDocument/2006/relationships/slide" Target="slides/slide5.xml"/><Relationship Id="rId32" Type="http://schemas.openxmlformats.org/officeDocument/2006/relationships/font" Target="fonts/Poppins-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Poppins-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LatoLight-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623111ba04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623111ba04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b="1" sz="1200">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latin typeface="Lato"/>
                <a:ea typeface="Lato"/>
                <a:cs typeface="Lato"/>
                <a:sym typeface="Lato"/>
              </a:rPr>
              <a:t>Module 1: What Product Marketers Do</a:t>
            </a:r>
            <a:endParaRPr b="1" sz="1200">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b="1" sz="1200">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Your students are ready to get a PMM job! In this first lesson, it’s important to set expectations, build excitement, and establish a connection between you and the students. We will start big picture, speaking about the agenda for the entire course, then dive into today’s agenda, make some intros, and then get teaching. </a:t>
            </a:r>
            <a:endParaRPr sz="1000">
              <a:latin typeface="Lato"/>
              <a:ea typeface="Lato"/>
              <a:cs typeface="Lato"/>
              <a:sym typeface="La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4ec57f3453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4ec57f3453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623111ba04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623111ba04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623111ba04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623111ba04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6f2ec3d9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c6f2ec3d9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6f2ec3d9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6f2ec3d9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6f2ec3d9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6f2ec3d9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23111ba04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623111ba04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6f2ec3d9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6f2ec3d9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c6f2ec3d9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c6f2ec3d9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623111ba04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623111ba04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6f2ec3d9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c6f2ec3d9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7abd7bcf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7abd7bc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623111ba04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623111ba04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623111ba04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623111ba04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6f2ec3d99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c6f2ec3d99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7abd7bcf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c7abd7bcf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c7abd7bcf6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c7abd7bcf6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623111ba04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623111ba04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Lato"/>
              <a:ea typeface="Lato"/>
              <a:cs typeface="Lato"/>
              <a:sym typeface="La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623111ba04_0_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623111ba04_0_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b="1" sz="1200">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latin typeface="Lato"/>
                <a:ea typeface="Lato"/>
                <a:cs typeface="Lato"/>
                <a:sym typeface="Lato"/>
              </a:rPr>
              <a:t>Module 1: What Product Marketers Do</a:t>
            </a:r>
            <a:endParaRPr b="1" sz="1200">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b="1" sz="1200">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Your students are ready to get a PMM job! In this first lesson, it’s important to set expectations, build excitement, and establish a connection between you and the students. We will start big picture, speaking about the agenda for the entire course, then dive into today’s agenda, make some intros, and then get teaching. </a:t>
            </a:r>
            <a:endParaRPr sz="1000">
              <a:latin typeface="Lato"/>
              <a:ea typeface="Lato"/>
              <a:cs typeface="Lato"/>
              <a:sym typeface="La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6f2ec3d9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c6f2ec3d9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371550" y="2105100"/>
            <a:ext cx="6400800" cy="1253700"/>
          </a:xfrm>
          <a:prstGeom prst="rect">
            <a:avLst/>
          </a:prstGeom>
        </p:spPr>
        <p:txBody>
          <a:bodyPr anchorCtr="0" anchor="ctr" bIns="0" lIns="0" spcFirstLastPara="1" rIns="0" wrap="square" tIns="0">
            <a:spAutoFit/>
          </a:bodyPr>
          <a:lstStyle>
            <a:lvl1pPr lvl="0">
              <a:lnSpc>
                <a:spcPct val="100000"/>
              </a:lnSpc>
              <a:spcBef>
                <a:spcPts val="1000"/>
              </a:spcBef>
              <a:spcAft>
                <a:spcPts val="0"/>
              </a:spcAft>
              <a:buClr>
                <a:schemeClr val="lt1"/>
              </a:buClr>
              <a:buSzPts val="4000"/>
              <a:buNone/>
              <a:defRPr b="1" sz="4000">
                <a:solidFill>
                  <a:schemeClr val="lt1"/>
                </a:solidFill>
              </a:defRPr>
            </a:lvl1pPr>
            <a:lvl2pPr lvl="1">
              <a:lnSpc>
                <a:spcPct val="100000"/>
              </a:lnSpc>
              <a:spcBef>
                <a:spcPts val="0"/>
              </a:spcBef>
              <a:spcAft>
                <a:spcPts val="0"/>
              </a:spcAft>
              <a:buClr>
                <a:schemeClr val="lt1"/>
              </a:buClr>
              <a:buSzPts val="4000"/>
              <a:buNone/>
              <a:defRPr sz="4000">
                <a:solidFill>
                  <a:schemeClr val="lt1"/>
                </a:solidFill>
              </a:defRPr>
            </a:lvl2pPr>
            <a:lvl3pPr lvl="2">
              <a:lnSpc>
                <a:spcPct val="100000"/>
              </a:lnSpc>
              <a:spcBef>
                <a:spcPts val="0"/>
              </a:spcBef>
              <a:spcAft>
                <a:spcPts val="0"/>
              </a:spcAft>
              <a:buClr>
                <a:schemeClr val="lt1"/>
              </a:buClr>
              <a:buSzPts val="4000"/>
              <a:buNone/>
              <a:defRPr sz="4000">
                <a:solidFill>
                  <a:schemeClr val="lt1"/>
                </a:solidFill>
              </a:defRPr>
            </a:lvl3pPr>
            <a:lvl4pPr lvl="3">
              <a:lnSpc>
                <a:spcPct val="100000"/>
              </a:lnSpc>
              <a:spcBef>
                <a:spcPts val="0"/>
              </a:spcBef>
              <a:spcAft>
                <a:spcPts val="0"/>
              </a:spcAft>
              <a:buClr>
                <a:schemeClr val="lt1"/>
              </a:buClr>
              <a:buSzPts val="4000"/>
              <a:buNone/>
              <a:defRPr sz="4000">
                <a:solidFill>
                  <a:schemeClr val="lt1"/>
                </a:solidFill>
              </a:defRPr>
            </a:lvl4pPr>
            <a:lvl5pPr lvl="4">
              <a:lnSpc>
                <a:spcPct val="100000"/>
              </a:lnSpc>
              <a:spcBef>
                <a:spcPts val="0"/>
              </a:spcBef>
              <a:spcAft>
                <a:spcPts val="0"/>
              </a:spcAft>
              <a:buClr>
                <a:schemeClr val="lt1"/>
              </a:buClr>
              <a:buSzPts val="4000"/>
              <a:buNone/>
              <a:defRPr sz="4000">
                <a:solidFill>
                  <a:schemeClr val="lt1"/>
                </a:solidFill>
              </a:defRPr>
            </a:lvl5pPr>
            <a:lvl6pPr lvl="5">
              <a:lnSpc>
                <a:spcPct val="100000"/>
              </a:lnSpc>
              <a:spcBef>
                <a:spcPts val="0"/>
              </a:spcBef>
              <a:spcAft>
                <a:spcPts val="0"/>
              </a:spcAft>
              <a:buClr>
                <a:schemeClr val="lt1"/>
              </a:buClr>
              <a:buSzPts val="4000"/>
              <a:buNone/>
              <a:defRPr sz="4000">
                <a:solidFill>
                  <a:schemeClr val="lt1"/>
                </a:solidFill>
              </a:defRPr>
            </a:lvl6pPr>
            <a:lvl7pPr lvl="6">
              <a:lnSpc>
                <a:spcPct val="100000"/>
              </a:lnSpc>
              <a:spcBef>
                <a:spcPts val="0"/>
              </a:spcBef>
              <a:spcAft>
                <a:spcPts val="0"/>
              </a:spcAft>
              <a:buClr>
                <a:schemeClr val="lt1"/>
              </a:buClr>
              <a:buSzPts val="4000"/>
              <a:buNone/>
              <a:defRPr sz="4000">
                <a:solidFill>
                  <a:schemeClr val="lt1"/>
                </a:solidFill>
              </a:defRPr>
            </a:lvl7pPr>
            <a:lvl8pPr lvl="7">
              <a:lnSpc>
                <a:spcPct val="100000"/>
              </a:lnSpc>
              <a:spcBef>
                <a:spcPts val="0"/>
              </a:spcBef>
              <a:spcAft>
                <a:spcPts val="0"/>
              </a:spcAft>
              <a:buClr>
                <a:schemeClr val="lt1"/>
              </a:buClr>
              <a:buSzPts val="4000"/>
              <a:buNone/>
              <a:defRPr sz="4000">
                <a:solidFill>
                  <a:schemeClr val="lt1"/>
                </a:solidFill>
              </a:defRPr>
            </a:lvl8pPr>
            <a:lvl9pPr lvl="8">
              <a:lnSpc>
                <a:spcPct val="100000"/>
              </a:lnSpc>
              <a:spcBef>
                <a:spcPts val="0"/>
              </a:spcBef>
              <a:spcAft>
                <a:spcPts val="0"/>
              </a:spcAft>
              <a:buClr>
                <a:schemeClr val="lt1"/>
              </a:buClr>
              <a:buSzPts val="4000"/>
              <a:buNone/>
              <a:defRPr sz="4000">
                <a:solidFill>
                  <a:schemeClr val="lt1"/>
                </a:solidFill>
              </a:defRPr>
            </a:lvl9pPr>
          </a:lstStyle>
          <a:p/>
        </p:txBody>
      </p:sp>
      <p:sp>
        <p:nvSpPr>
          <p:cNvPr id="11" name="Google Shape;11;p2"/>
          <p:cNvSpPr txBox="1"/>
          <p:nvPr>
            <p:ph idx="1" type="subTitle"/>
          </p:nvPr>
        </p:nvSpPr>
        <p:spPr>
          <a:xfrm>
            <a:off x="1371600" y="1714500"/>
            <a:ext cx="6400800" cy="3906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
        <p:nvSpPr>
          <p:cNvPr id="12" name="Google Shape;12;p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3" name="Google Shape;13;p2"/>
          <p:cNvPicPr preferRelativeResize="0"/>
          <p:nvPr/>
        </p:nvPicPr>
        <p:blipFill rotWithShape="1">
          <a:blip r:embed="rId2">
            <a:alphaModFix/>
          </a:blip>
          <a:srcRect b="0" l="0" r="83757" t="0"/>
          <a:stretch/>
        </p:blipFill>
        <p:spPr>
          <a:xfrm>
            <a:off x="8378792" y="571500"/>
            <a:ext cx="222649" cy="237100"/>
          </a:xfrm>
          <a:prstGeom prst="rect">
            <a:avLst/>
          </a:prstGeom>
          <a:noFill/>
          <a:ln>
            <a:noFill/>
          </a:ln>
        </p:spPr>
      </p:pic>
    </p:spTree>
  </p:cSld>
  <p:clrMapOvr>
    <a:masterClrMapping/>
  </p:clrMapOvr>
  <p:extLst>
    <p:ext uri="{DCECCB84-F9BA-43D5-87BE-67443E8EF086}">
      <p15:sldGuideLst>
        <p15:guide id="1" pos="864">
          <p15:clr>
            <a:srgbClr val="E46962"/>
          </p15:clr>
        </p15:guide>
        <p15:guide id="2" pos="489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ining Agenda">
  <p:cSld name="CUSTOM_5_1">
    <p:spTree>
      <p:nvGrpSpPr>
        <p:cNvPr id="14" name="Shape 14"/>
        <p:cNvGrpSpPr/>
        <p:nvPr/>
      </p:nvGrpSpPr>
      <p:grpSpPr>
        <a:xfrm>
          <a:off x="0" y="0"/>
          <a:ext cx="0" cy="0"/>
          <a:chOff x="0" y="0"/>
          <a:chExt cx="0" cy="0"/>
        </a:xfrm>
      </p:grpSpPr>
      <p:sp>
        <p:nvSpPr>
          <p:cNvPr id="15" name="Google Shape;15;p3"/>
          <p:cNvSpPr txBox="1"/>
          <p:nvPr>
            <p:ph type="title"/>
          </p:nvPr>
        </p:nvSpPr>
        <p:spPr>
          <a:xfrm>
            <a:off x="571500" y="800102"/>
            <a:ext cx="4000500" cy="5706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6" name="Google Shape;16;p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86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571500" y="800102"/>
            <a:ext cx="4000500" cy="570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None/>
              <a:defRPr b="1">
                <a:solidFill>
                  <a:schemeClr val="lt1"/>
                </a:solidFill>
              </a:defRPr>
            </a:lvl1pPr>
            <a:lvl2pPr lvl="1" rtl="0">
              <a:spcBef>
                <a:spcPts val="0"/>
              </a:spcBef>
              <a:spcAft>
                <a:spcPts val="0"/>
              </a:spcAft>
              <a:buClr>
                <a:schemeClr val="lt1"/>
              </a:buClr>
              <a:buSzPts val="1800"/>
              <a:buNone/>
              <a:defRPr>
                <a:solidFill>
                  <a:schemeClr val="lt1"/>
                </a:solidFill>
              </a:defRPr>
            </a:lvl2pPr>
            <a:lvl3pPr lvl="2" rtl="0">
              <a:spcBef>
                <a:spcPts val="0"/>
              </a:spcBef>
              <a:spcAft>
                <a:spcPts val="0"/>
              </a:spcAft>
              <a:buClr>
                <a:schemeClr val="lt1"/>
              </a:buClr>
              <a:buSzPts val="1800"/>
              <a:buNone/>
              <a:defRPr>
                <a:solidFill>
                  <a:schemeClr val="lt1"/>
                </a:solidFill>
              </a:defRPr>
            </a:lvl3pPr>
            <a:lvl4pPr lvl="3" rtl="0">
              <a:spcBef>
                <a:spcPts val="0"/>
              </a:spcBef>
              <a:spcAft>
                <a:spcPts val="0"/>
              </a:spcAft>
              <a:buClr>
                <a:schemeClr val="lt1"/>
              </a:buClr>
              <a:buSzPts val="1800"/>
              <a:buNone/>
              <a:defRPr>
                <a:solidFill>
                  <a:schemeClr val="lt1"/>
                </a:solidFill>
              </a:defRPr>
            </a:lvl4pPr>
            <a:lvl5pPr lvl="4" rtl="0">
              <a:spcBef>
                <a:spcPts val="0"/>
              </a:spcBef>
              <a:spcAft>
                <a:spcPts val="0"/>
              </a:spcAft>
              <a:buClr>
                <a:schemeClr val="lt1"/>
              </a:buClr>
              <a:buSzPts val="1800"/>
              <a:buNone/>
              <a:defRPr>
                <a:solidFill>
                  <a:schemeClr val="lt1"/>
                </a:solidFill>
              </a:defRPr>
            </a:lvl5pPr>
            <a:lvl6pPr lvl="5" rtl="0">
              <a:spcBef>
                <a:spcPts val="0"/>
              </a:spcBef>
              <a:spcAft>
                <a:spcPts val="0"/>
              </a:spcAft>
              <a:buClr>
                <a:schemeClr val="lt1"/>
              </a:buClr>
              <a:buSzPts val="1800"/>
              <a:buNone/>
              <a:defRPr>
                <a:solidFill>
                  <a:schemeClr val="lt1"/>
                </a:solidFill>
              </a:defRPr>
            </a:lvl6pPr>
            <a:lvl7pPr lvl="6" rtl="0">
              <a:spcBef>
                <a:spcPts val="0"/>
              </a:spcBef>
              <a:spcAft>
                <a:spcPts val="0"/>
              </a:spcAft>
              <a:buClr>
                <a:schemeClr val="lt1"/>
              </a:buClr>
              <a:buSzPts val="1800"/>
              <a:buNone/>
              <a:defRPr>
                <a:solidFill>
                  <a:schemeClr val="lt1"/>
                </a:solidFill>
              </a:defRPr>
            </a:lvl7pPr>
            <a:lvl8pPr lvl="7" rtl="0">
              <a:spcBef>
                <a:spcPts val="0"/>
              </a:spcBef>
              <a:spcAft>
                <a:spcPts val="0"/>
              </a:spcAft>
              <a:buClr>
                <a:schemeClr val="lt1"/>
              </a:buClr>
              <a:buSzPts val="1800"/>
              <a:buNone/>
              <a:defRPr>
                <a:solidFill>
                  <a:schemeClr val="lt1"/>
                </a:solidFill>
              </a:defRPr>
            </a:lvl8pPr>
            <a:lvl9pPr lvl="8" rtl="0">
              <a:spcBef>
                <a:spcPts val="0"/>
              </a:spcBef>
              <a:spcAft>
                <a:spcPts val="0"/>
              </a:spcAft>
              <a:buClr>
                <a:schemeClr val="lt1"/>
              </a:buClr>
              <a:buSzPts val="1800"/>
              <a:buNone/>
              <a:defRPr>
                <a:solidFill>
                  <a:schemeClr val="lt1"/>
                </a:solidFill>
              </a:defRPr>
            </a:lvl9pPr>
          </a:lstStyle>
          <a:p/>
        </p:txBody>
      </p:sp>
      <p:sp>
        <p:nvSpPr>
          <p:cNvPr id="19" name="Google Shape;19;p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863">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_3">
    <p:bg>
      <p:bgPr>
        <a:solidFill>
          <a:schemeClr val="dk1"/>
        </a:solidFill>
      </p:bgPr>
    </p:bg>
    <p:spTree>
      <p:nvGrpSpPr>
        <p:cNvPr id="20" name="Shape 20"/>
        <p:cNvGrpSpPr/>
        <p:nvPr/>
      </p:nvGrpSpPr>
      <p:grpSpPr>
        <a:xfrm>
          <a:off x="0" y="0"/>
          <a:ext cx="0" cy="0"/>
          <a:chOff x="0" y="0"/>
          <a:chExt cx="0" cy="0"/>
        </a:xfrm>
      </p:grpSpPr>
      <p:sp>
        <p:nvSpPr>
          <p:cNvPr id="21" name="Google Shape;21;p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2" name="Google Shape;22;p5"/>
          <p:cNvSpPr txBox="1"/>
          <p:nvPr>
            <p:ph type="ctrTitle"/>
          </p:nvPr>
        </p:nvSpPr>
        <p:spPr>
          <a:xfrm>
            <a:off x="1371575" y="2140200"/>
            <a:ext cx="6400800" cy="1253700"/>
          </a:xfrm>
          <a:prstGeom prst="rect">
            <a:avLst/>
          </a:prstGeom>
        </p:spPr>
        <p:txBody>
          <a:bodyPr anchorCtr="0" anchor="ctr" bIns="0" lIns="0" spcFirstLastPara="1" rIns="0" wrap="square" tIns="0">
            <a:spAutoFit/>
          </a:bodyPr>
          <a:lstStyle>
            <a:lvl1pPr lvl="0" rtl="0" algn="ctr">
              <a:lnSpc>
                <a:spcPct val="100000"/>
              </a:lnSpc>
              <a:spcBef>
                <a:spcPts val="1000"/>
              </a:spcBef>
              <a:spcAft>
                <a:spcPts val="0"/>
              </a:spcAft>
              <a:buClr>
                <a:schemeClr val="lt1"/>
              </a:buClr>
              <a:buSzPts val="4000"/>
              <a:buNone/>
              <a:defRPr b="1" sz="4000">
                <a:solidFill>
                  <a:schemeClr val="lt1"/>
                </a:solidFill>
              </a:defRPr>
            </a:lvl1pPr>
            <a:lvl2pPr lvl="1" rtl="0" algn="ctr">
              <a:lnSpc>
                <a:spcPct val="100000"/>
              </a:lnSpc>
              <a:spcBef>
                <a:spcPts val="0"/>
              </a:spcBef>
              <a:spcAft>
                <a:spcPts val="0"/>
              </a:spcAft>
              <a:buClr>
                <a:schemeClr val="lt1"/>
              </a:buClr>
              <a:buSzPts val="4000"/>
              <a:buNone/>
              <a:defRPr sz="4000">
                <a:solidFill>
                  <a:schemeClr val="lt1"/>
                </a:solidFill>
              </a:defRPr>
            </a:lvl2pPr>
            <a:lvl3pPr lvl="2" rtl="0" algn="ctr">
              <a:lnSpc>
                <a:spcPct val="100000"/>
              </a:lnSpc>
              <a:spcBef>
                <a:spcPts val="0"/>
              </a:spcBef>
              <a:spcAft>
                <a:spcPts val="0"/>
              </a:spcAft>
              <a:buClr>
                <a:schemeClr val="lt1"/>
              </a:buClr>
              <a:buSzPts val="4000"/>
              <a:buNone/>
              <a:defRPr sz="4000">
                <a:solidFill>
                  <a:schemeClr val="lt1"/>
                </a:solidFill>
              </a:defRPr>
            </a:lvl3pPr>
            <a:lvl4pPr lvl="3" rtl="0" algn="ctr">
              <a:lnSpc>
                <a:spcPct val="100000"/>
              </a:lnSpc>
              <a:spcBef>
                <a:spcPts val="0"/>
              </a:spcBef>
              <a:spcAft>
                <a:spcPts val="0"/>
              </a:spcAft>
              <a:buClr>
                <a:schemeClr val="lt1"/>
              </a:buClr>
              <a:buSzPts val="4000"/>
              <a:buNone/>
              <a:defRPr sz="4000">
                <a:solidFill>
                  <a:schemeClr val="lt1"/>
                </a:solidFill>
              </a:defRPr>
            </a:lvl4pPr>
            <a:lvl5pPr lvl="4" rtl="0" algn="ctr">
              <a:lnSpc>
                <a:spcPct val="100000"/>
              </a:lnSpc>
              <a:spcBef>
                <a:spcPts val="0"/>
              </a:spcBef>
              <a:spcAft>
                <a:spcPts val="0"/>
              </a:spcAft>
              <a:buClr>
                <a:schemeClr val="lt1"/>
              </a:buClr>
              <a:buSzPts val="4000"/>
              <a:buNone/>
              <a:defRPr sz="4000">
                <a:solidFill>
                  <a:schemeClr val="lt1"/>
                </a:solidFill>
              </a:defRPr>
            </a:lvl5pPr>
            <a:lvl6pPr lvl="5" rtl="0" algn="ctr">
              <a:lnSpc>
                <a:spcPct val="100000"/>
              </a:lnSpc>
              <a:spcBef>
                <a:spcPts val="0"/>
              </a:spcBef>
              <a:spcAft>
                <a:spcPts val="0"/>
              </a:spcAft>
              <a:buClr>
                <a:schemeClr val="lt1"/>
              </a:buClr>
              <a:buSzPts val="4000"/>
              <a:buNone/>
              <a:defRPr sz="4000">
                <a:solidFill>
                  <a:schemeClr val="lt1"/>
                </a:solidFill>
              </a:defRPr>
            </a:lvl6pPr>
            <a:lvl7pPr lvl="6" rtl="0" algn="ctr">
              <a:lnSpc>
                <a:spcPct val="100000"/>
              </a:lnSpc>
              <a:spcBef>
                <a:spcPts val="0"/>
              </a:spcBef>
              <a:spcAft>
                <a:spcPts val="0"/>
              </a:spcAft>
              <a:buClr>
                <a:schemeClr val="lt1"/>
              </a:buClr>
              <a:buSzPts val="4000"/>
              <a:buNone/>
              <a:defRPr sz="4000">
                <a:solidFill>
                  <a:schemeClr val="lt1"/>
                </a:solidFill>
              </a:defRPr>
            </a:lvl7pPr>
            <a:lvl8pPr lvl="7" rtl="0" algn="ctr">
              <a:lnSpc>
                <a:spcPct val="100000"/>
              </a:lnSpc>
              <a:spcBef>
                <a:spcPts val="0"/>
              </a:spcBef>
              <a:spcAft>
                <a:spcPts val="0"/>
              </a:spcAft>
              <a:buClr>
                <a:schemeClr val="lt1"/>
              </a:buClr>
              <a:buSzPts val="4000"/>
              <a:buNone/>
              <a:defRPr sz="4000">
                <a:solidFill>
                  <a:schemeClr val="lt1"/>
                </a:solidFill>
              </a:defRPr>
            </a:lvl8pPr>
            <a:lvl9pPr lvl="8" rtl="0" algn="ctr">
              <a:lnSpc>
                <a:spcPct val="100000"/>
              </a:lnSpc>
              <a:spcBef>
                <a:spcPts val="0"/>
              </a:spcBef>
              <a:spcAft>
                <a:spcPts val="0"/>
              </a:spcAft>
              <a:buClr>
                <a:schemeClr val="lt1"/>
              </a:buClr>
              <a:buSzPts val="4000"/>
              <a:buNone/>
              <a:defRPr sz="4000">
                <a:solidFill>
                  <a:schemeClr val="lt1"/>
                </a:solidFill>
              </a:defRPr>
            </a:lvl9pPr>
          </a:lstStyle>
          <a:p/>
        </p:txBody>
      </p:sp>
      <p:sp>
        <p:nvSpPr>
          <p:cNvPr id="23" name="Google Shape;23;p5"/>
          <p:cNvSpPr txBox="1"/>
          <p:nvPr>
            <p:ph idx="1" type="subTitle"/>
          </p:nvPr>
        </p:nvSpPr>
        <p:spPr>
          <a:xfrm>
            <a:off x="1371625" y="1749600"/>
            <a:ext cx="6400800" cy="3906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1pPr>
            <a:lvl2pPr lvl="1"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2pPr>
            <a:lvl3pPr lvl="2"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3pPr>
            <a:lvl4pPr lvl="3"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4pPr>
            <a:lvl5pPr lvl="4"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5pPr>
            <a:lvl6pPr lvl="5"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6pPr>
            <a:lvl7pPr lvl="6"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7pPr>
            <a:lvl8pPr lvl="7"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8pPr>
            <a:lvl9pPr lvl="8" rtl="0" algn="ctr">
              <a:lnSpc>
                <a:spcPct val="100000"/>
              </a:lnSpc>
              <a:spcBef>
                <a:spcPts val="0"/>
              </a:spcBef>
              <a:spcAft>
                <a:spcPts val="0"/>
              </a:spcAft>
              <a:buClr>
                <a:srgbClr val="97B0CE"/>
              </a:buClr>
              <a:buSzPts val="1800"/>
              <a:buFont typeface="Poppins SemiBold"/>
              <a:buNone/>
              <a:defRPr sz="1800">
                <a:solidFill>
                  <a:srgbClr val="97B0CE"/>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864">
          <p15:clr>
            <a:srgbClr val="E46962"/>
          </p15:clr>
        </p15:guide>
        <p15:guide id="2" pos="4896">
          <p15:clr>
            <a:srgbClr val="E46962"/>
          </p15:clr>
        </p15:guide>
        <p15:guide id="3" orient="horz" pos="16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header" type="secHead">
  <p:cSld name="SECTION_HEADER">
    <p:spTree>
      <p:nvGrpSpPr>
        <p:cNvPr id="24" name="Shape 24"/>
        <p:cNvGrpSpPr/>
        <p:nvPr/>
      </p:nvGrpSpPr>
      <p:grpSpPr>
        <a:xfrm>
          <a:off x="0" y="0"/>
          <a:ext cx="0" cy="0"/>
          <a:chOff x="0" y="0"/>
          <a:chExt cx="0" cy="0"/>
        </a:xfrm>
      </p:grpSpPr>
      <p:sp>
        <p:nvSpPr>
          <p:cNvPr id="25" name="Google Shape;25;p6"/>
          <p:cNvSpPr txBox="1"/>
          <p:nvPr>
            <p:ph type="title"/>
          </p:nvPr>
        </p:nvSpPr>
        <p:spPr>
          <a:xfrm>
            <a:off x="571500" y="2150850"/>
            <a:ext cx="8001000" cy="8418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26" name="Google Shape;26;p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7" name="Shape 27"/>
        <p:cNvGrpSpPr/>
        <p:nvPr/>
      </p:nvGrpSpPr>
      <p:grpSpPr>
        <a:xfrm>
          <a:off x="0" y="0"/>
          <a:ext cx="0" cy="0"/>
          <a:chOff x="0" y="0"/>
          <a:chExt cx="0" cy="0"/>
        </a:xfrm>
      </p:grpSpPr>
      <p:sp>
        <p:nvSpPr>
          <p:cNvPr id="28" name="Google Shape;28;p7"/>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29" name="Google Shape;29;p7"/>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0" name="Google Shape;30;p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icture">
  <p:cSld name="CUSTOM_2">
    <p:spTree>
      <p:nvGrpSpPr>
        <p:cNvPr id="31" name="Shape 31"/>
        <p:cNvGrpSpPr/>
        <p:nvPr/>
      </p:nvGrpSpPr>
      <p:grpSpPr>
        <a:xfrm>
          <a:off x="0" y="0"/>
          <a:ext cx="0" cy="0"/>
          <a:chOff x="0" y="0"/>
          <a:chExt cx="0" cy="0"/>
        </a:xfrm>
      </p:grpSpPr>
      <p:sp>
        <p:nvSpPr>
          <p:cNvPr id="32" name="Google Shape;32;p8"/>
          <p:cNvSpPr txBox="1"/>
          <p:nvPr>
            <p:ph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33" name="Google Shape;33;p8"/>
          <p:cNvSpPr/>
          <p:nvPr>
            <p:ph idx="2" type="pic"/>
          </p:nvPr>
        </p:nvSpPr>
        <p:spPr>
          <a:xfrm>
            <a:off x="5011488" y="962700"/>
            <a:ext cx="3218100" cy="3218100"/>
          </a:xfrm>
          <a:prstGeom prst="roundRect">
            <a:avLst>
              <a:gd fmla="val 1254" name="adj"/>
            </a:avLst>
          </a:prstGeom>
          <a:noFill/>
          <a:ln>
            <a:noFill/>
          </a:ln>
        </p:spPr>
      </p:sp>
      <p:sp>
        <p:nvSpPr>
          <p:cNvPr id="34" name="Google Shape;34;p8"/>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5" name="Google Shape;35;p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bullet points">
  <p:cSld name="CUSTOM_1_2">
    <p:spTree>
      <p:nvGrpSpPr>
        <p:cNvPr id="36" name="Shape 36"/>
        <p:cNvGrpSpPr/>
        <p:nvPr/>
      </p:nvGrpSpPr>
      <p:grpSpPr>
        <a:xfrm>
          <a:off x="0" y="0"/>
          <a:ext cx="0" cy="0"/>
          <a:chOff x="0" y="0"/>
          <a:chExt cx="0" cy="0"/>
        </a:xfrm>
      </p:grpSpPr>
      <p:sp>
        <p:nvSpPr>
          <p:cNvPr id="37" name="Google Shape;37;p9"/>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8" name="Google Shape;38;p9"/>
          <p:cNvSpPr txBox="1"/>
          <p:nvPr>
            <p:ph idx="1" type="body"/>
          </p:nvPr>
        </p:nvSpPr>
        <p:spPr>
          <a:xfrm>
            <a:off x="571500" y="1714500"/>
            <a:ext cx="4000500" cy="1023900"/>
          </a:xfrm>
          <a:prstGeom prst="rect">
            <a:avLst/>
          </a:prstGeom>
        </p:spPr>
        <p:txBody>
          <a:bodyPr anchorCtr="0" anchor="t" bIns="0" lIns="0" spcFirstLastPara="1" rIns="0" wrap="square" tIns="0">
            <a:sp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0"/>
              </a:spcBef>
              <a:spcAft>
                <a:spcPts val="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39" name="Google Shape;39;p9"/>
          <p:cNvSpPr txBox="1"/>
          <p:nvPr>
            <p:ph idx="2" type="body"/>
          </p:nvPr>
        </p:nvSpPr>
        <p:spPr>
          <a:xfrm>
            <a:off x="571500" y="2965425"/>
            <a:ext cx="4000500" cy="1606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40" name="Google Shape;40;p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1_1">
    <p:spTree>
      <p:nvGrpSpPr>
        <p:cNvPr id="41" name="Shape 41"/>
        <p:cNvGrpSpPr/>
        <p:nvPr/>
      </p:nvGrpSpPr>
      <p:grpSpPr>
        <a:xfrm>
          <a:off x="0" y="0"/>
          <a:ext cx="0" cy="0"/>
          <a:chOff x="0" y="0"/>
          <a:chExt cx="0" cy="0"/>
        </a:xfrm>
      </p:grpSpPr>
      <p:sp>
        <p:nvSpPr>
          <p:cNvPr id="42" name="Google Shape;42;p10"/>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43" name="Google Shape;43;p10"/>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44" name="Google Shape;44;p1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CUSTOM_1_1_1">
    <p:spTree>
      <p:nvGrpSpPr>
        <p:cNvPr id="45" name="Shape 45"/>
        <p:cNvGrpSpPr/>
        <p:nvPr/>
      </p:nvGrpSpPr>
      <p:grpSpPr>
        <a:xfrm>
          <a:off x="0" y="0"/>
          <a:ext cx="0" cy="0"/>
          <a:chOff x="0" y="0"/>
          <a:chExt cx="0" cy="0"/>
        </a:xfrm>
      </p:grpSpPr>
      <p:sp>
        <p:nvSpPr>
          <p:cNvPr id="46" name="Google Shape;46;p11"/>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47" name="Google Shape;47;p11"/>
          <p:cNvSpPr txBox="1"/>
          <p:nvPr>
            <p:ph idx="1" type="body"/>
          </p:nvPr>
        </p:nvSpPr>
        <p:spPr>
          <a:xfrm>
            <a:off x="571500" y="1714500"/>
            <a:ext cx="40005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48" name="Google Shape;48;p1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type="tx">
  <p:cSld name="TITLE_AND_BODY">
    <p:spTree>
      <p:nvGrpSpPr>
        <p:cNvPr id="49" name="Shape 49"/>
        <p:cNvGrpSpPr/>
        <p:nvPr/>
      </p:nvGrpSpPr>
      <p:grpSpPr>
        <a:xfrm>
          <a:off x="0" y="0"/>
          <a:ext cx="0" cy="0"/>
          <a:chOff x="0" y="0"/>
          <a:chExt cx="0" cy="0"/>
        </a:xfrm>
      </p:grpSpPr>
      <p:sp>
        <p:nvSpPr>
          <p:cNvPr id="50" name="Google Shape;50;p1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1" name="Google Shape;51;p12"/>
          <p:cNvSpPr txBox="1"/>
          <p:nvPr>
            <p:ph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52" name="Google Shape;52;p12"/>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wo columns">
  <p:cSld name="TITLE_AND_BODY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55" name="Google Shape;55;p13"/>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56" name="Google Shape;56;p13"/>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57" name="Google Shape;57;p13"/>
          <p:cNvSpPr txBox="1"/>
          <p:nvPr>
            <p:ph idx="2" type="body"/>
          </p:nvPr>
        </p:nvSpPr>
        <p:spPr>
          <a:xfrm>
            <a:off x="45720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itle, text and list">
  <p:cSld name="TITLE_AND_BODY_1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571500" y="1714496"/>
            <a:ext cx="30963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1" name="Google Shape;61;p14"/>
          <p:cNvSpPr txBox="1"/>
          <p:nvPr>
            <p:ph idx="2" type="body"/>
          </p:nvPr>
        </p:nvSpPr>
        <p:spPr>
          <a:xfrm>
            <a:off x="571500" y="2640248"/>
            <a:ext cx="30963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2" name="Google Shape;62;p14"/>
          <p:cNvSpPr txBox="1"/>
          <p:nvPr>
            <p:ph type="title"/>
          </p:nvPr>
        </p:nvSpPr>
        <p:spPr>
          <a:xfrm>
            <a:off x="571500" y="800100"/>
            <a:ext cx="30963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itle, text and list">
  <p:cSld name="CUSTOM_3">
    <p:spTree>
      <p:nvGrpSpPr>
        <p:cNvPr id="63" name="Shape 63"/>
        <p:cNvGrpSpPr/>
        <p:nvPr/>
      </p:nvGrpSpPr>
      <p:grpSpPr>
        <a:xfrm>
          <a:off x="0" y="0"/>
          <a:ext cx="0" cy="0"/>
          <a:chOff x="0" y="0"/>
          <a:chExt cx="0" cy="0"/>
        </a:xfrm>
      </p:grpSpPr>
      <p:sp>
        <p:nvSpPr>
          <p:cNvPr id="64" name="Google Shape;64;p15"/>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65" name="Google Shape;65;p15"/>
          <p:cNvSpPr txBox="1"/>
          <p:nvPr>
            <p:ph idx="1" type="body"/>
          </p:nvPr>
        </p:nvSpPr>
        <p:spPr>
          <a:xfrm>
            <a:off x="571500" y="1714500"/>
            <a:ext cx="30930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6" name="Google Shape;66;p15"/>
          <p:cNvSpPr txBox="1"/>
          <p:nvPr>
            <p:ph idx="2" type="body"/>
          </p:nvPr>
        </p:nvSpPr>
        <p:spPr>
          <a:xfrm>
            <a:off x="571500" y="2640250"/>
            <a:ext cx="30930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7" name="Google Shape;67;p15"/>
          <p:cNvSpPr txBox="1"/>
          <p:nvPr>
            <p:ph idx="3" type="body"/>
          </p:nvPr>
        </p:nvSpPr>
        <p:spPr>
          <a:xfrm>
            <a:off x="4572000" y="1714500"/>
            <a:ext cx="3093000" cy="790800"/>
          </a:xfrm>
          <a:prstGeom prst="rect">
            <a:avLst/>
          </a:prstGeom>
        </p:spPr>
        <p:txBody>
          <a:bodyPr anchorCtr="0" anchor="t" bIns="0" lIns="0" spcFirstLastPara="1" rIns="0" wrap="square" tIns="0">
            <a:sp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8" name="Google Shape;68;p15"/>
          <p:cNvSpPr txBox="1"/>
          <p:nvPr>
            <p:ph idx="4" type="body"/>
          </p:nvPr>
        </p:nvSpPr>
        <p:spPr>
          <a:xfrm>
            <a:off x="4572000" y="2640250"/>
            <a:ext cx="3093000" cy="19317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69" name="Google Shape;69;p1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70" name="Shape 70"/>
        <p:cNvGrpSpPr/>
        <p:nvPr/>
      </p:nvGrpSpPr>
      <p:grpSpPr>
        <a:xfrm>
          <a:off x="0" y="0"/>
          <a:ext cx="0" cy="0"/>
          <a:chOff x="0" y="0"/>
          <a:chExt cx="0" cy="0"/>
        </a:xfrm>
      </p:grpSpPr>
      <p:sp>
        <p:nvSpPr>
          <p:cNvPr id="71" name="Google Shape;71;p16"/>
          <p:cNvSpPr txBox="1"/>
          <p:nvPr>
            <p:ph idx="1" type="subTitle"/>
          </p:nvPr>
        </p:nvSpPr>
        <p:spPr>
          <a:xfrm>
            <a:off x="5715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72" name="Google Shape;72;p16"/>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3" name="Google Shape;73;p16"/>
          <p:cNvSpPr txBox="1"/>
          <p:nvPr>
            <p:ph idx="2" type="body"/>
          </p:nvPr>
        </p:nvSpPr>
        <p:spPr>
          <a:xfrm>
            <a:off x="5715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74" name="Google Shape;74;p1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75" name="Shape 75"/>
        <p:cNvGrpSpPr/>
        <p:nvPr/>
      </p:nvGrpSpPr>
      <p:grpSpPr>
        <a:xfrm>
          <a:off x="0" y="0"/>
          <a:ext cx="0" cy="0"/>
          <a:chOff x="0" y="0"/>
          <a:chExt cx="0" cy="0"/>
        </a:xfrm>
      </p:grpSpPr>
      <p:sp>
        <p:nvSpPr>
          <p:cNvPr id="76" name="Google Shape;76;p1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77" name="Google Shape;77;p17"/>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8" name="Google Shape;78;p17"/>
          <p:cNvSpPr txBox="1"/>
          <p:nvPr>
            <p:ph idx="1" type="body"/>
          </p:nvPr>
        </p:nvSpPr>
        <p:spPr>
          <a:xfrm>
            <a:off x="5715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79" name="Google Shape;79;p17"/>
          <p:cNvSpPr txBox="1"/>
          <p:nvPr>
            <p:ph idx="2" type="body"/>
          </p:nvPr>
        </p:nvSpPr>
        <p:spPr>
          <a:xfrm>
            <a:off x="4572000" y="2166225"/>
            <a:ext cx="3093000" cy="24057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0" name="Google Shape;80;p17"/>
          <p:cNvSpPr txBox="1"/>
          <p:nvPr>
            <p:ph idx="3" type="subTitle"/>
          </p:nvPr>
        </p:nvSpPr>
        <p:spPr>
          <a:xfrm>
            <a:off x="5715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81" name="Google Shape;81;p17"/>
          <p:cNvSpPr txBox="1"/>
          <p:nvPr>
            <p:ph idx="4" type="subTitle"/>
          </p:nvPr>
        </p:nvSpPr>
        <p:spPr>
          <a:xfrm>
            <a:off x="4572000" y="1714500"/>
            <a:ext cx="3093000" cy="3588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type="twoColTx">
  <p:cSld name="TITLE_AND_TWO_COLUMNS">
    <p:spTree>
      <p:nvGrpSpPr>
        <p:cNvPr id="82" name="Shape 82"/>
        <p:cNvGrpSpPr/>
        <p:nvPr/>
      </p:nvGrpSpPr>
      <p:grpSpPr>
        <a:xfrm>
          <a:off x="0" y="0"/>
          <a:ext cx="0" cy="0"/>
          <a:chOff x="0" y="0"/>
          <a:chExt cx="0" cy="0"/>
        </a:xfrm>
      </p:grpSpPr>
      <p:sp>
        <p:nvSpPr>
          <p:cNvPr id="83" name="Google Shape;83;p1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84" name="Google Shape;84;p18"/>
          <p:cNvSpPr txBox="1"/>
          <p:nvPr>
            <p:ph idx="1" type="body"/>
          </p:nvPr>
        </p:nvSpPr>
        <p:spPr>
          <a:xfrm>
            <a:off x="568350"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5" name="Google Shape;85;p18"/>
          <p:cNvSpPr txBox="1"/>
          <p:nvPr>
            <p:ph idx="2" type="body"/>
          </p:nvPr>
        </p:nvSpPr>
        <p:spPr>
          <a:xfrm>
            <a:off x="3594675"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6" name="Google Shape;86;p18"/>
          <p:cNvSpPr txBox="1"/>
          <p:nvPr>
            <p:ph idx="3" type="body"/>
          </p:nvPr>
        </p:nvSpPr>
        <p:spPr>
          <a:xfrm>
            <a:off x="6619425" y="1714500"/>
            <a:ext cx="1951500" cy="28575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87" name="Google Shape;87;p18"/>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
    <p:spTree>
      <p:nvGrpSpPr>
        <p:cNvPr id="88" name="Shape 88"/>
        <p:cNvGrpSpPr/>
        <p:nvPr/>
      </p:nvGrpSpPr>
      <p:grpSpPr>
        <a:xfrm>
          <a:off x="0" y="0"/>
          <a:ext cx="0" cy="0"/>
          <a:chOff x="0" y="0"/>
          <a:chExt cx="0" cy="0"/>
        </a:xfrm>
      </p:grpSpPr>
      <p:sp>
        <p:nvSpPr>
          <p:cNvPr id="89" name="Google Shape;89;p1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90" name="Google Shape;90;p19"/>
          <p:cNvSpPr txBox="1"/>
          <p:nvPr>
            <p:ph idx="1" type="body"/>
          </p:nvPr>
        </p:nvSpPr>
        <p:spPr>
          <a:xfrm>
            <a:off x="571500" y="2192100"/>
            <a:ext cx="19683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91" name="Google Shape;91;p19"/>
          <p:cNvSpPr txBox="1"/>
          <p:nvPr>
            <p:ph idx="2" type="body"/>
          </p:nvPr>
        </p:nvSpPr>
        <p:spPr>
          <a:xfrm>
            <a:off x="3586271" y="2192100"/>
            <a:ext cx="19800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92" name="Google Shape;92;p19"/>
          <p:cNvSpPr txBox="1"/>
          <p:nvPr>
            <p:ph idx="3" type="body"/>
          </p:nvPr>
        </p:nvSpPr>
        <p:spPr>
          <a:xfrm>
            <a:off x="6604202" y="2192100"/>
            <a:ext cx="1968300" cy="23799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93" name="Google Shape;93;p19"/>
          <p:cNvSpPr txBox="1"/>
          <p:nvPr>
            <p:ph idx="4" type="subTitle"/>
          </p:nvPr>
        </p:nvSpPr>
        <p:spPr>
          <a:xfrm>
            <a:off x="579900"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4" name="Google Shape;94;p19"/>
          <p:cNvSpPr txBox="1"/>
          <p:nvPr>
            <p:ph idx="5" type="subTitle"/>
          </p:nvPr>
        </p:nvSpPr>
        <p:spPr>
          <a:xfrm>
            <a:off x="6598950"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5" name="Google Shape;95;p19"/>
          <p:cNvSpPr txBox="1"/>
          <p:nvPr>
            <p:ph idx="6" type="subTitle"/>
          </p:nvPr>
        </p:nvSpPr>
        <p:spPr>
          <a:xfrm>
            <a:off x="3597825" y="1714500"/>
            <a:ext cx="1968300" cy="358800"/>
          </a:xfrm>
          <a:prstGeom prst="rect">
            <a:avLst/>
          </a:prstGeom>
        </p:spPr>
        <p:txBody>
          <a:bodyPr anchorCtr="0" anchor="t" bIns="0" lIns="0" spcFirstLastPara="1" rIns="0" wrap="square" tIns="0">
            <a:spAutoFit/>
          </a:bodyPr>
          <a:lstStyle>
            <a:lvl1pPr lvl="0"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3pPr>
            <a:lvl4pPr lvl="3"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4pPr>
            <a:lvl5pPr lvl="4"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5pPr>
            <a:lvl6pPr lvl="5"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6pPr>
            <a:lvl7pPr lvl="6"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7pPr>
            <a:lvl8pPr lvl="7"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8pPr>
            <a:lvl9pPr lvl="8" rtl="0">
              <a:lnSpc>
                <a:spcPct val="100000"/>
              </a:lnSpc>
              <a:spcBef>
                <a:spcPts val="0"/>
              </a:spcBef>
              <a:spcAft>
                <a:spcPts val="0"/>
              </a:spcAft>
              <a:buClr>
                <a:schemeClr val="accent4"/>
              </a:buClr>
              <a:buSzPts val="10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6" name="Google Shape;96;p19"/>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97" name="Shape 97"/>
        <p:cNvGrpSpPr/>
        <p:nvPr/>
      </p:nvGrpSpPr>
      <p:grpSpPr>
        <a:xfrm>
          <a:off x="0" y="0"/>
          <a:ext cx="0" cy="0"/>
          <a:chOff x="0" y="0"/>
          <a:chExt cx="0" cy="0"/>
        </a:xfrm>
      </p:grpSpPr>
      <p:sp>
        <p:nvSpPr>
          <p:cNvPr id="98" name="Google Shape;98;p2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99" name="Google Shape;99;p20"/>
          <p:cNvSpPr txBox="1"/>
          <p:nvPr>
            <p:ph idx="1" type="body"/>
          </p:nvPr>
        </p:nvSpPr>
        <p:spPr>
          <a:xfrm>
            <a:off x="5715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0" name="Google Shape;100;p20"/>
          <p:cNvSpPr txBox="1"/>
          <p:nvPr>
            <p:ph idx="2" type="subTitle"/>
          </p:nvPr>
        </p:nvSpPr>
        <p:spPr>
          <a:xfrm>
            <a:off x="5715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101" name="Google Shape;101;p20"/>
          <p:cNvSpPr txBox="1"/>
          <p:nvPr>
            <p:ph type="title"/>
          </p:nvPr>
        </p:nvSpPr>
        <p:spPr>
          <a:xfrm>
            <a:off x="571500" y="800105"/>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02" name="Google Shape;102;p20"/>
          <p:cNvSpPr txBox="1"/>
          <p:nvPr>
            <p:ph idx="3" type="body"/>
          </p:nvPr>
        </p:nvSpPr>
        <p:spPr>
          <a:xfrm>
            <a:off x="26677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3" name="Google Shape;103;p20"/>
          <p:cNvSpPr txBox="1"/>
          <p:nvPr>
            <p:ph idx="4" type="subTitle"/>
          </p:nvPr>
        </p:nvSpPr>
        <p:spPr>
          <a:xfrm>
            <a:off x="26677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104" name="Google Shape;104;p20"/>
          <p:cNvSpPr txBox="1"/>
          <p:nvPr>
            <p:ph idx="5" type="body"/>
          </p:nvPr>
        </p:nvSpPr>
        <p:spPr>
          <a:xfrm>
            <a:off x="47639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5" name="Google Shape;105;p20"/>
          <p:cNvSpPr txBox="1"/>
          <p:nvPr>
            <p:ph idx="6" type="subTitle"/>
          </p:nvPr>
        </p:nvSpPr>
        <p:spPr>
          <a:xfrm>
            <a:off x="47639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
        <p:nvSpPr>
          <p:cNvPr id="106" name="Google Shape;106;p20"/>
          <p:cNvSpPr txBox="1"/>
          <p:nvPr>
            <p:ph idx="7" type="body"/>
          </p:nvPr>
        </p:nvSpPr>
        <p:spPr>
          <a:xfrm>
            <a:off x="6860100" y="2178175"/>
            <a:ext cx="1712400" cy="2393700"/>
          </a:xfrm>
          <a:prstGeom prst="rect">
            <a:avLst/>
          </a:prstGeom>
        </p:spPr>
        <p:txBody>
          <a:bodyPr anchorCtr="0" anchor="t" bIns="91425" lIns="0" spcFirstLastPara="1" rIns="182875" wrap="square" tIns="91425">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07" name="Google Shape;107;p20"/>
          <p:cNvSpPr txBox="1"/>
          <p:nvPr>
            <p:ph idx="8" type="subTitle"/>
          </p:nvPr>
        </p:nvSpPr>
        <p:spPr>
          <a:xfrm>
            <a:off x="6860100" y="1714500"/>
            <a:ext cx="1712400" cy="393600"/>
          </a:xfrm>
          <a:prstGeom prst="rect">
            <a:avLst/>
          </a:prstGeom>
        </p:spPr>
        <p:txBody>
          <a:bodyPr anchorCtr="0" anchor="t" bIns="0" lIns="0" spcFirstLastPara="1" rIns="0" wrap="square" tIns="0">
            <a:spAutoFit/>
          </a:bodyPr>
          <a:lstStyle>
            <a:lvl1pPr indent="-63500" lvl="0" marL="0" marR="0" rtl="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Clr>
                <a:schemeClr val="accent4"/>
              </a:buClr>
              <a:buSzPts val="1200"/>
              <a:buNone/>
              <a:defRPr>
                <a:solidFill>
                  <a:schemeClr val="accent4"/>
                </a:solidFill>
              </a:defRPr>
            </a:lvl2pPr>
            <a:lvl3pPr lvl="2" rtl="0">
              <a:lnSpc>
                <a:spcPct val="100000"/>
              </a:lnSpc>
              <a:spcBef>
                <a:spcPts val="0"/>
              </a:spcBef>
              <a:spcAft>
                <a:spcPts val="0"/>
              </a:spcAft>
              <a:buClr>
                <a:schemeClr val="accent4"/>
              </a:buClr>
              <a:buSzPts val="1000"/>
              <a:buNone/>
              <a:defRPr>
                <a:solidFill>
                  <a:schemeClr val="accent4"/>
                </a:solidFill>
              </a:defRPr>
            </a:lvl3pPr>
            <a:lvl4pPr lvl="3" rtl="0">
              <a:lnSpc>
                <a:spcPct val="100000"/>
              </a:lnSpc>
              <a:spcBef>
                <a:spcPts val="0"/>
              </a:spcBef>
              <a:spcAft>
                <a:spcPts val="0"/>
              </a:spcAft>
              <a:buClr>
                <a:schemeClr val="accent4"/>
              </a:buClr>
              <a:buSzPts val="1000"/>
              <a:buNone/>
              <a:defRPr>
                <a:solidFill>
                  <a:schemeClr val="accent4"/>
                </a:solidFill>
              </a:defRPr>
            </a:lvl4pPr>
            <a:lvl5pPr lvl="4" rtl="0">
              <a:lnSpc>
                <a:spcPct val="100000"/>
              </a:lnSpc>
              <a:spcBef>
                <a:spcPts val="0"/>
              </a:spcBef>
              <a:spcAft>
                <a:spcPts val="0"/>
              </a:spcAft>
              <a:buClr>
                <a:schemeClr val="accent4"/>
              </a:buClr>
              <a:buSzPts val="1000"/>
              <a:buNone/>
              <a:defRPr>
                <a:solidFill>
                  <a:schemeClr val="accent4"/>
                </a:solidFill>
              </a:defRPr>
            </a:lvl5pPr>
            <a:lvl6pPr lvl="5" rtl="0">
              <a:lnSpc>
                <a:spcPct val="100000"/>
              </a:lnSpc>
              <a:spcBef>
                <a:spcPts val="0"/>
              </a:spcBef>
              <a:spcAft>
                <a:spcPts val="0"/>
              </a:spcAft>
              <a:buClr>
                <a:schemeClr val="accent4"/>
              </a:buClr>
              <a:buSzPts val="1000"/>
              <a:buNone/>
              <a:defRPr>
                <a:solidFill>
                  <a:schemeClr val="accent4"/>
                </a:solidFill>
              </a:defRPr>
            </a:lvl6pPr>
            <a:lvl7pPr lvl="6" rtl="0">
              <a:lnSpc>
                <a:spcPct val="100000"/>
              </a:lnSpc>
              <a:spcBef>
                <a:spcPts val="0"/>
              </a:spcBef>
              <a:spcAft>
                <a:spcPts val="0"/>
              </a:spcAft>
              <a:buClr>
                <a:schemeClr val="accent4"/>
              </a:buClr>
              <a:buSzPts val="1000"/>
              <a:buNone/>
              <a:defRPr>
                <a:solidFill>
                  <a:schemeClr val="accent4"/>
                </a:solidFill>
              </a:defRPr>
            </a:lvl7pPr>
            <a:lvl8pPr lvl="7" rtl="0">
              <a:lnSpc>
                <a:spcPct val="100000"/>
              </a:lnSpc>
              <a:spcBef>
                <a:spcPts val="0"/>
              </a:spcBef>
              <a:spcAft>
                <a:spcPts val="0"/>
              </a:spcAft>
              <a:buClr>
                <a:schemeClr val="accent4"/>
              </a:buClr>
              <a:buSzPts val="1000"/>
              <a:buNone/>
              <a:defRPr>
                <a:solidFill>
                  <a:schemeClr val="accent4"/>
                </a:solidFill>
              </a:defRPr>
            </a:lvl8pPr>
            <a:lvl9pPr lvl="8" rtl="0">
              <a:lnSpc>
                <a:spcPct val="100000"/>
              </a:lnSpc>
              <a:spcBef>
                <a:spcPts val="0"/>
              </a:spcBef>
              <a:spcAft>
                <a:spcPts val="0"/>
              </a:spcAft>
              <a:buClr>
                <a:schemeClr val="accent4"/>
              </a:buClr>
              <a:buSzPts val="1000"/>
              <a:buNone/>
              <a:defRPr>
                <a:solidFill>
                  <a:schemeClr val="accent4"/>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vertical">
  <p:cSld name="TITLE_AND_TWO_COLUMNS_1_1_1">
    <p:spTree>
      <p:nvGrpSpPr>
        <p:cNvPr id="108" name="Shape 108"/>
        <p:cNvGrpSpPr/>
        <p:nvPr/>
      </p:nvGrpSpPr>
      <p:grpSpPr>
        <a:xfrm>
          <a:off x="0" y="0"/>
          <a:ext cx="0" cy="0"/>
          <a:chOff x="0" y="0"/>
          <a:chExt cx="0" cy="0"/>
        </a:xfrm>
      </p:grpSpPr>
      <p:sp>
        <p:nvSpPr>
          <p:cNvPr id="109" name="Google Shape;109;p2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10" name="Google Shape;110;p21"/>
          <p:cNvSpPr txBox="1"/>
          <p:nvPr>
            <p:ph idx="1" type="body"/>
          </p:nvPr>
        </p:nvSpPr>
        <p:spPr>
          <a:xfrm>
            <a:off x="2741350" y="171840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11" name="Google Shape;111;p21"/>
          <p:cNvSpPr txBox="1"/>
          <p:nvPr>
            <p:ph idx="2" type="subTitle"/>
          </p:nvPr>
        </p:nvSpPr>
        <p:spPr>
          <a:xfrm>
            <a:off x="914400" y="1714500"/>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2" name="Google Shape;112;p21"/>
          <p:cNvSpPr txBox="1"/>
          <p:nvPr>
            <p:ph idx="3" type="subTitle"/>
          </p:nvPr>
        </p:nvSpPr>
        <p:spPr>
          <a:xfrm>
            <a:off x="914400" y="4027625"/>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3" name="Google Shape;113;p21"/>
          <p:cNvSpPr txBox="1"/>
          <p:nvPr>
            <p:ph idx="4" type="subTitle"/>
          </p:nvPr>
        </p:nvSpPr>
        <p:spPr>
          <a:xfrm>
            <a:off x="914400" y="2485542"/>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4" name="Google Shape;114;p21"/>
          <p:cNvSpPr txBox="1"/>
          <p:nvPr>
            <p:ph idx="5" type="subTitle"/>
          </p:nvPr>
        </p:nvSpPr>
        <p:spPr>
          <a:xfrm>
            <a:off x="914400" y="3256584"/>
            <a:ext cx="1373400" cy="544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Font typeface="Poppins SemiBold"/>
              <a:buNone/>
              <a:defRPr sz="1000">
                <a:solidFill>
                  <a:schemeClr val="accent4"/>
                </a:solidFill>
                <a:latin typeface="Poppins SemiBold"/>
                <a:ea typeface="Poppins SemiBold"/>
                <a:cs typeface="Poppins SemiBold"/>
                <a:sym typeface="Poppins SemiBold"/>
              </a:defRPr>
            </a:lvl1pPr>
            <a:lvl2pPr lvl="1" rtl="0">
              <a:lnSpc>
                <a:spcPct val="100000"/>
              </a:lnSpc>
              <a:spcBef>
                <a:spcPts val="0"/>
              </a:spcBef>
              <a:spcAft>
                <a:spcPts val="0"/>
              </a:spcAft>
              <a:buSzPts val="1000"/>
              <a:buFont typeface="Poppins SemiBold"/>
              <a:buNone/>
              <a:defRPr sz="1000">
                <a:latin typeface="Poppins SemiBold"/>
                <a:ea typeface="Poppins SemiBold"/>
                <a:cs typeface="Poppins SemiBold"/>
                <a:sym typeface="Poppins SemiBold"/>
              </a:defRPr>
            </a:lvl2pPr>
            <a:lvl3pPr lvl="2"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3pPr>
            <a:lvl4pPr lvl="3"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4pPr>
            <a:lvl5pPr lvl="4"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5pPr>
            <a:lvl6pPr lvl="5"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6pPr>
            <a:lvl7pPr lvl="6"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7pPr>
            <a:lvl8pPr lvl="7"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8pPr>
            <a:lvl9pPr lvl="8" rtl="0">
              <a:lnSpc>
                <a:spcPct val="100000"/>
              </a:lnSpc>
              <a:spcBef>
                <a:spcPts val="0"/>
              </a:spcBef>
              <a:spcAft>
                <a:spcPts val="0"/>
              </a:spcAft>
              <a:buSzPts val="1000"/>
              <a:buFont typeface="Poppins SemiBold"/>
              <a:buNone/>
              <a:defRPr>
                <a:latin typeface="Poppins SemiBold"/>
                <a:ea typeface="Poppins SemiBold"/>
                <a:cs typeface="Poppins SemiBold"/>
                <a:sym typeface="Poppins SemiBold"/>
              </a:defRPr>
            </a:lvl9pPr>
          </a:lstStyle>
          <a:p/>
        </p:txBody>
      </p:sp>
      <p:sp>
        <p:nvSpPr>
          <p:cNvPr id="115" name="Google Shape;115;p21"/>
          <p:cNvSpPr txBox="1"/>
          <p:nvPr>
            <p:ph type="title"/>
          </p:nvPr>
        </p:nvSpPr>
        <p:spPr>
          <a:xfrm>
            <a:off x="571500" y="800100"/>
            <a:ext cx="58257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16" name="Google Shape;116;p21"/>
          <p:cNvSpPr txBox="1"/>
          <p:nvPr>
            <p:ph idx="6" type="body"/>
          </p:nvPr>
        </p:nvSpPr>
        <p:spPr>
          <a:xfrm>
            <a:off x="2741350" y="248555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17" name="Google Shape;117;p21"/>
          <p:cNvSpPr txBox="1"/>
          <p:nvPr>
            <p:ph idx="7" type="body"/>
          </p:nvPr>
        </p:nvSpPr>
        <p:spPr>
          <a:xfrm>
            <a:off x="2741350" y="325270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
        <p:nvSpPr>
          <p:cNvPr id="118" name="Google Shape;118;p21"/>
          <p:cNvSpPr txBox="1"/>
          <p:nvPr>
            <p:ph idx="8" type="body"/>
          </p:nvPr>
        </p:nvSpPr>
        <p:spPr>
          <a:xfrm>
            <a:off x="2741350" y="4019850"/>
            <a:ext cx="3655800" cy="544500"/>
          </a:xfrm>
          <a:prstGeom prst="rect">
            <a:avLst/>
          </a:prstGeom>
        </p:spPr>
        <p:txBody>
          <a:bodyPr anchorCtr="0" anchor="t" bIns="0" lIns="0" spcFirstLastPara="1" rIns="0" wrap="square" tIns="0">
            <a:noAutofit/>
          </a:bodyPr>
          <a:lstStyle>
            <a:lvl1pPr indent="-304800" lvl="0" marL="457200" rtl="0">
              <a:spcBef>
                <a:spcPts val="0"/>
              </a:spcBef>
              <a:spcAft>
                <a:spcPts val="0"/>
              </a:spcAft>
              <a:buClr>
                <a:schemeClr val="accent1"/>
              </a:buClr>
              <a:buSzPts val="1200"/>
              <a:buChar char="●"/>
              <a:defRPr sz="1200"/>
            </a:lvl1pPr>
            <a:lvl2pPr indent="-304800" lvl="1" marL="914400" rtl="0">
              <a:spcBef>
                <a:spcPts val="0"/>
              </a:spcBef>
              <a:spcAft>
                <a:spcPts val="0"/>
              </a:spcAft>
              <a:buSzPts val="1200"/>
              <a:buChar char="○"/>
              <a:defRPr/>
            </a:lvl2pPr>
            <a:lvl3pPr indent="-292100" lvl="2" marL="1371600" rtl="0">
              <a:spcBef>
                <a:spcPts val="1000"/>
              </a:spcBef>
              <a:spcAft>
                <a:spcPts val="0"/>
              </a:spcAft>
              <a:buSzPts val="1000"/>
              <a:buChar char="■"/>
              <a:defRPr/>
            </a:lvl3pPr>
            <a:lvl4pPr indent="-292100" lvl="3" marL="1828800" rtl="0">
              <a:spcBef>
                <a:spcPts val="1000"/>
              </a:spcBef>
              <a:spcAft>
                <a:spcPts val="0"/>
              </a:spcAft>
              <a:buSzPts val="1000"/>
              <a:buChar char="●"/>
              <a:defRPr/>
            </a:lvl4pPr>
            <a:lvl5pPr indent="-292100" lvl="4" marL="2286000" rtl="0">
              <a:spcBef>
                <a:spcPts val="1000"/>
              </a:spcBef>
              <a:spcAft>
                <a:spcPts val="0"/>
              </a:spcAft>
              <a:buSzPts val="1000"/>
              <a:buChar char="○"/>
              <a:defRPr/>
            </a:lvl5pPr>
            <a:lvl6pPr indent="-292100" lvl="5" marL="2743200" rtl="0">
              <a:spcBef>
                <a:spcPts val="1000"/>
              </a:spcBef>
              <a:spcAft>
                <a:spcPts val="0"/>
              </a:spcAft>
              <a:buSzPts val="1000"/>
              <a:buChar char="■"/>
              <a:defRPr/>
            </a:lvl6pPr>
            <a:lvl7pPr indent="-292100" lvl="6" marL="3200400" rtl="0">
              <a:spcBef>
                <a:spcPts val="1000"/>
              </a:spcBef>
              <a:spcAft>
                <a:spcPts val="0"/>
              </a:spcAft>
              <a:buSzPts val="1000"/>
              <a:buChar char="●"/>
              <a:defRPr/>
            </a:lvl7pPr>
            <a:lvl8pPr indent="-292100" lvl="7" marL="3657600" rtl="0">
              <a:spcBef>
                <a:spcPts val="1000"/>
              </a:spcBef>
              <a:spcAft>
                <a:spcPts val="0"/>
              </a:spcAft>
              <a:buSzPts val="1000"/>
              <a:buChar char="○"/>
              <a:defRPr/>
            </a:lvl8pPr>
            <a:lvl9pPr indent="-292100" lvl="8" marL="4114800" rtl="0">
              <a:spcBef>
                <a:spcPts val="1000"/>
              </a:spcBef>
              <a:spcAft>
                <a:spcPts val="1000"/>
              </a:spcAft>
              <a:buSzPts val="1000"/>
              <a:buChar char="■"/>
              <a:defRPr/>
            </a:lvl9pPr>
          </a:lstStyle>
          <a:p/>
        </p:txBody>
      </p:sp>
    </p:spTree>
  </p:cSld>
  <p:clrMapOvr>
    <a:masterClrMapping/>
  </p:clrMapOvr>
  <p:extLst>
    <p:ext uri="{DCECCB84-F9BA-43D5-87BE-67443E8EF086}">
      <p15:sldGuideLst>
        <p15:guide id="1" pos="576">
          <p15:clr>
            <a:srgbClr val="E46962"/>
          </p15:clr>
        </p15:guide>
        <p15:guide id="2" pos="1747">
          <p15:clr>
            <a:srgbClr val="E46962"/>
          </p15:clr>
        </p15:guide>
        <p15:guide id="3" pos="403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1" name="Google Shape;121;p22"/>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
    <p:spTree>
      <p:nvGrpSpPr>
        <p:cNvPr id="122" name="Shape 122"/>
        <p:cNvGrpSpPr/>
        <p:nvPr/>
      </p:nvGrpSpPr>
      <p:grpSpPr>
        <a:xfrm>
          <a:off x="0" y="0"/>
          <a:ext cx="0" cy="0"/>
          <a:chOff x="0" y="0"/>
          <a:chExt cx="0" cy="0"/>
        </a:xfrm>
      </p:grpSpPr>
      <p:sp>
        <p:nvSpPr>
          <p:cNvPr id="123" name="Google Shape;123;p23"/>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24" name="Google Shape;124;p23"/>
          <p:cNvSpPr txBox="1"/>
          <p:nvPr>
            <p:ph type="title"/>
          </p:nvPr>
        </p:nvSpPr>
        <p:spPr>
          <a:xfrm>
            <a:off x="571500" y="800100"/>
            <a:ext cx="80010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25" name="Google Shape;125;p23"/>
          <p:cNvSpPr/>
          <p:nvPr>
            <p:ph idx="2" type="pic"/>
          </p:nvPr>
        </p:nvSpPr>
        <p:spPr>
          <a:xfrm>
            <a:off x="944450" y="1711050"/>
            <a:ext cx="7283700" cy="2861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26" name="Shape 126"/>
        <p:cNvGrpSpPr/>
        <p:nvPr/>
      </p:nvGrpSpPr>
      <p:grpSpPr>
        <a:xfrm>
          <a:off x="0" y="0"/>
          <a:ext cx="0" cy="0"/>
          <a:chOff x="0" y="0"/>
          <a:chExt cx="0" cy="0"/>
        </a:xfrm>
      </p:grpSpPr>
      <p:sp>
        <p:nvSpPr>
          <p:cNvPr id="127" name="Google Shape;127;p24"/>
          <p:cNvSpPr txBox="1"/>
          <p:nvPr>
            <p:ph idx="1" type="subTitle"/>
          </p:nvPr>
        </p:nvSpPr>
        <p:spPr>
          <a:xfrm>
            <a:off x="571500" y="4262700"/>
            <a:ext cx="3259200" cy="309300"/>
          </a:xfrm>
          <a:prstGeom prst="rect">
            <a:avLst/>
          </a:prstGeom>
          <a:solidFill>
            <a:schemeClr val="accent6"/>
          </a:solidFill>
        </p:spPr>
        <p:txBody>
          <a:bodyPr anchorCtr="0" anchor="ctr" bIns="91425" lIns="91425" spcFirstLastPara="1" rIns="91425" wrap="square" tIns="91425">
            <a:noAutofit/>
          </a:bodyPr>
          <a:lstStyle>
            <a:lvl1pPr lvl="0">
              <a:spcBef>
                <a:spcPts val="0"/>
              </a:spcBef>
              <a:spcAft>
                <a:spcPts val="0"/>
              </a:spcAft>
              <a:buSzPts val="1200"/>
              <a:buNone/>
              <a:defRPr sz="1000"/>
            </a:lvl1pPr>
            <a:lvl2pPr lvl="1">
              <a:spcBef>
                <a:spcPts val="1000"/>
              </a:spcBef>
              <a:spcAft>
                <a:spcPts val="0"/>
              </a:spcAft>
              <a:buSzPts val="1200"/>
              <a:buNone/>
              <a:defRPr/>
            </a:lvl2pPr>
            <a:lvl3pPr lvl="2">
              <a:spcBef>
                <a:spcPts val="1000"/>
              </a:spcBef>
              <a:spcAft>
                <a:spcPts val="0"/>
              </a:spcAft>
              <a:buSzPts val="1000"/>
              <a:buNone/>
              <a:defRPr/>
            </a:lvl3pPr>
            <a:lvl4pPr lvl="3">
              <a:spcBef>
                <a:spcPts val="1000"/>
              </a:spcBef>
              <a:spcAft>
                <a:spcPts val="0"/>
              </a:spcAft>
              <a:buSzPts val="1000"/>
              <a:buNone/>
              <a:defRPr/>
            </a:lvl4pPr>
            <a:lvl5pPr lvl="4">
              <a:spcBef>
                <a:spcPts val="1000"/>
              </a:spcBef>
              <a:spcAft>
                <a:spcPts val="0"/>
              </a:spcAft>
              <a:buSzPts val="1000"/>
              <a:buNone/>
              <a:defRPr/>
            </a:lvl5pPr>
            <a:lvl6pPr lvl="5">
              <a:spcBef>
                <a:spcPts val="1000"/>
              </a:spcBef>
              <a:spcAft>
                <a:spcPts val="0"/>
              </a:spcAft>
              <a:buSzPts val="1000"/>
              <a:buNone/>
              <a:defRPr/>
            </a:lvl6pPr>
            <a:lvl7pPr lvl="6">
              <a:spcBef>
                <a:spcPts val="1000"/>
              </a:spcBef>
              <a:spcAft>
                <a:spcPts val="0"/>
              </a:spcAft>
              <a:buSzPts val="1000"/>
              <a:buNone/>
              <a:defRPr/>
            </a:lvl7pPr>
            <a:lvl8pPr lvl="7">
              <a:spcBef>
                <a:spcPts val="1000"/>
              </a:spcBef>
              <a:spcAft>
                <a:spcPts val="0"/>
              </a:spcAft>
              <a:buSzPts val="1000"/>
              <a:buNone/>
              <a:defRPr/>
            </a:lvl8pPr>
            <a:lvl9pPr lvl="8">
              <a:spcBef>
                <a:spcPts val="1000"/>
              </a:spcBef>
              <a:spcAft>
                <a:spcPts val="1000"/>
              </a:spcAft>
              <a:buSzPts val="1000"/>
              <a:buNone/>
              <a:defRPr/>
            </a:lvl9pPr>
          </a:lstStyle>
          <a:p/>
        </p:txBody>
      </p:sp>
      <p:sp>
        <p:nvSpPr>
          <p:cNvPr id="128" name="Google Shape;128;p24"/>
          <p:cNvSpPr txBox="1"/>
          <p:nvPr>
            <p:ph type="title"/>
          </p:nvPr>
        </p:nvSpPr>
        <p:spPr>
          <a:xfrm>
            <a:off x="571500" y="800100"/>
            <a:ext cx="4000500" cy="914400"/>
          </a:xfrm>
          <a:prstGeom prst="rect">
            <a:avLst/>
          </a:prstGeom>
        </p:spPr>
        <p:txBody>
          <a:bodyPr anchorCtr="0" anchor="ctr" bIns="0" lIns="0" spcFirstLastPara="1" rIns="0" wrap="square" tIns="0">
            <a:noAutofit/>
          </a:bodyPr>
          <a:lstStyle>
            <a:lvl1pPr lvl="0" rtl="0">
              <a:spcBef>
                <a:spcPts val="0"/>
              </a:spcBef>
              <a:spcAft>
                <a:spcPts val="0"/>
              </a:spcAft>
              <a:buSzPts val="1800"/>
              <a:buNone/>
              <a:defRPr b="1"/>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129" name="Google Shape;129;p24"/>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full width">
  <p:cSld name="MAIN_POINT">
    <p:bg>
      <p:bgPr>
        <a:solidFill>
          <a:schemeClr val="dk1"/>
        </a:solidFill>
      </p:bgPr>
    </p:bg>
    <p:spTree>
      <p:nvGrpSpPr>
        <p:cNvPr id="130" name="Shape 130"/>
        <p:cNvGrpSpPr/>
        <p:nvPr/>
      </p:nvGrpSpPr>
      <p:grpSpPr>
        <a:xfrm>
          <a:off x="0" y="0"/>
          <a:ext cx="0" cy="0"/>
          <a:chOff x="0" y="0"/>
          <a:chExt cx="0" cy="0"/>
        </a:xfrm>
      </p:grpSpPr>
      <p:sp>
        <p:nvSpPr>
          <p:cNvPr id="131" name="Google Shape;131;p25"/>
          <p:cNvSpPr txBox="1"/>
          <p:nvPr>
            <p:ph type="title"/>
          </p:nvPr>
        </p:nvSpPr>
        <p:spPr>
          <a:xfrm>
            <a:off x="905175" y="800100"/>
            <a:ext cx="7333800" cy="37719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p:txBody>
      </p:sp>
      <p:sp>
        <p:nvSpPr>
          <p:cNvPr id="132" name="Google Shape;132;p25"/>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0">
          <p15:clr>
            <a:srgbClr val="E46962"/>
          </p15:clr>
        </p15:guide>
        <p15:guide id="2" pos="519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133" name="Shape 133"/>
        <p:cNvGrpSpPr/>
        <p:nvPr/>
      </p:nvGrpSpPr>
      <p:grpSpPr>
        <a:xfrm>
          <a:off x="0" y="0"/>
          <a:ext cx="0" cy="0"/>
          <a:chOff x="0" y="0"/>
          <a:chExt cx="0" cy="0"/>
        </a:xfrm>
      </p:grpSpPr>
      <p:sp>
        <p:nvSpPr>
          <p:cNvPr id="134" name="Google Shape;134;p26"/>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35" name="Google Shape;135;p26"/>
          <p:cNvSpPr txBox="1"/>
          <p:nvPr>
            <p:ph type="title"/>
          </p:nvPr>
        </p:nvSpPr>
        <p:spPr>
          <a:xfrm>
            <a:off x="571500" y="909025"/>
            <a:ext cx="4000500" cy="3663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rtl="0">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picture">
  <p:cSld name="CAPTION_ONLY">
    <p:bg>
      <p:bgPr>
        <a:solidFill>
          <a:schemeClr val="lt2"/>
        </a:solidFill>
      </p:bgPr>
    </p:bg>
    <p:spTree>
      <p:nvGrpSpPr>
        <p:cNvPr id="136" name="Shape 136"/>
        <p:cNvGrpSpPr/>
        <p:nvPr/>
      </p:nvGrpSpPr>
      <p:grpSpPr>
        <a:xfrm>
          <a:off x="0" y="0"/>
          <a:ext cx="0" cy="0"/>
          <a:chOff x="0" y="0"/>
          <a:chExt cx="0" cy="0"/>
        </a:xfrm>
      </p:grpSpPr>
      <p:sp>
        <p:nvSpPr>
          <p:cNvPr id="137" name="Google Shape;137;p27"/>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8" name="Google Shape;138;p27"/>
          <p:cNvSpPr txBox="1"/>
          <p:nvPr>
            <p:ph type="title"/>
          </p:nvPr>
        </p:nvSpPr>
        <p:spPr>
          <a:xfrm>
            <a:off x="905175" y="571500"/>
            <a:ext cx="3666900" cy="40005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Clr>
                <a:schemeClr val="lt1"/>
              </a:buClr>
              <a:buSzPts val="3200"/>
              <a:buNone/>
              <a:defRPr sz="3200">
                <a:solidFill>
                  <a:schemeClr val="lt1"/>
                </a:solidFill>
              </a:defRPr>
            </a:lvl1pPr>
            <a:lvl2pPr lvl="1"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2pPr>
            <a:lvl3pPr lvl="2"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3pPr>
            <a:lvl4pPr lvl="3"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4pPr>
            <a:lvl5pPr lvl="4"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5pPr>
            <a:lvl6pPr lvl="5"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6pPr>
            <a:lvl7pPr lvl="6"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7pPr>
            <a:lvl8pPr lvl="7"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8pPr>
            <a:lvl9pPr lvl="8" rtl="0">
              <a:spcBef>
                <a:spcPts val="0"/>
              </a:spcBef>
              <a:spcAft>
                <a:spcPts val="0"/>
              </a:spcAft>
              <a:buClr>
                <a:schemeClr val="lt1"/>
              </a:buClr>
              <a:buSzPts val="3200"/>
              <a:buFont typeface="Poppins"/>
              <a:buNone/>
              <a:defRPr sz="3200">
                <a:solidFill>
                  <a:schemeClr val="lt1"/>
                </a:solidFill>
                <a:latin typeface="Poppins"/>
                <a:ea typeface="Poppins"/>
                <a:cs typeface="Poppins"/>
                <a:sym typeface="Poppins"/>
              </a:defRPr>
            </a:lvl9pPr>
          </a:lstStyle>
          <a:p/>
        </p:txBody>
      </p:sp>
      <p:sp>
        <p:nvSpPr>
          <p:cNvPr id="139" name="Google Shape;139;p27"/>
          <p:cNvSpPr/>
          <p:nvPr>
            <p:ph idx="2" type="pic"/>
          </p:nvPr>
        </p:nvSpPr>
        <p:spPr>
          <a:xfrm>
            <a:off x="5028888" y="962700"/>
            <a:ext cx="3218100" cy="3218100"/>
          </a:xfrm>
          <a:prstGeom prst="roundRect">
            <a:avLst>
              <a:gd fmla="val 1254" name="adj"/>
            </a:avLst>
          </a:prstGeom>
          <a:noFill/>
          <a:ln>
            <a:noFill/>
          </a:ln>
        </p:spPr>
      </p:sp>
    </p:spTree>
  </p:cSld>
  <p:clrMapOvr>
    <a:masterClrMapping/>
  </p:clrMapOvr>
  <p:extLst>
    <p:ext uri="{DCECCB84-F9BA-43D5-87BE-67443E8EF086}">
      <p15:sldGuideLst>
        <p15:guide id="1" pos="570">
          <p15:clr>
            <a:srgbClr val="E46962"/>
          </p15:clr>
        </p15:guide>
        <p15:guide id="2" pos="519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Quote ">
  <p:cSld name="CUSTOM_4_1">
    <p:bg>
      <p:bgPr>
        <a:solidFill>
          <a:schemeClr val="dk1"/>
        </a:solidFill>
      </p:bgPr>
    </p:bg>
    <p:spTree>
      <p:nvGrpSpPr>
        <p:cNvPr id="140" name="Shape 140"/>
        <p:cNvGrpSpPr/>
        <p:nvPr/>
      </p:nvGrpSpPr>
      <p:grpSpPr>
        <a:xfrm>
          <a:off x="0" y="0"/>
          <a:ext cx="0" cy="0"/>
          <a:chOff x="0" y="0"/>
          <a:chExt cx="0" cy="0"/>
        </a:xfrm>
      </p:grpSpPr>
      <p:sp>
        <p:nvSpPr>
          <p:cNvPr id="141" name="Google Shape;141;p28"/>
          <p:cNvSpPr txBox="1"/>
          <p:nvPr>
            <p:ph type="title"/>
          </p:nvPr>
        </p:nvSpPr>
        <p:spPr>
          <a:xfrm>
            <a:off x="917425" y="3711750"/>
            <a:ext cx="3654600" cy="415200"/>
          </a:xfrm>
          <a:prstGeom prst="rect">
            <a:avLst/>
          </a:prstGeom>
        </p:spPr>
        <p:txBody>
          <a:bodyPr anchorCtr="0" anchor="t" bIns="0" lIns="0" spcFirstLastPara="1" rIns="0" wrap="square" tIns="0">
            <a:noAutofit/>
          </a:bodyPr>
          <a:lstStyle>
            <a:lvl1pPr lvl="0" rtl="0">
              <a:spcBef>
                <a:spcPts val="0"/>
              </a:spcBef>
              <a:spcAft>
                <a:spcPts val="0"/>
              </a:spcAft>
              <a:buClr>
                <a:srgbClr val="97B0CE"/>
              </a:buClr>
              <a:buSzPts val="1800"/>
              <a:buFont typeface="Poppins SemiBold"/>
              <a:buNone/>
              <a:defRPr b="0">
                <a:solidFill>
                  <a:srgbClr val="97B0CE"/>
                </a:solidFill>
                <a:latin typeface="Poppins SemiBold"/>
                <a:ea typeface="Poppins SemiBold"/>
                <a:cs typeface="Poppins SemiBold"/>
                <a:sym typeface="Poppins SemiBold"/>
              </a:defRPr>
            </a:lvl1pPr>
            <a:lvl2pPr lvl="1"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2pPr>
            <a:lvl3pPr lvl="2"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3pPr>
            <a:lvl4pPr lvl="3"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4pPr>
            <a:lvl5pPr lvl="4"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5pPr>
            <a:lvl6pPr lvl="5"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6pPr>
            <a:lvl7pPr lvl="6"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7pPr>
            <a:lvl8pPr lvl="7"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8pPr>
            <a:lvl9pPr lvl="8" rtl="0">
              <a:spcBef>
                <a:spcPts val="0"/>
              </a:spcBef>
              <a:spcAft>
                <a:spcPts val="0"/>
              </a:spcAft>
              <a:buClr>
                <a:srgbClr val="97B0CE"/>
              </a:buClr>
              <a:buSzPts val="1800"/>
              <a:buFont typeface="Poppins SemiBold"/>
              <a:buNone/>
              <a:defRPr>
                <a:solidFill>
                  <a:srgbClr val="97B0CE"/>
                </a:solidFill>
                <a:latin typeface="Poppins SemiBold"/>
                <a:ea typeface="Poppins SemiBold"/>
                <a:cs typeface="Poppins SemiBold"/>
                <a:sym typeface="Poppins SemiBold"/>
              </a:defRPr>
            </a:lvl9pPr>
          </a:lstStyle>
          <a:p/>
        </p:txBody>
      </p:sp>
      <p:sp>
        <p:nvSpPr>
          <p:cNvPr id="142" name="Google Shape;142;p28"/>
          <p:cNvSpPr txBox="1"/>
          <p:nvPr>
            <p:ph idx="1" type="subTitle"/>
          </p:nvPr>
        </p:nvSpPr>
        <p:spPr>
          <a:xfrm>
            <a:off x="917425" y="1714500"/>
            <a:ext cx="5483400" cy="19230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SzPts val="3200"/>
              <a:buNone/>
              <a:defRPr b="1" sz="3200">
                <a:solidFill>
                  <a:schemeClr val="lt1"/>
                </a:solidFill>
                <a:latin typeface="Poppins"/>
                <a:ea typeface="Poppins"/>
                <a:cs typeface="Poppins"/>
                <a:sym typeface="Poppins"/>
              </a:defRPr>
            </a:lvl1pPr>
            <a:lvl2pPr lvl="1" rtl="0">
              <a:lnSpc>
                <a:spcPct val="100000"/>
              </a:lnSpc>
              <a:spcBef>
                <a:spcPts val="0"/>
              </a:spcBef>
              <a:spcAft>
                <a:spcPts val="0"/>
              </a:spcAft>
              <a:buSzPts val="3200"/>
              <a:buNone/>
              <a:defRPr sz="3200"/>
            </a:lvl2pPr>
            <a:lvl3pPr lvl="2" rtl="0">
              <a:lnSpc>
                <a:spcPct val="100000"/>
              </a:lnSpc>
              <a:spcBef>
                <a:spcPts val="1000"/>
              </a:spcBef>
              <a:spcAft>
                <a:spcPts val="0"/>
              </a:spcAft>
              <a:buSzPts val="3200"/>
              <a:buNone/>
              <a:defRPr sz="3200"/>
            </a:lvl3pPr>
            <a:lvl4pPr lvl="3" rtl="0">
              <a:lnSpc>
                <a:spcPct val="100000"/>
              </a:lnSpc>
              <a:spcBef>
                <a:spcPts val="1000"/>
              </a:spcBef>
              <a:spcAft>
                <a:spcPts val="0"/>
              </a:spcAft>
              <a:buSzPts val="3200"/>
              <a:buNone/>
              <a:defRPr sz="3200"/>
            </a:lvl4pPr>
            <a:lvl5pPr lvl="4" rtl="0">
              <a:lnSpc>
                <a:spcPct val="100000"/>
              </a:lnSpc>
              <a:spcBef>
                <a:spcPts val="1000"/>
              </a:spcBef>
              <a:spcAft>
                <a:spcPts val="0"/>
              </a:spcAft>
              <a:buSzPts val="3200"/>
              <a:buNone/>
              <a:defRPr sz="3200"/>
            </a:lvl5pPr>
            <a:lvl6pPr lvl="5" rtl="0">
              <a:lnSpc>
                <a:spcPct val="100000"/>
              </a:lnSpc>
              <a:spcBef>
                <a:spcPts val="1000"/>
              </a:spcBef>
              <a:spcAft>
                <a:spcPts val="0"/>
              </a:spcAft>
              <a:buSzPts val="3200"/>
              <a:buNone/>
              <a:defRPr sz="3200"/>
            </a:lvl6pPr>
            <a:lvl7pPr lvl="6" rtl="0">
              <a:lnSpc>
                <a:spcPct val="100000"/>
              </a:lnSpc>
              <a:spcBef>
                <a:spcPts val="1000"/>
              </a:spcBef>
              <a:spcAft>
                <a:spcPts val="0"/>
              </a:spcAft>
              <a:buSzPts val="3200"/>
              <a:buNone/>
              <a:defRPr sz="3200"/>
            </a:lvl7pPr>
            <a:lvl8pPr lvl="7" rtl="0">
              <a:lnSpc>
                <a:spcPct val="100000"/>
              </a:lnSpc>
              <a:spcBef>
                <a:spcPts val="1000"/>
              </a:spcBef>
              <a:spcAft>
                <a:spcPts val="0"/>
              </a:spcAft>
              <a:buSzPts val="3200"/>
              <a:buNone/>
              <a:defRPr sz="3200"/>
            </a:lvl8pPr>
            <a:lvl9pPr lvl="8" rtl="0">
              <a:lnSpc>
                <a:spcPct val="100000"/>
              </a:lnSpc>
              <a:spcBef>
                <a:spcPts val="1000"/>
              </a:spcBef>
              <a:spcAft>
                <a:spcPts val="1000"/>
              </a:spcAft>
              <a:buSzPts val="3200"/>
              <a:buNone/>
              <a:defRPr sz="3200"/>
            </a:lvl9pPr>
          </a:lstStyle>
          <a:p/>
        </p:txBody>
      </p:sp>
      <p:sp>
        <p:nvSpPr>
          <p:cNvPr id="143" name="Google Shape;143;p28"/>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8">
          <p15:clr>
            <a:srgbClr val="E46962"/>
          </p15:clr>
        </p15:guide>
        <p15:guide id="2" pos="4032">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icture Shield">
  <p:cSld name="CUSTOM_8">
    <p:spTree>
      <p:nvGrpSpPr>
        <p:cNvPr id="144" name="Shape 144"/>
        <p:cNvGrpSpPr/>
        <p:nvPr/>
      </p:nvGrpSpPr>
      <p:grpSpPr>
        <a:xfrm>
          <a:off x="0" y="0"/>
          <a:ext cx="0" cy="0"/>
          <a:chOff x="0" y="0"/>
          <a:chExt cx="0" cy="0"/>
        </a:xfrm>
      </p:grpSpPr>
      <p:sp>
        <p:nvSpPr>
          <p:cNvPr id="145" name="Google Shape;145;p29"/>
          <p:cNvSpPr txBox="1"/>
          <p:nvPr>
            <p:ph type="title"/>
          </p:nvPr>
        </p:nvSpPr>
        <p:spPr>
          <a:xfrm>
            <a:off x="914400" y="1830350"/>
            <a:ext cx="3197700" cy="2741700"/>
          </a:xfrm>
          <a:prstGeom prst="rect">
            <a:avLst/>
          </a:prstGeom>
        </p:spPr>
        <p:txBody>
          <a:bodyPr anchorCtr="0" anchor="t" bIns="0" lIns="0" spcFirstLastPara="1" rIns="0" wrap="square" tIns="0">
            <a:noAutofit/>
          </a:bodyPr>
          <a:lstStyle>
            <a:lvl1pPr lvl="0">
              <a:spcBef>
                <a:spcPts val="0"/>
              </a:spcBef>
              <a:spcAft>
                <a:spcPts val="0"/>
              </a:spcAft>
              <a:buSzPts val="1400"/>
              <a:buFont typeface="Poppins SemiBold"/>
              <a:buNone/>
              <a:defRPr b="0" sz="1400">
                <a:latin typeface="Poppins SemiBold"/>
                <a:ea typeface="Poppins SemiBold"/>
                <a:cs typeface="Poppins SemiBold"/>
                <a:sym typeface="Poppins SemiBold"/>
              </a:defRPr>
            </a:lvl1pPr>
            <a:lvl2pPr lvl="1">
              <a:spcBef>
                <a:spcPts val="0"/>
              </a:spcBef>
              <a:spcAft>
                <a:spcPts val="0"/>
              </a:spcAft>
              <a:buSzPts val="1400"/>
              <a:buFont typeface="Poppins SemiBold"/>
              <a:buNone/>
              <a:defRPr sz="1400">
                <a:latin typeface="Poppins SemiBold"/>
                <a:ea typeface="Poppins SemiBold"/>
                <a:cs typeface="Poppins SemiBold"/>
                <a:sym typeface="Poppins SemiBold"/>
              </a:defRPr>
            </a:lvl2pPr>
            <a:lvl3pPr lvl="2">
              <a:spcBef>
                <a:spcPts val="0"/>
              </a:spcBef>
              <a:spcAft>
                <a:spcPts val="0"/>
              </a:spcAft>
              <a:buSzPts val="1400"/>
              <a:buFont typeface="Poppins SemiBold"/>
              <a:buNone/>
              <a:defRPr sz="1400">
                <a:latin typeface="Poppins SemiBold"/>
                <a:ea typeface="Poppins SemiBold"/>
                <a:cs typeface="Poppins SemiBold"/>
                <a:sym typeface="Poppins SemiBold"/>
              </a:defRPr>
            </a:lvl3pPr>
            <a:lvl4pPr lvl="3">
              <a:spcBef>
                <a:spcPts val="0"/>
              </a:spcBef>
              <a:spcAft>
                <a:spcPts val="0"/>
              </a:spcAft>
              <a:buSzPts val="1400"/>
              <a:buFont typeface="Poppins SemiBold"/>
              <a:buNone/>
              <a:defRPr sz="1400">
                <a:latin typeface="Poppins SemiBold"/>
                <a:ea typeface="Poppins SemiBold"/>
                <a:cs typeface="Poppins SemiBold"/>
                <a:sym typeface="Poppins SemiBold"/>
              </a:defRPr>
            </a:lvl4pPr>
            <a:lvl5pPr lvl="4">
              <a:spcBef>
                <a:spcPts val="0"/>
              </a:spcBef>
              <a:spcAft>
                <a:spcPts val="0"/>
              </a:spcAft>
              <a:buSzPts val="1400"/>
              <a:buFont typeface="Poppins SemiBold"/>
              <a:buNone/>
              <a:defRPr sz="1400">
                <a:latin typeface="Poppins SemiBold"/>
                <a:ea typeface="Poppins SemiBold"/>
                <a:cs typeface="Poppins SemiBold"/>
                <a:sym typeface="Poppins SemiBold"/>
              </a:defRPr>
            </a:lvl5pPr>
            <a:lvl6pPr lvl="5">
              <a:spcBef>
                <a:spcPts val="0"/>
              </a:spcBef>
              <a:spcAft>
                <a:spcPts val="0"/>
              </a:spcAft>
              <a:buSzPts val="1400"/>
              <a:buFont typeface="Poppins SemiBold"/>
              <a:buNone/>
              <a:defRPr sz="1400">
                <a:latin typeface="Poppins SemiBold"/>
                <a:ea typeface="Poppins SemiBold"/>
                <a:cs typeface="Poppins SemiBold"/>
                <a:sym typeface="Poppins SemiBold"/>
              </a:defRPr>
            </a:lvl6pPr>
            <a:lvl7pPr lvl="6">
              <a:spcBef>
                <a:spcPts val="0"/>
              </a:spcBef>
              <a:spcAft>
                <a:spcPts val="0"/>
              </a:spcAft>
              <a:buSzPts val="1400"/>
              <a:buFont typeface="Poppins SemiBold"/>
              <a:buNone/>
              <a:defRPr sz="1400">
                <a:latin typeface="Poppins SemiBold"/>
                <a:ea typeface="Poppins SemiBold"/>
                <a:cs typeface="Poppins SemiBold"/>
                <a:sym typeface="Poppins SemiBold"/>
              </a:defRPr>
            </a:lvl7pPr>
            <a:lvl8pPr lvl="7">
              <a:spcBef>
                <a:spcPts val="0"/>
              </a:spcBef>
              <a:spcAft>
                <a:spcPts val="0"/>
              </a:spcAft>
              <a:buSzPts val="1400"/>
              <a:buFont typeface="Poppins SemiBold"/>
              <a:buNone/>
              <a:defRPr sz="1400">
                <a:latin typeface="Poppins SemiBold"/>
                <a:ea typeface="Poppins SemiBold"/>
                <a:cs typeface="Poppins SemiBold"/>
                <a:sym typeface="Poppins SemiBold"/>
              </a:defRPr>
            </a:lvl8pPr>
            <a:lvl9pPr lvl="8">
              <a:spcBef>
                <a:spcPts val="0"/>
              </a:spcBef>
              <a:spcAft>
                <a:spcPts val="0"/>
              </a:spcAft>
              <a:buSzPts val="1400"/>
              <a:buFont typeface="Poppins SemiBold"/>
              <a:buNone/>
              <a:defRPr sz="1400">
                <a:latin typeface="Poppins SemiBold"/>
                <a:ea typeface="Poppins SemiBold"/>
                <a:cs typeface="Poppins SemiBold"/>
                <a:sym typeface="Poppins SemiBold"/>
              </a:defRPr>
            </a:lvl9pPr>
          </a:lstStyle>
          <a:p/>
        </p:txBody>
      </p:sp>
      <p:sp>
        <p:nvSpPr>
          <p:cNvPr id="146" name="Google Shape;146;p29"/>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47" name="Shape 147"/>
        <p:cNvGrpSpPr/>
        <p:nvPr/>
      </p:nvGrpSpPr>
      <p:grpSpPr>
        <a:xfrm>
          <a:off x="0" y="0"/>
          <a:ext cx="0" cy="0"/>
          <a:chOff x="0" y="0"/>
          <a:chExt cx="0" cy="0"/>
        </a:xfrm>
      </p:grpSpPr>
      <p:sp>
        <p:nvSpPr>
          <p:cNvPr id="148" name="Google Shape;148;p30"/>
          <p:cNvSpPr txBox="1"/>
          <p:nvPr>
            <p:ph type="title"/>
          </p:nvPr>
        </p:nvSpPr>
        <p:spPr>
          <a:xfrm>
            <a:off x="5139900" y="1823725"/>
            <a:ext cx="3089700" cy="17433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49" name="Google Shape;149;p30"/>
          <p:cNvSpPr txBox="1"/>
          <p:nvPr>
            <p:ph idx="2" type="title"/>
          </p:nvPr>
        </p:nvSpPr>
        <p:spPr>
          <a:xfrm>
            <a:off x="571500" y="800100"/>
            <a:ext cx="3089700" cy="914400"/>
          </a:xfrm>
          <a:prstGeom prst="rect">
            <a:avLst/>
          </a:prstGeom>
        </p:spPr>
        <p:txBody>
          <a:bodyPr anchorCtr="0" anchor="ctr" bIns="0" lIns="0" spcFirstLastPara="1" rIns="0" wrap="square" tIns="0">
            <a:noAutofit/>
          </a:bodyPr>
          <a:lstStyle>
            <a:lvl1pPr lvl="0" rt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150" name="Google Shape;150;p30"/>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lvl1pPr indent="-304800" lvl="0" marL="457200" rtl="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rtl="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rtl="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rtl="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51" name="Google Shape;151;p30"/>
          <p:cNvSpPr txBox="1"/>
          <p:nvPr>
            <p:ph idx="3" type="title"/>
          </p:nvPr>
        </p:nvSpPr>
        <p:spPr>
          <a:xfrm>
            <a:off x="5139900" y="4108200"/>
            <a:ext cx="3089700" cy="2319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rtl="0">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52" name="Google Shape;152;p30"/>
          <p:cNvSpPr txBox="1"/>
          <p:nvPr>
            <p:ph idx="4" type="body"/>
          </p:nvPr>
        </p:nvSpPr>
        <p:spPr>
          <a:xfrm>
            <a:off x="5139900" y="4340100"/>
            <a:ext cx="3089700" cy="231900"/>
          </a:xfrm>
          <a:prstGeom prst="rect">
            <a:avLst/>
          </a:prstGeom>
        </p:spPr>
        <p:txBody>
          <a:bodyPr anchorCtr="0" anchor="t" bIns="0" lIns="0" spcFirstLastPara="1" rIns="0" wrap="square" tIns="0">
            <a:noAutofit/>
          </a:bodyPr>
          <a:lstStyle>
            <a:lvl1pPr indent="-292100" lvl="0" marL="457200" rtl="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rtl="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292100" lvl="2" marL="13716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3pPr>
            <a:lvl4pPr indent="-292100" lvl="3" marL="18288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4pPr>
            <a:lvl5pPr indent="-292100" lvl="4" marL="22860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5pPr>
            <a:lvl6pPr indent="-292100" lvl="5" marL="27432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6pPr>
            <a:lvl7pPr indent="-292100" lvl="6" marL="32004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7pPr>
            <a:lvl8pPr indent="-292100" lvl="7" marL="3657600" rtl="0">
              <a:lnSpc>
                <a:spcPct val="115000"/>
              </a:lnSpc>
              <a:spcBef>
                <a:spcPts val="1000"/>
              </a:spcBef>
              <a:spcAft>
                <a:spcPts val="0"/>
              </a:spcAft>
              <a:buClr>
                <a:schemeClr val="lt1"/>
              </a:buClr>
              <a:buSzPts val="1000"/>
              <a:buFont typeface="Lato"/>
              <a:buChar char="○"/>
              <a:defRPr>
                <a:solidFill>
                  <a:schemeClr val="lt1"/>
                </a:solidFill>
                <a:latin typeface="Lato"/>
                <a:ea typeface="Lato"/>
                <a:cs typeface="Lato"/>
                <a:sym typeface="Lato"/>
              </a:defRPr>
            </a:lvl8pPr>
            <a:lvl9pPr indent="-292100" lvl="8" marL="4114800" rtl="0">
              <a:lnSpc>
                <a:spcPct val="115000"/>
              </a:lnSpc>
              <a:spcBef>
                <a:spcPts val="1000"/>
              </a:spcBef>
              <a:spcAft>
                <a:spcPts val="1000"/>
              </a:spcAft>
              <a:buClr>
                <a:schemeClr val="lt1"/>
              </a:buClr>
              <a:buSzPts val="1000"/>
              <a:buFont typeface="Lato"/>
              <a:buChar char="■"/>
              <a:defRPr>
                <a:solidFill>
                  <a:schemeClr val="lt1"/>
                </a:solidFill>
                <a:latin typeface="Lato"/>
                <a:ea typeface="Lato"/>
                <a:cs typeface="Lato"/>
                <a:sym typeface="Lato"/>
              </a:defRPr>
            </a:lvl9pPr>
          </a:lstStyle>
          <a:p/>
        </p:txBody>
      </p:sp>
      <p:sp>
        <p:nvSpPr>
          <p:cNvPr id="153" name="Google Shape;153;p30"/>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rtl="0">
              <a:buNone/>
              <a:defRPr sz="900">
                <a:solidFill>
                  <a:schemeClr val="accent4"/>
                </a:solidFill>
              </a:defRPr>
            </a:lvl1pPr>
            <a:lvl2pPr lvl="1" rtl="0">
              <a:buNone/>
              <a:defRPr sz="900">
                <a:solidFill>
                  <a:schemeClr val="accent4"/>
                </a:solidFill>
              </a:defRPr>
            </a:lvl2pPr>
            <a:lvl3pPr lvl="2" rtl="0">
              <a:buNone/>
              <a:defRPr sz="900">
                <a:solidFill>
                  <a:schemeClr val="accent4"/>
                </a:solidFill>
              </a:defRPr>
            </a:lvl3pPr>
            <a:lvl4pPr lvl="3" rtl="0">
              <a:buNone/>
              <a:defRPr sz="900">
                <a:solidFill>
                  <a:schemeClr val="accent4"/>
                </a:solidFill>
              </a:defRPr>
            </a:lvl4pPr>
            <a:lvl5pPr lvl="4" rtl="0">
              <a:buNone/>
              <a:defRPr sz="900">
                <a:solidFill>
                  <a:schemeClr val="accent4"/>
                </a:solidFill>
              </a:defRPr>
            </a:lvl5pPr>
            <a:lvl6pPr lvl="5" rtl="0">
              <a:buNone/>
              <a:defRPr sz="900">
                <a:solidFill>
                  <a:schemeClr val="accent4"/>
                </a:solidFill>
              </a:defRPr>
            </a:lvl6pPr>
            <a:lvl7pPr lvl="6" rtl="0">
              <a:buNone/>
              <a:defRPr sz="900">
                <a:solidFill>
                  <a:schemeClr val="accent4"/>
                </a:solidFill>
              </a:defRPr>
            </a:lvl7pPr>
            <a:lvl8pPr lvl="7" rtl="0">
              <a:buNone/>
              <a:defRPr sz="900">
                <a:solidFill>
                  <a:schemeClr val="accent4"/>
                </a:solidFill>
              </a:defRPr>
            </a:lvl8pPr>
            <a:lvl9pPr lvl="8" rtl="0">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4" name="Shape 154"/>
        <p:cNvGrpSpPr/>
        <p:nvPr/>
      </p:nvGrpSpPr>
      <p:grpSpPr>
        <a:xfrm>
          <a:off x="0" y="0"/>
          <a:ext cx="0" cy="0"/>
          <a:chOff x="0" y="0"/>
          <a:chExt cx="0" cy="0"/>
        </a:xfrm>
      </p:grpSpPr>
      <p:sp>
        <p:nvSpPr>
          <p:cNvPr id="155" name="Google Shape;155;p31"/>
          <p:cNvSpPr txBox="1"/>
          <p:nvPr>
            <p:ph idx="12" type="sldNum"/>
          </p:nvPr>
        </p:nvSpPr>
        <p:spPr>
          <a:xfrm>
            <a:off x="8572500" y="4572004"/>
            <a:ext cx="571500" cy="5715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880">
          <p15:clr>
            <a:srgbClr val="E46962"/>
          </p15:clr>
        </p15:guide>
        <p15:guide id="2" orient="horz" pos="1656">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3">
  <p:cSld name="MAIN_POINT_1_1_1">
    <p:bg>
      <p:bgPr>
        <a:solidFill>
          <a:srgbClr val="C1C0CE"/>
        </a:solidFill>
      </p:bgPr>
    </p:bg>
    <p:spTree>
      <p:nvGrpSpPr>
        <p:cNvPr id="156" name="Shape 156"/>
        <p:cNvGrpSpPr/>
        <p:nvPr/>
      </p:nvGrpSpPr>
      <p:grpSpPr>
        <a:xfrm>
          <a:off x="0" y="0"/>
          <a:ext cx="0" cy="0"/>
          <a:chOff x="0" y="0"/>
          <a:chExt cx="0" cy="0"/>
        </a:xfrm>
      </p:grpSpPr>
      <p:sp>
        <p:nvSpPr>
          <p:cNvPr id="157" name="Google Shape;157;p32"/>
          <p:cNvSpPr txBox="1"/>
          <p:nvPr>
            <p:ph type="title"/>
          </p:nvPr>
        </p:nvSpPr>
        <p:spPr>
          <a:xfrm>
            <a:off x="1368000" y="1903775"/>
            <a:ext cx="4574400" cy="991800"/>
          </a:xfrm>
          <a:prstGeom prst="rect">
            <a:avLst/>
          </a:prstGeom>
        </p:spPr>
        <p:txBody>
          <a:bodyPr anchorCtr="0" anchor="ctr" bIns="0" lIns="0" spcFirstLastPara="1" rIns="0" wrap="square" tIns="0">
            <a:noAutofit/>
          </a:bodyPr>
          <a:lstStyle>
            <a:lvl1pPr lvl="0" rtl="0">
              <a:spcBef>
                <a:spcPts val="0"/>
              </a:spcBef>
              <a:spcAft>
                <a:spcPts val="0"/>
              </a:spcAft>
              <a:buClr>
                <a:srgbClr val="FCFCFC"/>
              </a:buClr>
              <a:buSzPts val="4800"/>
              <a:buNone/>
              <a:defRPr sz="2600"/>
            </a:lvl1pPr>
            <a:lvl2pPr lvl="1" rtl="0">
              <a:spcBef>
                <a:spcPts val="0"/>
              </a:spcBef>
              <a:spcAft>
                <a:spcPts val="0"/>
              </a:spcAft>
              <a:buClr>
                <a:srgbClr val="FCFCFC"/>
              </a:buClr>
              <a:buSzPts val="4800"/>
              <a:buNone/>
              <a:defRPr sz="4800">
                <a:solidFill>
                  <a:srgbClr val="FCFCFC"/>
                </a:solidFill>
              </a:defRPr>
            </a:lvl2pPr>
            <a:lvl3pPr lvl="2" rtl="0">
              <a:spcBef>
                <a:spcPts val="0"/>
              </a:spcBef>
              <a:spcAft>
                <a:spcPts val="0"/>
              </a:spcAft>
              <a:buClr>
                <a:srgbClr val="FCFCFC"/>
              </a:buClr>
              <a:buSzPts val="4800"/>
              <a:buNone/>
              <a:defRPr sz="4800">
                <a:solidFill>
                  <a:srgbClr val="FCFCFC"/>
                </a:solidFill>
              </a:defRPr>
            </a:lvl3pPr>
            <a:lvl4pPr lvl="3" rtl="0">
              <a:spcBef>
                <a:spcPts val="0"/>
              </a:spcBef>
              <a:spcAft>
                <a:spcPts val="0"/>
              </a:spcAft>
              <a:buClr>
                <a:srgbClr val="FCFCFC"/>
              </a:buClr>
              <a:buSzPts val="4800"/>
              <a:buNone/>
              <a:defRPr sz="4800">
                <a:solidFill>
                  <a:srgbClr val="FCFCFC"/>
                </a:solidFill>
              </a:defRPr>
            </a:lvl4pPr>
            <a:lvl5pPr lvl="4" rtl="0">
              <a:spcBef>
                <a:spcPts val="0"/>
              </a:spcBef>
              <a:spcAft>
                <a:spcPts val="0"/>
              </a:spcAft>
              <a:buClr>
                <a:srgbClr val="FCFCFC"/>
              </a:buClr>
              <a:buSzPts val="4800"/>
              <a:buNone/>
              <a:defRPr sz="4800">
                <a:solidFill>
                  <a:srgbClr val="FCFCFC"/>
                </a:solidFill>
              </a:defRPr>
            </a:lvl5pPr>
            <a:lvl6pPr lvl="5" rtl="0">
              <a:spcBef>
                <a:spcPts val="0"/>
              </a:spcBef>
              <a:spcAft>
                <a:spcPts val="0"/>
              </a:spcAft>
              <a:buClr>
                <a:srgbClr val="FCFCFC"/>
              </a:buClr>
              <a:buSzPts val="4800"/>
              <a:buNone/>
              <a:defRPr sz="4800">
                <a:solidFill>
                  <a:srgbClr val="FCFCFC"/>
                </a:solidFill>
              </a:defRPr>
            </a:lvl6pPr>
            <a:lvl7pPr lvl="6" rtl="0">
              <a:spcBef>
                <a:spcPts val="0"/>
              </a:spcBef>
              <a:spcAft>
                <a:spcPts val="0"/>
              </a:spcAft>
              <a:buClr>
                <a:srgbClr val="FCFCFC"/>
              </a:buClr>
              <a:buSzPts val="4800"/>
              <a:buNone/>
              <a:defRPr sz="4800">
                <a:solidFill>
                  <a:srgbClr val="FCFCFC"/>
                </a:solidFill>
              </a:defRPr>
            </a:lvl7pPr>
            <a:lvl8pPr lvl="7" rtl="0">
              <a:spcBef>
                <a:spcPts val="0"/>
              </a:spcBef>
              <a:spcAft>
                <a:spcPts val="0"/>
              </a:spcAft>
              <a:buClr>
                <a:srgbClr val="FCFCFC"/>
              </a:buClr>
              <a:buSzPts val="4800"/>
              <a:buNone/>
              <a:defRPr sz="4800">
                <a:solidFill>
                  <a:srgbClr val="FCFCFC"/>
                </a:solidFill>
              </a:defRPr>
            </a:lvl8pPr>
            <a:lvl9pPr lvl="8" rtl="0">
              <a:spcBef>
                <a:spcPts val="0"/>
              </a:spcBef>
              <a:spcAft>
                <a:spcPts val="0"/>
              </a:spcAft>
              <a:buClr>
                <a:srgbClr val="FCFCFC"/>
              </a:buClr>
              <a:buSzPts val="4800"/>
              <a:buNone/>
              <a:defRPr sz="4800">
                <a:solidFill>
                  <a:srgbClr val="FCFCFC"/>
                </a:solidFill>
              </a:defRPr>
            </a:lvl9pPr>
          </a:lstStyle>
          <a:p/>
        </p:txBody>
      </p:sp>
      <p:sp>
        <p:nvSpPr>
          <p:cNvPr id="158" name="Google Shape;158;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59" name="Google Shape;159;p32"/>
          <p:cNvSpPr txBox="1"/>
          <p:nvPr>
            <p:ph idx="2" type="title"/>
          </p:nvPr>
        </p:nvSpPr>
        <p:spPr>
          <a:xfrm>
            <a:off x="1368000" y="1402075"/>
            <a:ext cx="4574400" cy="538800"/>
          </a:xfrm>
          <a:prstGeom prst="rect">
            <a:avLst/>
          </a:prstGeom>
        </p:spPr>
        <p:txBody>
          <a:bodyPr anchorCtr="0" anchor="ctr" bIns="0" lIns="0" spcFirstLastPara="1" rIns="0" wrap="square" tIns="0">
            <a:noAutofit/>
          </a:bodyPr>
          <a:lstStyle>
            <a:lvl1pPr lvl="0" rtl="0">
              <a:spcBef>
                <a:spcPts val="0"/>
              </a:spcBef>
              <a:spcAft>
                <a:spcPts val="0"/>
              </a:spcAft>
              <a:buClr>
                <a:srgbClr val="FCFCFC"/>
              </a:buClr>
              <a:buSzPts val="4800"/>
              <a:buNone/>
              <a:defRPr>
                <a:solidFill>
                  <a:schemeClr val="accent4"/>
                </a:solidFill>
              </a:defRPr>
            </a:lvl1pPr>
            <a:lvl2pPr lvl="1" rtl="0">
              <a:spcBef>
                <a:spcPts val="0"/>
              </a:spcBef>
              <a:spcAft>
                <a:spcPts val="0"/>
              </a:spcAft>
              <a:buClr>
                <a:srgbClr val="FCFCFC"/>
              </a:buClr>
              <a:buSzPts val="4800"/>
              <a:buNone/>
              <a:defRPr sz="4800">
                <a:solidFill>
                  <a:srgbClr val="FCFCFC"/>
                </a:solidFill>
              </a:defRPr>
            </a:lvl2pPr>
            <a:lvl3pPr lvl="2" rtl="0">
              <a:spcBef>
                <a:spcPts val="0"/>
              </a:spcBef>
              <a:spcAft>
                <a:spcPts val="0"/>
              </a:spcAft>
              <a:buClr>
                <a:srgbClr val="FCFCFC"/>
              </a:buClr>
              <a:buSzPts val="4800"/>
              <a:buNone/>
              <a:defRPr sz="4800">
                <a:solidFill>
                  <a:srgbClr val="FCFCFC"/>
                </a:solidFill>
              </a:defRPr>
            </a:lvl3pPr>
            <a:lvl4pPr lvl="3" rtl="0">
              <a:spcBef>
                <a:spcPts val="0"/>
              </a:spcBef>
              <a:spcAft>
                <a:spcPts val="0"/>
              </a:spcAft>
              <a:buClr>
                <a:srgbClr val="FCFCFC"/>
              </a:buClr>
              <a:buSzPts val="4800"/>
              <a:buNone/>
              <a:defRPr sz="4800">
                <a:solidFill>
                  <a:srgbClr val="FCFCFC"/>
                </a:solidFill>
              </a:defRPr>
            </a:lvl4pPr>
            <a:lvl5pPr lvl="4" rtl="0">
              <a:spcBef>
                <a:spcPts val="0"/>
              </a:spcBef>
              <a:spcAft>
                <a:spcPts val="0"/>
              </a:spcAft>
              <a:buClr>
                <a:srgbClr val="FCFCFC"/>
              </a:buClr>
              <a:buSzPts val="4800"/>
              <a:buNone/>
              <a:defRPr sz="4800">
                <a:solidFill>
                  <a:srgbClr val="FCFCFC"/>
                </a:solidFill>
              </a:defRPr>
            </a:lvl5pPr>
            <a:lvl6pPr lvl="5" rtl="0">
              <a:spcBef>
                <a:spcPts val="0"/>
              </a:spcBef>
              <a:spcAft>
                <a:spcPts val="0"/>
              </a:spcAft>
              <a:buClr>
                <a:srgbClr val="FCFCFC"/>
              </a:buClr>
              <a:buSzPts val="4800"/>
              <a:buNone/>
              <a:defRPr sz="4800">
                <a:solidFill>
                  <a:srgbClr val="FCFCFC"/>
                </a:solidFill>
              </a:defRPr>
            </a:lvl6pPr>
            <a:lvl7pPr lvl="6" rtl="0">
              <a:spcBef>
                <a:spcPts val="0"/>
              </a:spcBef>
              <a:spcAft>
                <a:spcPts val="0"/>
              </a:spcAft>
              <a:buClr>
                <a:srgbClr val="FCFCFC"/>
              </a:buClr>
              <a:buSzPts val="4800"/>
              <a:buNone/>
              <a:defRPr sz="4800">
                <a:solidFill>
                  <a:srgbClr val="FCFCFC"/>
                </a:solidFill>
              </a:defRPr>
            </a:lvl7pPr>
            <a:lvl8pPr lvl="7" rtl="0">
              <a:spcBef>
                <a:spcPts val="0"/>
              </a:spcBef>
              <a:spcAft>
                <a:spcPts val="0"/>
              </a:spcAft>
              <a:buClr>
                <a:srgbClr val="FCFCFC"/>
              </a:buClr>
              <a:buSzPts val="4800"/>
              <a:buNone/>
              <a:defRPr sz="4800">
                <a:solidFill>
                  <a:srgbClr val="FCFCFC"/>
                </a:solidFill>
              </a:defRPr>
            </a:lvl8pPr>
            <a:lvl9pPr lvl="8" rtl="0">
              <a:spcBef>
                <a:spcPts val="0"/>
              </a:spcBef>
              <a:spcAft>
                <a:spcPts val="0"/>
              </a:spcAft>
              <a:buClr>
                <a:srgbClr val="FCFCFC"/>
              </a:buClr>
              <a:buSzPts val="4800"/>
              <a:buNone/>
              <a:defRPr sz="4800">
                <a:solidFill>
                  <a:srgbClr val="FCFCFC"/>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71500" y="800100"/>
            <a:ext cx="4000500" cy="914400"/>
          </a:xfrm>
          <a:prstGeom prst="rect">
            <a:avLst/>
          </a:prstGeom>
          <a:noFill/>
          <a:ln>
            <a:noFill/>
          </a:ln>
        </p:spPr>
        <p:txBody>
          <a:bodyPr anchorCtr="0" anchor="ctr" bIns="0" lIns="0" spcFirstLastPara="1" rIns="0" wrap="square" tIns="0">
            <a:noAutofit/>
          </a:bodyPr>
          <a:lstStyle>
            <a:lvl1pPr lvl="0">
              <a:lnSpc>
                <a:spcPct val="115000"/>
              </a:lnSpc>
              <a:spcBef>
                <a:spcPts val="0"/>
              </a:spcBef>
              <a:spcAft>
                <a:spcPts val="0"/>
              </a:spcAft>
              <a:buClr>
                <a:schemeClr val="lt2"/>
              </a:buClr>
              <a:buSzPts val="1800"/>
              <a:buFont typeface="Poppins"/>
              <a:buNone/>
              <a:defRPr b="1" sz="1800">
                <a:solidFill>
                  <a:schemeClr val="lt2"/>
                </a:solidFill>
                <a:latin typeface="Poppins"/>
                <a:ea typeface="Poppins"/>
                <a:cs typeface="Poppins"/>
                <a:sym typeface="Poppins"/>
              </a:defRPr>
            </a:lvl1pPr>
            <a:lvl2pPr lvl="1">
              <a:lnSpc>
                <a:spcPct val="115000"/>
              </a:lnSpc>
              <a:spcBef>
                <a:spcPts val="0"/>
              </a:spcBef>
              <a:spcAft>
                <a:spcPts val="0"/>
              </a:spcAft>
              <a:buClr>
                <a:schemeClr val="lt2"/>
              </a:buClr>
              <a:buSzPts val="1800"/>
              <a:buNone/>
              <a:defRPr sz="1800">
                <a:solidFill>
                  <a:schemeClr val="lt2"/>
                </a:solidFill>
              </a:defRPr>
            </a:lvl2pPr>
            <a:lvl3pPr lvl="2">
              <a:lnSpc>
                <a:spcPct val="115000"/>
              </a:lnSpc>
              <a:spcBef>
                <a:spcPts val="0"/>
              </a:spcBef>
              <a:spcAft>
                <a:spcPts val="0"/>
              </a:spcAft>
              <a:buClr>
                <a:schemeClr val="lt2"/>
              </a:buClr>
              <a:buSzPts val="1800"/>
              <a:buNone/>
              <a:defRPr sz="1800">
                <a:solidFill>
                  <a:schemeClr val="lt2"/>
                </a:solidFill>
              </a:defRPr>
            </a:lvl3pPr>
            <a:lvl4pPr lvl="3">
              <a:lnSpc>
                <a:spcPct val="115000"/>
              </a:lnSpc>
              <a:spcBef>
                <a:spcPts val="0"/>
              </a:spcBef>
              <a:spcAft>
                <a:spcPts val="0"/>
              </a:spcAft>
              <a:buClr>
                <a:schemeClr val="lt2"/>
              </a:buClr>
              <a:buSzPts val="1800"/>
              <a:buNone/>
              <a:defRPr sz="1800">
                <a:solidFill>
                  <a:schemeClr val="lt2"/>
                </a:solidFill>
              </a:defRPr>
            </a:lvl4pPr>
            <a:lvl5pPr lvl="4">
              <a:lnSpc>
                <a:spcPct val="115000"/>
              </a:lnSpc>
              <a:spcBef>
                <a:spcPts val="0"/>
              </a:spcBef>
              <a:spcAft>
                <a:spcPts val="0"/>
              </a:spcAft>
              <a:buClr>
                <a:schemeClr val="lt2"/>
              </a:buClr>
              <a:buSzPts val="1800"/>
              <a:buNone/>
              <a:defRPr sz="1800">
                <a:solidFill>
                  <a:schemeClr val="lt2"/>
                </a:solidFill>
              </a:defRPr>
            </a:lvl5pPr>
            <a:lvl6pPr lvl="5">
              <a:lnSpc>
                <a:spcPct val="115000"/>
              </a:lnSpc>
              <a:spcBef>
                <a:spcPts val="0"/>
              </a:spcBef>
              <a:spcAft>
                <a:spcPts val="0"/>
              </a:spcAft>
              <a:buClr>
                <a:schemeClr val="lt2"/>
              </a:buClr>
              <a:buSzPts val="1800"/>
              <a:buNone/>
              <a:defRPr sz="1800">
                <a:solidFill>
                  <a:schemeClr val="lt2"/>
                </a:solidFill>
              </a:defRPr>
            </a:lvl6pPr>
            <a:lvl7pPr lvl="6">
              <a:lnSpc>
                <a:spcPct val="115000"/>
              </a:lnSpc>
              <a:spcBef>
                <a:spcPts val="0"/>
              </a:spcBef>
              <a:spcAft>
                <a:spcPts val="0"/>
              </a:spcAft>
              <a:buClr>
                <a:schemeClr val="lt2"/>
              </a:buClr>
              <a:buSzPts val="1800"/>
              <a:buNone/>
              <a:defRPr sz="1800">
                <a:solidFill>
                  <a:schemeClr val="lt2"/>
                </a:solidFill>
              </a:defRPr>
            </a:lvl7pPr>
            <a:lvl8pPr lvl="7">
              <a:lnSpc>
                <a:spcPct val="115000"/>
              </a:lnSpc>
              <a:spcBef>
                <a:spcPts val="0"/>
              </a:spcBef>
              <a:spcAft>
                <a:spcPts val="0"/>
              </a:spcAft>
              <a:buClr>
                <a:schemeClr val="lt2"/>
              </a:buClr>
              <a:buSzPts val="1800"/>
              <a:buNone/>
              <a:defRPr sz="1800">
                <a:solidFill>
                  <a:schemeClr val="lt2"/>
                </a:solidFill>
              </a:defRPr>
            </a:lvl8pPr>
            <a:lvl9pPr lvl="8">
              <a:lnSpc>
                <a:spcPct val="115000"/>
              </a:lnSpc>
              <a:spcBef>
                <a:spcPts val="0"/>
              </a:spcBef>
              <a:spcAft>
                <a:spcPts val="0"/>
              </a:spcAft>
              <a:buClr>
                <a:schemeClr val="lt2"/>
              </a:buClr>
              <a:buSzPts val="1800"/>
              <a:buNone/>
              <a:defRPr sz="1800">
                <a:solidFill>
                  <a:schemeClr val="lt2"/>
                </a:solidFill>
              </a:defRPr>
            </a:lvl9pPr>
          </a:lstStyle>
          <a:p/>
        </p:txBody>
      </p:sp>
      <p:sp>
        <p:nvSpPr>
          <p:cNvPr id="7" name="Google Shape;7;p1"/>
          <p:cNvSpPr txBox="1"/>
          <p:nvPr>
            <p:ph idx="1" type="body"/>
          </p:nvPr>
        </p:nvSpPr>
        <p:spPr>
          <a:xfrm>
            <a:off x="571500" y="1714500"/>
            <a:ext cx="4000500" cy="2857500"/>
          </a:xfrm>
          <a:prstGeom prst="rect">
            <a:avLst/>
          </a:prstGeom>
          <a:noFill/>
          <a:ln>
            <a:noFill/>
          </a:ln>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8" name="Google Shape;8;p1"/>
          <p:cNvSpPr txBox="1"/>
          <p:nvPr>
            <p:ph idx="12" type="sldNum"/>
          </p:nvPr>
        </p:nvSpPr>
        <p:spPr>
          <a:xfrm>
            <a:off x="8572500" y="4572004"/>
            <a:ext cx="571500" cy="5715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60">
          <p15:clr>
            <a:srgbClr val="E46962"/>
          </p15:clr>
        </p15:guide>
        <p15:guide id="2" pos="5400">
          <p15:clr>
            <a:srgbClr val="E46962"/>
          </p15:clr>
        </p15:guide>
        <p15:guide id="3" orient="horz" pos="360">
          <p15:clr>
            <a:srgbClr val="E46962"/>
          </p15:clr>
        </p15:guide>
        <p15:guide id="4" orient="horz" pos="2880">
          <p15:clr>
            <a:srgbClr val="E46962"/>
          </p15:clr>
        </p15:guide>
        <p15:guide id="5" orient="horz" pos="504">
          <p15:clr>
            <a:srgbClr val="E46962"/>
          </p15:clr>
        </p15:guide>
        <p15:guide id="6" pos="2880">
          <p15:clr>
            <a:srgbClr val="E46962"/>
          </p15:clr>
        </p15:guide>
        <p15:guide id="7" orient="horz" pos="10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docs.google.com/document/d/15g_mKTrl7l75oPNtcZHbGInkWf8-7XIU_hoKbentnD8/template/preview"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booking.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7.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s://docs.google.com/presentation/d/1eYBU-TVsxBg1EZK--88zmbl3AJdEgiUetE4GuWcAyC4/template/preview" TargetMode="External"/><Relationship Id="rId4" Type="http://schemas.openxmlformats.org/officeDocument/2006/relationships/hyperlink" Target="https://docs.google.com/document/d/1Du4HDnhuqoh4y2P22rEKqM8f-HUTw4Fsc-MeFzMMrSE/template/preview" TargetMode="External"/><Relationship Id="rId9" Type="http://schemas.openxmlformats.org/officeDocument/2006/relationships/hyperlink" Target="https://docs.google.com/document/d/1yjM0eKf4fqaiPrDukSGSN5DvTPHuwy2j6e_xD6oUYIQ/template/preview" TargetMode="External"/><Relationship Id="rId5" Type="http://schemas.openxmlformats.org/officeDocument/2006/relationships/hyperlink" Target="https://docs.google.com/document/d/1TioKoXiZO-rF_6sveKNezAxrH9Zd3ET8JNwkb_aij0g/edit?tab=t.0" TargetMode="External"/><Relationship Id="rId6" Type="http://schemas.openxmlformats.org/officeDocument/2006/relationships/hyperlink" Target="https://docs.google.com/document/d/1BkbyPTyp42Aj_mjYEXU1bC_2xYzftXf-UVZUXUgsGc0/template/preview" TargetMode="External"/><Relationship Id="rId7" Type="http://schemas.openxmlformats.org/officeDocument/2006/relationships/hyperlink" Target="https://docs.google.com/document/d/1Z6GSTU8cXLGAxgXtmDo_3aQFd6rXwfHfBt4br3ByiQc/edit?tab=t.0" TargetMode="External"/><Relationship Id="rId8" Type="http://schemas.openxmlformats.org/officeDocument/2006/relationships/hyperlink" Target="https://docs.google.com/document/d/1lKcT3hGUY6rWG1Kytfp4Ubl698aAuSm2LZZf7SBOhOQ/template/preview" TargetMode="External"/><Relationship Id="rId11" Type="http://schemas.openxmlformats.org/officeDocument/2006/relationships/hyperlink" Target="https://docs.google.com/presentation/d/1Ev0lFJXalX2WDL8a5YboQVgCQ4hB2-FJrARy3ig6vWE/copy#slide=id.p" TargetMode="External"/><Relationship Id="rId10" Type="http://schemas.openxmlformats.org/officeDocument/2006/relationships/hyperlink" Target="https://docs.google.com/presentation/d/1nw_mgifltfopaA6MeS_PuGOh_8rO1ubc9SbqE_BaZts/copy#slide=id.g13eba7fc70a_0_444" TargetMode="External"/><Relationship Id="rId12" Type="http://schemas.openxmlformats.org/officeDocument/2006/relationships/hyperlink" Target="https://docs.google.com/document/d/1tn76XvdqVh3CavjI1qp5V5_rVXoCEYdHRM9o6kZadYI/template/pre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63" name="Shape 163"/>
        <p:cNvGrpSpPr/>
        <p:nvPr/>
      </p:nvGrpSpPr>
      <p:grpSpPr>
        <a:xfrm>
          <a:off x="0" y="0"/>
          <a:ext cx="0" cy="0"/>
          <a:chOff x="0" y="0"/>
          <a:chExt cx="0" cy="0"/>
        </a:xfrm>
      </p:grpSpPr>
      <p:pic>
        <p:nvPicPr>
          <p:cNvPr id="164" name="Google Shape;164;p33"/>
          <p:cNvPicPr preferRelativeResize="0"/>
          <p:nvPr/>
        </p:nvPicPr>
        <p:blipFill rotWithShape="1">
          <a:blip r:embed="rId3">
            <a:alphaModFix/>
          </a:blip>
          <a:srcRect b="0" l="0" r="0" t="0"/>
          <a:stretch/>
        </p:blipFill>
        <p:spPr>
          <a:xfrm>
            <a:off x="4007747" y="3611"/>
            <a:ext cx="5136251" cy="5136276"/>
          </a:xfrm>
          <a:prstGeom prst="rect">
            <a:avLst/>
          </a:prstGeom>
          <a:noFill/>
          <a:ln>
            <a:noFill/>
          </a:ln>
        </p:spPr>
      </p:pic>
      <p:sp>
        <p:nvSpPr>
          <p:cNvPr id="165" name="Google Shape;165;p33"/>
          <p:cNvSpPr txBox="1"/>
          <p:nvPr>
            <p:ph type="ctrTitle"/>
          </p:nvPr>
        </p:nvSpPr>
        <p:spPr>
          <a:xfrm>
            <a:off x="571500" y="1576844"/>
            <a:ext cx="4687500" cy="1231500"/>
          </a:xfrm>
          <a:prstGeom prst="rect">
            <a:avLst/>
          </a:prstGeom>
        </p:spPr>
        <p:txBody>
          <a:bodyPr anchorCtr="0" anchor="ctr" bIns="0" lIns="0" spcFirstLastPara="1" rIns="91425" wrap="square" tIns="0">
            <a:spAutoFit/>
          </a:bodyPr>
          <a:lstStyle/>
          <a:p>
            <a:pPr indent="0" lvl="0" marL="0" rtl="0" algn="l">
              <a:spcBef>
                <a:spcPts val="0"/>
              </a:spcBef>
              <a:spcAft>
                <a:spcPts val="0"/>
              </a:spcAft>
              <a:buNone/>
            </a:pPr>
            <a:r>
              <a:rPr lang="en">
                <a:solidFill>
                  <a:schemeClr val="dk2"/>
                </a:solidFill>
              </a:rPr>
              <a:t>Product Manager Certification™️</a:t>
            </a:r>
            <a:endParaRPr>
              <a:solidFill>
                <a:schemeClr val="dk2"/>
              </a:solidFill>
            </a:endParaRPr>
          </a:p>
        </p:txBody>
      </p:sp>
      <p:sp>
        <p:nvSpPr>
          <p:cNvPr id="166" name="Google Shape;166;p33"/>
          <p:cNvSpPr txBox="1"/>
          <p:nvPr>
            <p:ph idx="1" type="subTitle"/>
          </p:nvPr>
        </p:nvSpPr>
        <p:spPr>
          <a:xfrm>
            <a:off x="571500" y="2880494"/>
            <a:ext cx="4000500" cy="3447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b="1" lang="en">
                <a:solidFill>
                  <a:srgbClr val="DBFFF9"/>
                </a:solidFill>
                <a:latin typeface="Poppins"/>
                <a:ea typeface="Poppins"/>
                <a:cs typeface="Poppins"/>
                <a:sym typeface="Poppins"/>
              </a:rPr>
              <a:t>Final Presentation Template</a:t>
            </a:r>
            <a:endParaRPr b="1">
              <a:solidFill>
                <a:srgbClr val="DBFFF9"/>
              </a:solidFill>
              <a:latin typeface="Poppins"/>
              <a:ea typeface="Poppins"/>
              <a:cs typeface="Poppins"/>
              <a:sym typeface="Poppins"/>
            </a:endParaRPr>
          </a:p>
        </p:txBody>
      </p:sp>
      <p:pic>
        <p:nvPicPr>
          <p:cNvPr id="167" name="Google Shape;167;p33"/>
          <p:cNvPicPr preferRelativeResize="0"/>
          <p:nvPr/>
        </p:nvPicPr>
        <p:blipFill>
          <a:blip r:embed="rId4">
            <a:alphaModFix/>
          </a:blip>
          <a:stretch>
            <a:fillRect/>
          </a:stretch>
        </p:blipFill>
        <p:spPr>
          <a:xfrm>
            <a:off x="8390465" y="571500"/>
            <a:ext cx="182035" cy="224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FFF9"/>
        </a:solidFill>
      </p:bgPr>
    </p:bg>
    <p:spTree>
      <p:nvGrpSpPr>
        <p:cNvPr id="171" name="Shape 171"/>
        <p:cNvGrpSpPr/>
        <p:nvPr/>
      </p:nvGrpSpPr>
      <p:grpSpPr>
        <a:xfrm>
          <a:off x="0" y="0"/>
          <a:ext cx="0" cy="0"/>
          <a:chOff x="0" y="0"/>
          <a:chExt cx="0" cy="0"/>
        </a:xfrm>
      </p:grpSpPr>
      <p:sp>
        <p:nvSpPr>
          <p:cNvPr id="172" name="Google Shape;172;p34"/>
          <p:cNvSpPr txBox="1"/>
          <p:nvPr>
            <p:ph type="title"/>
          </p:nvPr>
        </p:nvSpPr>
        <p:spPr>
          <a:xfrm>
            <a:off x="571500" y="800100"/>
            <a:ext cx="3089700" cy="914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800">
                <a:solidFill>
                  <a:srgbClr val="03876F"/>
                </a:solidFill>
              </a:rPr>
              <a:t>What do I have to do?</a:t>
            </a:r>
            <a:endParaRPr sz="1800">
              <a:solidFill>
                <a:srgbClr val="03876F"/>
              </a:solidFill>
              <a:latin typeface="Poppins"/>
              <a:ea typeface="Poppins"/>
              <a:cs typeface="Poppins"/>
              <a:sym typeface="Poppins"/>
            </a:endParaRPr>
          </a:p>
        </p:txBody>
      </p:sp>
      <p:sp>
        <p:nvSpPr>
          <p:cNvPr id="173" name="Google Shape;173;p34"/>
          <p:cNvSpPr txBox="1"/>
          <p:nvPr/>
        </p:nvSpPr>
        <p:spPr>
          <a:xfrm>
            <a:off x="571500" y="575375"/>
            <a:ext cx="4000500" cy="22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chemeClr val="accent4"/>
                </a:solidFill>
                <a:latin typeface="Lato"/>
                <a:ea typeface="Lato"/>
                <a:cs typeface="Lato"/>
                <a:sym typeface="Lato"/>
              </a:rPr>
              <a:t>Final Presentation &gt; </a:t>
            </a:r>
            <a:r>
              <a:rPr b="1" lang="en" sz="900">
                <a:solidFill>
                  <a:schemeClr val="accent4"/>
                </a:solidFill>
                <a:latin typeface="Lato"/>
                <a:ea typeface="Lato"/>
                <a:cs typeface="Lato"/>
                <a:sym typeface="Lato"/>
              </a:rPr>
              <a:t>What do I have to do?</a:t>
            </a:r>
            <a:endParaRPr b="1" sz="900">
              <a:solidFill>
                <a:schemeClr val="accent4"/>
              </a:solidFill>
              <a:latin typeface="Lato"/>
              <a:ea typeface="Lato"/>
              <a:cs typeface="Lato"/>
              <a:sym typeface="Lato"/>
            </a:endParaRPr>
          </a:p>
        </p:txBody>
      </p:sp>
      <p:sp>
        <p:nvSpPr>
          <p:cNvPr id="174" name="Google Shape;174;p34"/>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p>
            <a:pPr indent="0" lvl="0" marL="0" rtl="0" algn="l">
              <a:spcBef>
                <a:spcPts val="1500"/>
              </a:spcBef>
              <a:spcAft>
                <a:spcPts val="0"/>
              </a:spcAft>
              <a:buNone/>
            </a:pPr>
            <a:r>
              <a:rPr lang="en">
                <a:solidFill>
                  <a:srgbClr val="03876F"/>
                </a:solidFill>
              </a:rPr>
              <a:t>I'm your template deck. 👋</a:t>
            </a:r>
            <a:endParaRPr>
              <a:solidFill>
                <a:srgbClr val="03876F"/>
              </a:solidFill>
            </a:endParaRPr>
          </a:p>
          <a:p>
            <a:pPr indent="0" lvl="0" marL="0" rtl="0" algn="l">
              <a:spcBef>
                <a:spcPts val="1500"/>
              </a:spcBef>
              <a:spcAft>
                <a:spcPts val="0"/>
              </a:spcAft>
              <a:buNone/>
            </a:pPr>
            <a:r>
              <a:rPr lang="en">
                <a:solidFill>
                  <a:srgbClr val="03876F"/>
                </a:solidFill>
              </a:rPr>
              <a:t>Please duplicate me and customize your copy for your final presentation.</a:t>
            </a:r>
            <a:endParaRPr>
              <a:solidFill>
                <a:srgbClr val="03876F"/>
              </a:solidFill>
            </a:endParaRPr>
          </a:p>
          <a:p>
            <a:pPr indent="0" lvl="0" marL="0" rtl="0" algn="l">
              <a:spcBef>
                <a:spcPts val="1500"/>
              </a:spcBef>
              <a:spcAft>
                <a:spcPts val="0"/>
              </a:spcAft>
              <a:buNone/>
            </a:pPr>
            <a:r>
              <a:rPr lang="en">
                <a:solidFill>
                  <a:srgbClr val="03876F"/>
                </a:solidFill>
              </a:rPr>
              <a:t>Individual slides have been provided for each section to assist you in gathering and organizing the necessary information — but you don’t need to include everything! </a:t>
            </a:r>
            <a:endParaRPr>
              <a:solidFill>
                <a:srgbClr val="03876F"/>
              </a:solidFill>
            </a:endParaRPr>
          </a:p>
          <a:p>
            <a:pPr indent="0" lvl="0" marL="0" rtl="0" algn="l">
              <a:spcBef>
                <a:spcPts val="0"/>
              </a:spcBef>
              <a:spcAft>
                <a:spcPts val="0"/>
              </a:spcAft>
              <a:buNone/>
            </a:pPr>
            <a:r>
              <a:t/>
            </a:r>
            <a:endParaRPr>
              <a:solidFill>
                <a:srgbClr val="03876F"/>
              </a:solidFill>
            </a:endParaRPr>
          </a:p>
          <a:p>
            <a:pPr indent="0" lvl="0" marL="0" rtl="0" algn="l">
              <a:spcBef>
                <a:spcPts val="0"/>
              </a:spcBef>
              <a:spcAft>
                <a:spcPts val="0"/>
              </a:spcAft>
              <a:buNone/>
            </a:pPr>
            <a:r>
              <a:rPr lang="en">
                <a:solidFill>
                  <a:srgbClr val="03876F"/>
                </a:solidFill>
              </a:rPr>
              <a:t>For instructions related to what to include, be sure to follow the </a:t>
            </a:r>
            <a:r>
              <a:rPr b="1" lang="en" u="sng">
                <a:solidFill>
                  <a:schemeClr val="dk2"/>
                </a:solidFill>
                <a:hlinkClick r:id="rId3">
                  <a:extLst>
                    <a:ext uri="{A12FA001-AC4F-418D-AE19-62706E023703}">
                      <ahyp:hlinkClr val="tx"/>
                    </a:ext>
                  </a:extLst>
                </a:hlinkClick>
              </a:rPr>
              <a:t>Project Brief.</a:t>
            </a:r>
            <a:endParaRPr>
              <a:solidFill>
                <a:schemeClr val="dk2"/>
              </a:solidFill>
            </a:endParaRPr>
          </a:p>
          <a:p>
            <a:pPr indent="0" lvl="0" marL="0" rtl="0" algn="l">
              <a:spcBef>
                <a:spcPts val="0"/>
              </a:spcBef>
              <a:spcAft>
                <a:spcPts val="0"/>
              </a:spcAft>
              <a:buNone/>
            </a:pPr>
            <a:r>
              <a:t/>
            </a:r>
            <a:endParaRPr>
              <a:solidFill>
                <a:srgbClr val="03876F"/>
              </a:solidFill>
            </a:endParaRPr>
          </a:p>
          <a:p>
            <a:pPr indent="0" lvl="0" marL="0" rtl="0" algn="l">
              <a:spcBef>
                <a:spcPts val="0"/>
              </a:spcBef>
              <a:spcAft>
                <a:spcPts val="1000"/>
              </a:spcAft>
              <a:buNone/>
            </a:pPr>
            <a:r>
              <a:t/>
            </a:r>
            <a:endParaRPr>
              <a:solidFill>
                <a:srgbClr val="03876F"/>
              </a:solidFill>
            </a:endParaRPr>
          </a:p>
        </p:txBody>
      </p:sp>
      <p:sp>
        <p:nvSpPr>
          <p:cNvPr id="175" name="Google Shape;175;p34"/>
          <p:cNvSpPr/>
          <p:nvPr/>
        </p:nvSpPr>
        <p:spPr>
          <a:xfrm>
            <a:off x="5000825" y="964500"/>
            <a:ext cx="3201600" cy="3214500"/>
          </a:xfrm>
          <a:prstGeom prst="roundRect">
            <a:avLst>
              <a:gd fmla="val 2543" name="adj"/>
            </a:avLst>
          </a:prstGeom>
          <a:solidFill>
            <a:schemeClr val="accent6"/>
          </a:solidFill>
          <a:ln>
            <a:noFill/>
          </a:ln>
          <a:effectLst>
            <a:outerShdw blurRad="57150" rotWithShape="0" algn="bl" dir="5400000" dist="19050">
              <a:schemeClr val="accent6">
                <a:alpha val="50000"/>
              </a:schemeClr>
            </a:outerShdw>
          </a:effectLst>
        </p:spPr>
        <p:txBody>
          <a:bodyPr anchorCtr="0" anchor="ctr" bIns="91425" lIns="365750" spcFirstLastPara="1" rIns="365750" wrap="square" tIns="91425">
            <a:noAutofit/>
          </a:bodyPr>
          <a:lstStyle/>
          <a:p>
            <a:pPr indent="0" lvl="0" marL="0" rtl="0" algn="ctr">
              <a:lnSpc>
                <a:spcPct val="115000"/>
              </a:lnSpc>
              <a:spcBef>
                <a:spcPts val="0"/>
              </a:spcBef>
              <a:spcAft>
                <a:spcPts val="0"/>
              </a:spcAft>
              <a:buNone/>
            </a:pPr>
            <a:r>
              <a:rPr b="1" lang="en" sz="1000">
                <a:solidFill>
                  <a:schemeClr val="accent1"/>
                </a:solidFill>
                <a:latin typeface="Poppins"/>
                <a:ea typeface="Poppins"/>
                <a:cs typeface="Poppins"/>
                <a:sym typeface="Poppins"/>
              </a:rPr>
              <a:t>IMPORTANT</a:t>
            </a:r>
            <a:endParaRPr b="1" sz="1000">
              <a:solidFill>
                <a:schemeClr val="accent1"/>
              </a:solidFill>
              <a:latin typeface="Poppins"/>
              <a:ea typeface="Poppins"/>
              <a:cs typeface="Poppins"/>
              <a:sym typeface="Poppins"/>
            </a:endParaRPr>
          </a:p>
          <a:p>
            <a:pPr indent="0" lvl="0" marL="0" rtl="0" algn="ctr">
              <a:lnSpc>
                <a:spcPct val="115000"/>
              </a:lnSpc>
              <a:spcBef>
                <a:spcPts val="0"/>
              </a:spcBef>
              <a:spcAft>
                <a:spcPts val="0"/>
              </a:spcAft>
              <a:buNone/>
            </a:pPr>
            <a:r>
              <a:rPr lang="en">
                <a:solidFill>
                  <a:srgbClr val="06563A"/>
                </a:solidFill>
                <a:latin typeface="Poppins SemiBold"/>
                <a:ea typeface="Poppins SemiBold"/>
                <a:cs typeface="Poppins SemiBold"/>
                <a:sym typeface="Poppins SemiBold"/>
              </a:rPr>
              <a:t>Make sure you can comfortably convey everything you need to say in 5 minutes. </a:t>
            </a:r>
            <a:endParaRPr>
              <a:solidFill>
                <a:srgbClr val="3C4856"/>
              </a:solidFill>
              <a:latin typeface="Poppins SemiBold"/>
              <a:ea typeface="Poppins SemiBold"/>
              <a:cs typeface="Poppins SemiBold"/>
              <a:sym typeface="Poppins SemiBold"/>
            </a:endParaRPr>
          </a:p>
        </p:txBody>
      </p:sp>
      <p:pic>
        <p:nvPicPr>
          <p:cNvPr id="176" name="Google Shape;176;p34"/>
          <p:cNvPicPr preferRelativeResize="0"/>
          <p:nvPr/>
        </p:nvPicPr>
        <p:blipFill rotWithShape="1">
          <a:blip r:embed="rId4">
            <a:alphaModFix/>
          </a:blip>
          <a:srcRect b="0" l="0" r="83757" t="0"/>
          <a:stretch/>
        </p:blipFill>
        <p:spPr>
          <a:xfrm>
            <a:off x="8378792" y="571500"/>
            <a:ext cx="222649" cy="237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ctrTitle"/>
          </p:nvPr>
        </p:nvSpPr>
        <p:spPr>
          <a:xfrm>
            <a:off x="571500" y="571500"/>
            <a:ext cx="8001000" cy="4000500"/>
          </a:xfrm>
          <a:prstGeom prst="rect">
            <a:avLst/>
          </a:prstGeom>
        </p:spPr>
        <p:txBody>
          <a:bodyPr anchorCtr="0" anchor="ctr" bIns="0" lIns="0" spcFirstLastPara="1" rIns="0" wrap="square" tIns="0">
            <a:noAutofit/>
          </a:bodyPr>
          <a:lstStyle/>
          <a:p>
            <a:pPr indent="0" lvl="0" marL="0" rtl="0" algn="ctr">
              <a:lnSpc>
                <a:spcPct val="115000"/>
              </a:lnSpc>
              <a:spcBef>
                <a:spcPts val="1000"/>
              </a:spcBef>
              <a:spcAft>
                <a:spcPts val="0"/>
              </a:spcAft>
              <a:buNone/>
            </a:pPr>
            <a:r>
              <a:rPr lang="en"/>
              <a:t>Stay-N-Sleep</a:t>
            </a:r>
            <a:endParaRPr/>
          </a:p>
          <a:p>
            <a:pPr indent="0" lvl="0" marL="0" rtl="0" algn="ctr">
              <a:lnSpc>
                <a:spcPct val="115000"/>
              </a:lnSpc>
              <a:spcBef>
                <a:spcPts val="0"/>
              </a:spcBef>
              <a:spcAft>
                <a:spcPts val="0"/>
              </a:spcAft>
              <a:buNone/>
            </a:pPr>
            <a:r>
              <a:rPr b="0" lang="en" sz="1800">
                <a:solidFill>
                  <a:srgbClr val="97B0CE"/>
                </a:solidFill>
                <a:latin typeface="Poppins SemiBold"/>
                <a:ea typeface="Poppins SemiBold"/>
                <a:cs typeface="Poppins SemiBold"/>
                <a:sym typeface="Poppins SemiBold"/>
              </a:rPr>
              <a:t>Group 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ph type="title"/>
          </p:nvPr>
        </p:nvSpPr>
        <p:spPr>
          <a:xfrm>
            <a:off x="571500" y="800100"/>
            <a:ext cx="3089700" cy="914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Executive Summary</a:t>
            </a:r>
            <a:endParaRPr sz="1800">
              <a:latin typeface="Poppins"/>
              <a:ea typeface="Poppins"/>
              <a:cs typeface="Poppins"/>
              <a:sym typeface="Poppins"/>
            </a:endParaRPr>
          </a:p>
        </p:txBody>
      </p:sp>
      <p:pic>
        <p:nvPicPr>
          <p:cNvPr id="187" name="Google Shape;187;p36"/>
          <p:cNvPicPr preferRelativeResize="0"/>
          <p:nvPr/>
        </p:nvPicPr>
        <p:blipFill>
          <a:blip r:embed="rId3">
            <a:alphaModFix/>
          </a:blip>
          <a:stretch>
            <a:fillRect/>
          </a:stretch>
        </p:blipFill>
        <p:spPr>
          <a:xfrm>
            <a:off x="7463512" y="575375"/>
            <a:ext cx="1108987" cy="224725"/>
          </a:xfrm>
          <a:prstGeom prst="rect">
            <a:avLst/>
          </a:prstGeom>
          <a:noFill/>
          <a:ln>
            <a:noFill/>
          </a:ln>
        </p:spPr>
      </p:pic>
      <p:sp>
        <p:nvSpPr>
          <p:cNvPr id="188" name="Google Shape;188;p36"/>
          <p:cNvSpPr txBox="1"/>
          <p:nvPr>
            <p:ph idx="1" type="body"/>
          </p:nvPr>
        </p:nvSpPr>
        <p:spPr>
          <a:xfrm>
            <a:off x="571500" y="1439350"/>
            <a:ext cx="8097000" cy="33684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Over the last two quarters, we have identified from qualitative feedback a surge in inbound requests for a loyalty program. Especially corporate users are specifically seeking centralized tools to book comprehensive business travels, furthermore there is a popularity in our </a:t>
            </a:r>
            <a:r>
              <a:rPr b="1" lang="en" sz="1100">
                <a:solidFill>
                  <a:srgbClr val="000000"/>
                </a:solidFill>
                <a:latin typeface="Arial"/>
                <a:ea typeface="Arial"/>
                <a:cs typeface="Arial"/>
                <a:sym typeface="Arial"/>
              </a:rPr>
              <a:t>Admin Dashboard </a:t>
            </a:r>
            <a:r>
              <a:rPr lang="en" sz="1100">
                <a:solidFill>
                  <a:srgbClr val="000000"/>
                </a:solidFill>
                <a:latin typeface="Arial"/>
                <a:ea typeface="Arial"/>
                <a:cs typeface="Arial"/>
                <a:sym typeface="Arial"/>
              </a:rPr>
              <a:t>- to streamline booking workflows and improve reporting accuracy for employee travel.</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The Business Case for Retention</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Our roadmap prioritization is driven by a "Retention-First" strategy. The unit economics for customer acquisition vs. retention present a compelling argument for this pivot:</a:t>
            </a:r>
            <a:endParaRPr sz="1100">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SzPts val="1200"/>
              <a:buFont typeface="Lato"/>
              <a:buChar char="●"/>
            </a:pPr>
            <a:r>
              <a:rPr lang="en">
                <a:solidFill>
                  <a:schemeClr val="dk1"/>
                </a:solidFill>
              </a:rPr>
              <a:t>CAC Efficiency: It is currently 5x more expensive to acquire a new user than to retain an existing one.</a:t>
            </a:r>
            <a:endParaRPr>
              <a:solidFill>
                <a:schemeClr val="dk1"/>
              </a:solidFill>
            </a:endParaRPr>
          </a:p>
          <a:p>
            <a:pPr indent="-304800" lvl="0" marL="457200" marR="0" rtl="0" algn="l">
              <a:lnSpc>
                <a:spcPct val="115000"/>
              </a:lnSpc>
              <a:spcBef>
                <a:spcPts val="0"/>
              </a:spcBef>
              <a:spcAft>
                <a:spcPts val="0"/>
              </a:spcAft>
              <a:buSzPts val="1200"/>
              <a:buFont typeface="Lato"/>
              <a:buChar char="●"/>
            </a:pPr>
            <a:r>
              <a:rPr lang="en">
                <a:solidFill>
                  <a:schemeClr val="dk1"/>
                </a:solidFill>
              </a:rPr>
              <a:t>Existing customers are 50% higher more likely to sample new product features and experiences.</a:t>
            </a:r>
            <a:endParaRPr>
              <a:solidFill>
                <a:schemeClr val="dk1"/>
              </a:solidFill>
            </a:endParaRPr>
          </a:p>
          <a:p>
            <a:pPr indent="-304800" lvl="0" marL="457200" marR="0" rtl="0" algn="l">
              <a:lnSpc>
                <a:spcPct val="115000"/>
              </a:lnSpc>
              <a:spcBef>
                <a:spcPts val="0"/>
              </a:spcBef>
              <a:spcAft>
                <a:spcPts val="0"/>
              </a:spcAft>
              <a:buSzPts val="1200"/>
              <a:buFont typeface="Lato"/>
              <a:buChar char="●"/>
            </a:pPr>
            <a:r>
              <a:rPr lang="en">
                <a:solidFill>
                  <a:schemeClr val="dk1"/>
                </a:solidFill>
              </a:rPr>
              <a:t>Repeat users 31% more higher spending on average than new users</a:t>
            </a:r>
            <a:endParaRPr>
              <a:solidFill>
                <a:schemeClr val="dk1"/>
              </a:solidFil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Therefore the recommendation is </a:t>
            </a:r>
            <a:r>
              <a:rPr lang="en" sz="1100">
                <a:solidFill>
                  <a:schemeClr val="dk1"/>
                </a:solidFill>
                <a:latin typeface="Arial"/>
                <a:ea typeface="Arial"/>
                <a:cs typeface="Arial"/>
                <a:sym typeface="Arial"/>
              </a:rPr>
              <a:t>Validate if the request is an actual opportunity and introduce Minimum Viable Product to determine PMF. If this is the case then build further from there</a:t>
            </a:r>
            <a:endParaRPr sz="1100">
              <a:solidFill>
                <a:schemeClr val="dk1"/>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lnSpc>
                <a:spcPct val="100000"/>
              </a:lnSpc>
              <a:spcBef>
                <a:spcPts val="1500"/>
              </a:spcBef>
              <a:spcAft>
                <a:spcPts val="0"/>
              </a:spcAft>
              <a:buNone/>
            </a:pPr>
            <a:r>
              <a:t/>
            </a:r>
            <a:endParaRPr>
              <a:solidFill>
                <a:srgbClr val="374151"/>
              </a:solidFill>
            </a:endParaRPr>
          </a:p>
          <a:p>
            <a:pPr indent="0" lvl="0" marL="0" rtl="0" algn="l">
              <a:lnSpc>
                <a:spcPct val="100000"/>
              </a:lnSpc>
              <a:spcBef>
                <a:spcPts val="1500"/>
              </a:spcBef>
              <a:spcAft>
                <a:spcPts val="0"/>
              </a:spcAft>
              <a:buNone/>
            </a:pPr>
            <a:r>
              <a:t/>
            </a:r>
            <a:endParaRPr sz="1000">
              <a:solidFill>
                <a:srgbClr val="374151"/>
              </a:solidFill>
            </a:endParaRPr>
          </a:p>
          <a:p>
            <a:pPr indent="0" lvl="0" marL="0" rtl="0" algn="l">
              <a:lnSpc>
                <a:spcPct val="100000"/>
              </a:lnSpc>
              <a:spcBef>
                <a:spcPts val="1500"/>
              </a:spcBef>
              <a:spcAft>
                <a:spcPts val="0"/>
              </a:spcAft>
              <a:buNone/>
            </a:pPr>
            <a:r>
              <a:t/>
            </a:r>
            <a:endParaRPr>
              <a:solidFill>
                <a:srgbClr val="374151"/>
              </a:solidFill>
            </a:endParaRPr>
          </a:p>
          <a:p>
            <a:pPr indent="0" lvl="0" marL="0" rtl="0" algn="l">
              <a:spcBef>
                <a:spcPts val="1500"/>
              </a:spcBef>
              <a:spcAft>
                <a:spcPts val="1000"/>
              </a:spcAft>
              <a:buNone/>
            </a:pPr>
            <a:r>
              <a:t/>
            </a:r>
            <a:endParaRPr>
              <a:solidFill>
                <a:srgbClr val="374151"/>
              </a:solidFill>
            </a:endParaRPr>
          </a:p>
        </p:txBody>
      </p:sp>
      <p:sp>
        <p:nvSpPr>
          <p:cNvPr id="189" name="Google Shape;189;p36"/>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Zakia</a:t>
            </a:r>
            <a:endParaRPr b="0"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nvSpPr>
        <p:spPr>
          <a:xfrm>
            <a:off x="607200" y="141900"/>
            <a:ext cx="7929600" cy="42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0"/>
              </a:spcBef>
              <a:spcAft>
                <a:spcPts val="600"/>
              </a:spcAft>
              <a:buNone/>
            </a:pPr>
            <a:r>
              <a:rPr b="1" lang="en" sz="2000">
                <a:solidFill>
                  <a:srgbClr val="07182C"/>
                </a:solidFill>
                <a:latin typeface="Poppins"/>
                <a:ea typeface="Poppins"/>
                <a:cs typeface="Poppins"/>
                <a:sym typeface="Poppins"/>
              </a:rPr>
              <a:t>Persona 1: </a:t>
            </a:r>
            <a:endParaRPr b="1" sz="2000">
              <a:solidFill>
                <a:srgbClr val="07182C"/>
              </a:solidFill>
              <a:latin typeface="Poppins"/>
              <a:ea typeface="Poppins"/>
              <a:cs typeface="Poppins"/>
              <a:sym typeface="Poppins"/>
            </a:endParaRPr>
          </a:p>
        </p:txBody>
      </p:sp>
      <p:graphicFrame>
        <p:nvGraphicFramePr>
          <p:cNvPr id="195" name="Google Shape;195;p37"/>
          <p:cNvGraphicFramePr/>
          <p:nvPr/>
        </p:nvGraphicFramePr>
        <p:xfrm>
          <a:off x="607188" y="571510"/>
          <a:ext cx="3000000" cy="3000000"/>
        </p:xfrm>
        <a:graphic>
          <a:graphicData uri="http://schemas.openxmlformats.org/drawingml/2006/table">
            <a:tbl>
              <a:tblPr>
                <a:noFill/>
                <a:tableStyleId>{649DE109-F2CC-45FD-8F9A-4B69E8F95048}</a:tableStyleId>
              </a:tblPr>
              <a:tblGrid>
                <a:gridCol w="3866075"/>
              </a:tblGrid>
              <a:tr h="320000">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Name</a:t>
                      </a:r>
                      <a:endParaRPr sz="900">
                        <a:solidFill>
                          <a:srgbClr val="07182C"/>
                        </a:solidFill>
                        <a:highlight>
                          <a:srgbClr val="BAF7EC"/>
                        </a:highlight>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447450">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Michele Grandberg</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r h="320000">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Job</a:t>
                      </a:r>
                      <a:endParaRPr sz="900">
                        <a:solidFill>
                          <a:srgbClr val="07182C"/>
                        </a:solidFill>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600775">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BSG consultant</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r h="280600">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Facts</a:t>
                      </a:r>
                      <a:endParaRPr sz="900">
                        <a:solidFill>
                          <a:srgbClr val="07182C"/>
                        </a:solidFill>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600775">
                <a:tc>
                  <a:txBody>
                    <a:bodyPr/>
                    <a:lstStyle/>
                    <a:p>
                      <a:pPr indent="-285750" lvl="0" marL="457200" rtl="0" algn="l">
                        <a:spcBef>
                          <a:spcPts val="0"/>
                        </a:spcBef>
                        <a:spcAft>
                          <a:spcPts val="0"/>
                        </a:spcAft>
                        <a:buClr>
                          <a:srgbClr val="1CD2AD"/>
                        </a:buClr>
                        <a:buSzPts val="900"/>
                        <a:buFont typeface="Lato"/>
                        <a:buChar char="●"/>
                      </a:pPr>
                      <a:r>
                        <a:rPr lang="en" sz="900">
                          <a:solidFill>
                            <a:srgbClr val="07182C"/>
                          </a:solidFill>
                          <a:latin typeface="Lato"/>
                          <a:ea typeface="Lato"/>
                          <a:cs typeface="Lato"/>
                          <a:sym typeface="Lato"/>
                        </a:rPr>
                        <a:t>1 She’s South Africa origin, UK resident</a:t>
                      </a:r>
                      <a:endParaRPr sz="900">
                        <a:solidFill>
                          <a:srgbClr val="07182C"/>
                        </a:solidFill>
                        <a:latin typeface="Lato"/>
                        <a:ea typeface="Lato"/>
                        <a:cs typeface="Lato"/>
                        <a:sym typeface="Lato"/>
                      </a:endParaRPr>
                    </a:p>
                    <a:p>
                      <a:pPr indent="-285750" lvl="0" marL="457200" rtl="0" algn="l">
                        <a:spcBef>
                          <a:spcPts val="0"/>
                        </a:spcBef>
                        <a:spcAft>
                          <a:spcPts val="0"/>
                        </a:spcAft>
                        <a:buClr>
                          <a:srgbClr val="1CD2AD"/>
                        </a:buClr>
                        <a:buSzPts val="900"/>
                        <a:buFont typeface="Lato"/>
                        <a:buChar char="●"/>
                      </a:pPr>
                      <a:r>
                        <a:rPr lang="en" sz="900">
                          <a:solidFill>
                            <a:srgbClr val="07182C"/>
                          </a:solidFill>
                          <a:latin typeface="Lato"/>
                          <a:ea typeface="Lato"/>
                          <a:cs typeface="Lato"/>
                          <a:sym typeface="Lato"/>
                        </a:rPr>
                        <a:t>2 Loves dancing salsa</a:t>
                      </a:r>
                      <a:endParaRPr sz="900">
                        <a:solidFill>
                          <a:srgbClr val="07182C"/>
                        </a:solidFill>
                        <a:latin typeface="Lato"/>
                        <a:ea typeface="Lato"/>
                        <a:cs typeface="Lato"/>
                        <a:sym typeface="Lato"/>
                      </a:endParaRPr>
                    </a:p>
                    <a:p>
                      <a:pPr indent="-285750" lvl="0" marL="457200" rtl="0" algn="l">
                        <a:spcBef>
                          <a:spcPts val="0"/>
                        </a:spcBef>
                        <a:spcAft>
                          <a:spcPts val="0"/>
                        </a:spcAft>
                        <a:buClr>
                          <a:srgbClr val="1CD2AD"/>
                        </a:buClr>
                        <a:buSzPts val="900"/>
                        <a:buFont typeface="Lato"/>
                        <a:buChar char="●"/>
                      </a:pPr>
                      <a:r>
                        <a:rPr lang="en" sz="900">
                          <a:solidFill>
                            <a:srgbClr val="07182C"/>
                          </a:solidFill>
                          <a:latin typeface="Lato"/>
                          <a:ea typeface="Lato"/>
                          <a:cs typeface="Lato"/>
                          <a:sym typeface="Lato"/>
                        </a:rPr>
                        <a:t>3 Enjoys spending time outdoors</a:t>
                      </a:r>
                      <a:endParaRPr sz="900">
                        <a:solidFill>
                          <a:srgbClr val="07182C"/>
                        </a:solidFill>
                        <a:latin typeface="Lato"/>
                        <a:ea typeface="Lato"/>
                        <a:cs typeface="Lato"/>
                        <a:sym typeface="Lato"/>
                      </a:endParaRPr>
                    </a:p>
                    <a:p>
                      <a:pPr indent="0" lvl="0" marL="0" rtl="0" algn="l">
                        <a:spcBef>
                          <a:spcPts val="0"/>
                        </a:spcBef>
                        <a:spcAft>
                          <a:spcPts val="0"/>
                        </a:spcAft>
                        <a:buNone/>
                      </a:pPr>
                      <a:r>
                        <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CFCFC"/>
                      </a:solidFill>
                      <a:prstDash val="solid"/>
                      <a:round/>
                      <a:headEnd len="sm" w="sm" type="none"/>
                      <a:tailEnd len="sm" w="sm" type="none"/>
                    </a:lnB>
                  </a:tcPr>
                </a:tc>
              </a:tr>
            </a:tbl>
          </a:graphicData>
        </a:graphic>
      </p:graphicFrame>
      <p:pic>
        <p:nvPicPr>
          <p:cNvPr id="196" name="Google Shape;196;p37"/>
          <p:cNvPicPr preferRelativeResize="0"/>
          <p:nvPr/>
        </p:nvPicPr>
        <p:blipFill rotWithShape="1">
          <a:blip r:embed="rId3">
            <a:alphaModFix/>
          </a:blip>
          <a:srcRect b="8368" l="41824" r="34829" t="54688"/>
          <a:stretch/>
        </p:blipFill>
        <p:spPr>
          <a:xfrm flipH="1" rot="10800000">
            <a:off x="6154175" y="1376727"/>
            <a:ext cx="2117700" cy="2117700"/>
          </a:xfrm>
          <a:prstGeom prst="ellipse">
            <a:avLst/>
          </a:prstGeom>
          <a:noFill/>
          <a:ln>
            <a:noFill/>
          </a:ln>
        </p:spPr>
      </p:pic>
      <p:graphicFrame>
        <p:nvGraphicFramePr>
          <p:cNvPr id="197" name="Google Shape;197;p37"/>
          <p:cNvGraphicFramePr/>
          <p:nvPr/>
        </p:nvGraphicFramePr>
        <p:xfrm>
          <a:off x="607188" y="3637210"/>
          <a:ext cx="3000000" cy="3000000"/>
        </p:xfrm>
        <a:graphic>
          <a:graphicData uri="http://schemas.openxmlformats.org/drawingml/2006/table">
            <a:tbl>
              <a:tblPr>
                <a:noFill/>
                <a:tableStyleId>{649DE109-F2CC-45FD-8F9A-4B69E8F95048}</a:tableStyleId>
              </a:tblPr>
              <a:tblGrid>
                <a:gridCol w="1551300"/>
                <a:gridCol w="1551300"/>
                <a:gridCol w="1551300"/>
                <a:gridCol w="1551300"/>
                <a:gridCol w="1551300"/>
              </a:tblGrid>
              <a:tr h="255625">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Age</a:t>
                      </a:r>
                      <a:endParaRPr sz="900">
                        <a:solidFill>
                          <a:srgbClr val="07182C"/>
                        </a:solidFill>
                        <a:highlight>
                          <a:srgbClr val="BAF7EC"/>
                        </a:highlight>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Gender</a:t>
                      </a:r>
                      <a:endParaRPr sz="900">
                        <a:solidFill>
                          <a:srgbClr val="07182C"/>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Income</a:t>
                      </a:r>
                      <a:endParaRPr sz="900">
                        <a:solidFill>
                          <a:srgbClr val="07182C"/>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Education Level</a:t>
                      </a:r>
                      <a:endParaRPr sz="900">
                        <a:solidFill>
                          <a:srgbClr val="07182C"/>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Location</a:t>
                      </a:r>
                      <a:endParaRPr sz="900">
                        <a:solidFill>
                          <a:srgbClr val="07182C"/>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292075">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36</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Female</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Lato"/>
                          <a:ea typeface="Lato"/>
                          <a:cs typeface="Lato"/>
                          <a:sym typeface="Lato"/>
                        </a:rPr>
                        <a:t>£ 50,000</a:t>
                      </a:r>
                      <a:endParaRPr sz="900">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Masters Degree </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London, UK</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198" name="Google Shape;198;p37"/>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Zakia</a:t>
            </a:r>
            <a:endParaRPr b="0" sz="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aphicFrame>
        <p:nvGraphicFramePr>
          <p:cNvPr id="203" name="Google Shape;203;p38"/>
          <p:cNvGraphicFramePr/>
          <p:nvPr/>
        </p:nvGraphicFramePr>
        <p:xfrm>
          <a:off x="607188" y="800110"/>
          <a:ext cx="3000000" cy="3000000"/>
        </p:xfrm>
        <a:graphic>
          <a:graphicData uri="http://schemas.openxmlformats.org/drawingml/2006/table">
            <a:tbl>
              <a:tblPr>
                <a:noFill/>
                <a:tableStyleId>{649DE109-F2CC-45FD-8F9A-4B69E8F95048}</a:tableStyleId>
              </a:tblPr>
              <a:tblGrid>
                <a:gridCol w="4068550"/>
                <a:gridCol w="4068550"/>
              </a:tblGrid>
              <a:tr h="353875">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Tell me about yourself</a:t>
                      </a:r>
                      <a:endParaRPr sz="900">
                        <a:solidFill>
                          <a:srgbClr val="0F243E"/>
                        </a:solidFill>
                        <a:highlight>
                          <a:srgbClr val="BAF7EC"/>
                        </a:highlight>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What worries/ concerns you? </a:t>
                      </a:r>
                      <a:endParaRPr sz="900">
                        <a:solidFill>
                          <a:srgbClr val="0F243E"/>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760075">
                <a:tc>
                  <a:txBody>
                    <a:bodyPr/>
                    <a:lstStyle/>
                    <a:p>
                      <a:pPr indent="-171450" lvl="0" marL="34290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I am a very busy </a:t>
                      </a:r>
                      <a:r>
                        <a:rPr lang="en" sz="900">
                          <a:solidFill>
                            <a:srgbClr val="0F243E"/>
                          </a:solidFill>
                          <a:latin typeface="Lato"/>
                          <a:ea typeface="Lato"/>
                          <a:cs typeface="Lato"/>
                          <a:sym typeface="Lato"/>
                        </a:rPr>
                        <a:t>senior</a:t>
                      </a:r>
                      <a:r>
                        <a:rPr lang="en" sz="900">
                          <a:solidFill>
                            <a:srgbClr val="0F243E"/>
                          </a:solidFill>
                          <a:latin typeface="Lato"/>
                          <a:ea typeface="Lato"/>
                          <a:cs typeface="Lato"/>
                          <a:sym typeface="Lato"/>
                        </a:rPr>
                        <a:t> consultant</a:t>
                      </a:r>
                      <a:endParaRPr sz="900">
                        <a:solidFill>
                          <a:srgbClr val="0F243E"/>
                        </a:solidFill>
                        <a:latin typeface="Lato"/>
                        <a:ea typeface="Lato"/>
                        <a:cs typeface="Lato"/>
                        <a:sym typeface="Lato"/>
                      </a:endParaRPr>
                    </a:p>
                    <a:p>
                      <a:pPr indent="-171450" lvl="0" marL="34290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I care about nature and love animals</a:t>
                      </a:r>
                      <a:endParaRPr sz="900">
                        <a:solidFill>
                          <a:srgbClr val="0F243E"/>
                        </a:solidFill>
                        <a:latin typeface="Lato"/>
                        <a:ea typeface="Lato"/>
                        <a:cs typeface="Lato"/>
                        <a:sym typeface="Lato"/>
                      </a:endParaRPr>
                    </a:p>
                    <a:p>
                      <a:pPr indent="-171450" lvl="0" marL="34290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I spend my free time dancing socially or walking</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F243E"/>
                          </a:solidFill>
                          <a:latin typeface="Lato"/>
                          <a:ea typeface="Lato"/>
                          <a:cs typeface="Lato"/>
                          <a:sym typeface="Lato"/>
                        </a:rPr>
                        <a:t>Organising quality time in limited free time, because most of time I’m working or travelling. Optimizing my travelling time and organising it.</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353875">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Which features have you used on StayNSleep  the past month?</a:t>
                      </a:r>
                      <a:endParaRPr sz="900">
                        <a:solidFill>
                          <a:srgbClr val="0F243E"/>
                        </a:solidFill>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What are your top three strengths?</a:t>
                      </a:r>
                      <a:endParaRPr sz="900">
                        <a:solidFill>
                          <a:srgbClr val="0F243E"/>
                        </a:solidFill>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657225">
                <a:tc>
                  <a:txBody>
                    <a:bodyPr/>
                    <a:lstStyle/>
                    <a:p>
                      <a:pPr indent="0" lvl="0" marL="0" rtl="0" algn="l">
                        <a:spcBef>
                          <a:spcPts val="0"/>
                        </a:spcBef>
                        <a:spcAft>
                          <a:spcPts val="0"/>
                        </a:spcAft>
                        <a:buNone/>
                      </a:pPr>
                      <a:r>
                        <a:rPr lang="en" sz="900">
                          <a:solidFill>
                            <a:srgbClr val="0F243E"/>
                          </a:solidFill>
                          <a:latin typeface="Lato"/>
                          <a:ea typeface="Lato"/>
                          <a:cs typeface="Lato"/>
                          <a:sym typeface="Lato"/>
                        </a:rPr>
                        <a:t>I’ve booked transportation from and to the airport, I’ve searched social dancing nearby my hotel, I looked for a place to relax and unwind.</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171450" lvl="0" marL="28575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Communication with clients</a:t>
                      </a:r>
                      <a:endParaRPr sz="900">
                        <a:solidFill>
                          <a:srgbClr val="0F243E"/>
                        </a:solidFill>
                        <a:latin typeface="Lato"/>
                        <a:ea typeface="Lato"/>
                        <a:cs typeface="Lato"/>
                        <a:sym typeface="Lato"/>
                      </a:endParaRPr>
                    </a:p>
                    <a:p>
                      <a:pPr indent="-171450" lvl="0" marL="28575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Problem-solving </a:t>
                      </a:r>
                      <a:endParaRPr sz="900">
                        <a:solidFill>
                          <a:srgbClr val="0F243E"/>
                        </a:solidFill>
                        <a:latin typeface="Lato"/>
                        <a:ea typeface="Lato"/>
                        <a:cs typeface="Lato"/>
                        <a:sym typeface="Lato"/>
                      </a:endParaRPr>
                    </a:p>
                    <a:p>
                      <a:pPr indent="-171450" lvl="0" marL="28575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Being organised</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353875">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Which activities consume most of your time?</a:t>
                      </a:r>
                      <a:endParaRPr sz="900">
                        <a:solidFill>
                          <a:srgbClr val="0F243E"/>
                        </a:solidFill>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Most-used Tools/ Apps</a:t>
                      </a:r>
                      <a:endParaRPr sz="900">
                        <a:solidFill>
                          <a:srgbClr val="0F243E"/>
                        </a:solidFill>
                        <a:latin typeface="Poppins SemiBold"/>
                        <a:ea typeface="Poppins SemiBold"/>
                        <a:cs typeface="Poppins SemiBold"/>
                        <a:sym typeface="Poppins SemiBold"/>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610900">
                <a:tc>
                  <a:txBody>
                    <a:bodyPr/>
                    <a:lstStyle/>
                    <a:p>
                      <a:pPr indent="0" lvl="0" marL="0" rtl="0" algn="l">
                        <a:spcBef>
                          <a:spcPts val="0"/>
                        </a:spcBef>
                        <a:spcAft>
                          <a:spcPts val="0"/>
                        </a:spcAft>
                        <a:buNone/>
                      </a:pPr>
                      <a:r>
                        <a:rPr lang="en" sz="900">
                          <a:solidFill>
                            <a:srgbClr val="0F243E"/>
                          </a:solidFill>
                          <a:latin typeface="Lato"/>
                          <a:ea typeface="Lato"/>
                          <a:cs typeface="Lato"/>
                          <a:sym typeface="Lato"/>
                        </a:rPr>
                        <a:t>Navigating new locations, including finding </a:t>
                      </a:r>
                      <a:r>
                        <a:rPr lang="en" sz="900">
                          <a:solidFill>
                            <a:srgbClr val="0F243E"/>
                          </a:solidFill>
                          <a:latin typeface="Lato"/>
                          <a:ea typeface="Lato"/>
                          <a:cs typeface="Lato"/>
                          <a:sym typeface="Lato"/>
                        </a:rPr>
                        <a:t>accommodation</a:t>
                      </a:r>
                      <a:r>
                        <a:rPr lang="en" sz="900">
                          <a:solidFill>
                            <a:srgbClr val="0F243E"/>
                          </a:solidFill>
                          <a:latin typeface="Lato"/>
                          <a:ea typeface="Lato"/>
                          <a:cs typeface="Lato"/>
                          <a:sym typeface="Lato"/>
                        </a:rPr>
                        <a:t>, organising my time</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900" u="sng">
                          <a:solidFill>
                            <a:schemeClr val="hlink"/>
                          </a:solidFill>
                          <a:latin typeface="Lato"/>
                          <a:ea typeface="Lato"/>
                          <a:cs typeface="Lato"/>
                          <a:sym typeface="Lato"/>
                          <a:hlinkClick r:id="rId3"/>
                        </a:rPr>
                        <a:t>Booking.com</a:t>
                      </a:r>
                      <a:r>
                        <a:rPr lang="en" sz="900">
                          <a:solidFill>
                            <a:srgbClr val="0F243E"/>
                          </a:solidFill>
                          <a:latin typeface="Lato"/>
                          <a:ea typeface="Lato"/>
                          <a:cs typeface="Lato"/>
                          <a:sym typeface="Lato"/>
                        </a:rPr>
                        <a:t>, StayNSleep, Uber, TripAdvisor</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tcPr>
                </a:tc>
              </a:tr>
              <a:tr h="353875">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How would you describe your behaviours?</a:t>
                      </a:r>
                      <a:endParaRPr sz="900">
                        <a:solidFill>
                          <a:srgbClr val="0F243E"/>
                        </a:solidFill>
                        <a:latin typeface="Lato"/>
                        <a:ea typeface="Lato"/>
                        <a:cs typeface="Lato"/>
                        <a:sym typeface="Lato"/>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F243E"/>
                          </a:solidFill>
                          <a:latin typeface="Poppins SemiBold"/>
                          <a:ea typeface="Poppins SemiBold"/>
                          <a:cs typeface="Poppins SemiBold"/>
                          <a:sym typeface="Poppins SemiBold"/>
                        </a:rPr>
                        <a:t>What types of topics are you interested in?</a:t>
                      </a:r>
                      <a:endParaRPr sz="900">
                        <a:solidFill>
                          <a:srgbClr val="0F243E"/>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657225">
                <a:tc>
                  <a:txBody>
                    <a:bodyPr/>
                    <a:lstStyle/>
                    <a:p>
                      <a:pPr indent="0" lvl="0" marL="0" rtl="0" algn="l">
                        <a:spcBef>
                          <a:spcPts val="0"/>
                        </a:spcBef>
                        <a:spcAft>
                          <a:spcPts val="0"/>
                        </a:spcAft>
                        <a:buNone/>
                      </a:pPr>
                      <a:r>
                        <a:rPr lang="en" sz="900">
                          <a:solidFill>
                            <a:srgbClr val="0F243E"/>
                          </a:solidFill>
                          <a:latin typeface="Lato"/>
                          <a:ea typeface="Lato"/>
                          <a:cs typeface="Lato"/>
                          <a:sym typeface="Lato"/>
                        </a:rPr>
                        <a:t>I tend to use different apps to search for best offers, that are cost-efficient and fit my needs.</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171450" lvl="0" marL="28575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Career development</a:t>
                      </a:r>
                      <a:endParaRPr sz="900">
                        <a:solidFill>
                          <a:srgbClr val="0F243E"/>
                        </a:solidFill>
                        <a:latin typeface="Lato"/>
                        <a:ea typeface="Lato"/>
                        <a:cs typeface="Lato"/>
                        <a:sym typeface="Lato"/>
                      </a:endParaRPr>
                    </a:p>
                    <a:p>
                      <a:pPr indent="-171450" lvl="0" marL="28575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Networking and connecting with people</a:t>
                      </a:r>
                      <a:endParaRPr sz="900">
                        <a:solidFill>
                          <a:srgbClr val="0F243E"/>
                        </a:solidFill>
                        <a:latin typeface="Lato"/>
                        <a:ea typeface="Lato"/>
                        <a:cs typeface="Lato"/>
                        <a:sym typeface="Lato"/>
                      </a:endParaRPr>
                    </a:p>
                    <a:p>
                      <a:pPr indent="-171450" lvl="0" marL="285750" rtl="0" algn="l">
                        <a:spcBef>
                          <a:spcPts val="0"/>
                        </a:spcBef>
                        <a:spcAft>
                          <a:spcPts val="0"/>
                        </a:spcAft>
                        <a:buClr>
                          <a:srgbClr val="00D3AD"/>
                        </a:buClr>
                        <a:buSzPts val="900"/>
                        <a:buFont typeface="Lato"/>
                        <a:buChar char="●"/>
                      </a:pPr>
                      <a:r>
                        <a:rPr lang="en" sz="900">
                          <a:solidFill>
                            <a:srgbClr val="0F243E"/>
                          </a:solidFill>
                          <a:latin typeface="Lato"/>
                          <a:ea typeface="Lato"/>
                          <a:cs typeface="Lato"/>
                          <a:sym typeface="Lato"/>
                        </a:rPr>
                        <a:t>Grounding</a:t>
                      </a:r>
                      <a:r>
                        <a:rPr lang="en" sz="900">
                          <a:solidFill>
                            <a:srgbClr val="0F243E"/>
                          </a:solidFill>
                          <a:latin typeface="Lato"/>
                          <a:ea typeface="Lato"/>
                          <a:cs typeface="Lato"/>
                          <a:sym typeface="Lato"/>
                        </a:rPr>
                        <a:t> with nature</a:t>
                      </a:r>
                      <a:endParaRPr sz="900">
                        <a:solidFill>
                          <a:srgbClr val="0F243E"/>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204" name="Google Shape;204;p38"/>
          <p:cNvSpPr txBox="1"/>
          <p:nvPr/>
        </p:nvSpPr>
        <p:spPr>
          <a:xfrm>
            <a:off x="607200" y="141900"/>
            <a:ext cx="7929600" cy="42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0"/>
              </a:spcBef>
              <a:spcAft>
                <a:spcPts val="600"/>
              </a:spcAft>
              <a:buNone/>
            </a:pPr>
            <a:r>
              <a:rPr b="1" lang="en" sz="2000">
                <a:solidFill>
                  <a:srgbClr val="07182C"/>
                </a:solidFill>
                <a:latin typeface="Poppins"/>
                <a:ea typeface="Poppins"/>
                <a:cs typeface="Poppins"/>
                <a:sym typeface="Poppins"/>
              </a:rPr>
              <a:t>Get to know Michele</a:t>
            </a:r>
            <a:endParaRPr b="1" sz="2000">
              <a:solidFill>
                <a:srgbClr val="07182C"/>
              </a:solidFill>
              <a:latin typeface="Poppins"/>
              <a:ea typeface="Poppins"/>
              <a:cs typeface="Poppins"/>
              <a:sym typeface="Poppins"/>
            </a:endParaRPr>
          </a:p>
        </p:txBody>
      </p:sp>
      <p:sp>
        <p:nvSpPr>
          <p:cNvPr id="205" name="Google Shape;205;p38"/>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Zakia</a:t>
            </a:r>
            <a:endParaRPr b="0"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9"/>
          <p:cNvSpPr txBox="1"/>
          <p:nvPr/>
        </p:nvSpPr>
        <p:spPr>
          <a:xfrm>
            <a:off x="607200" y="141900"/>
            <a:ext cx="7929600" cy="42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0"/>
              </a:spcBef>
              <a:spcAft>
                <a:spcPts val="600"/>
              </a:spcAft>
              <a:buNone/>
            </a:pPr>
            <a:r>
              <a:rPr b="1" lang="en" sz="2000">
                <a:solidFill>
                  <a:srgbClr val="07182C"/>
                </a:solidFill>
                <a:latin typeface="Poppins"/>
                <a:ea typeface="Poppins"/>
                <a:cs typeface="Poppins"/>
                <a:sym typeface="Poppins"/>
              </a:rPr>
              <a:t>Emotional Drivers</a:t>
            </a:r>
            <a:endParaRPr b="1" sz="2000">
              <a:solidFill>
                <a:srgbClr val="07182C"/>
              </a:solidFill>
              <a:latin typeface="Poppins"/>
              <a:ea typeface="Poppins"/>
              <a:cs typeface="Poppins"/>
              <a:sym typeface="Poppins"/>
            </a:endParaRPr>
          </a:p>
        </p:txBody>
      </p:sp>
      <p:graphicFrame>
        <p:nvGraphicFramePr>
          <p:cNvPr id="211" name="Google Shape;211;p39"/>
          <p:cNvGraphicFramePr/>
          <p:nvPr/>
        </p:nvGraphicFramePr>
        <p:xfrm>
          <a:off x="571488" y="656360"/>
          <a:ext cx="3000000" cy="3000000"/>
        </p:xfrm>
        <a:graphic>
          <a:graphicData uri="http://schemas.openxmlformats.org/drawingml/2006/table">
            <a:tbl>
              <a:tblPr>
                <a:noFill/>
                <a:tableStyleId>{649DE109-F2CC-45FD-8F9A-4B69E8F95048}</a:tableStyleId>
              </a:tblPr>
              <a:tblGrid>
                <a:gridCol w="2622425"/>
                <a:gridCol w="2622425"/>
                <a:gridCol w="2622425"/>
              </a:tblGrid>
              <a:tr h="506175">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Professional Goals</a:t>
                      </a:r>
                      <a:endParaRPr sz="900">
                        <a:solidFill>
                          <a:srgbClr val="07182C"/>
                        </a:solidFill>
                        <a:highlight>
                          <a:srgbClr val="18C3D9"/>
                        </a:highlight>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Motivators</a:t>
                      </a:r>
                      <a:endParaRPr sz="900">
                        <a:solidFill>
                          <a:srgbClr val="07182C"/>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Challenges</a:t>
                      </a:r>
                      <a:endParaRPr sz="900">
                        <a:solidFill>
                          <a:srgbClr val="07182C"/>
                        </a:solidFill>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723125">
                <a:tc>
                  <a:txBody>
                    <a:bodyPr/>
                    <a:lstStyle/>
                    <a:p>
                      <a:pPr indent="0" lvl="0" marL="0" rtl="0" algn="l">
                        <a:lnSpc>
                          <a:spcPct val="115000"/>
                        </a:lnSpc>
                        <a:spcBef>
                          <a:spcPts val="1200"/>
                        </a:spcBef>
                        <a:spcAft>
                          <a:spcPts val="0"/>
                        </a:spcAft>
                        <a:buNone/>
                      </a:pPr>
                      <a:r>
                        <a:rPr lang="en" sz="900">
                          <a:solidFill>
                            <a:srgbClr val="07182C"/>
                          </a:solidFill>
                          <a:latin typeface="Lato"/>
                          <a:ea typeface="Lato"/>
                          <a:cs typeface="Lato"/>
                          <a:sym typeface="Lato"/>
                        </a:rPr>
                        <a:t>Get promoted to Director of my department. Also wants to save enough money for early retirement. </a:t>
                      </a:r>
                      <a:endParaRPr sz="900">
                        <a:solidFill>
                          <a:srgbClr val="07182C"/>
                        </a:solidFill>
                        <a:latin typeface="Lato"/>
                        <a:ea typeface="Lato"/>
                        <a:cs typeface="Lato"/>
                        <a:sym typeface="Lato"/>
                      </a:endParaRPr>
                    </a:p>
                    <a:p>
                      <a:pPr indent="0" lvl="0" marL="0" rtl="0" algn="l">
                        <a:spcBef>
                          <a:spcPts val="1200"/>
                        </a:spcBef>
                        <a:spcAft>
                          <a:spcPts val="0"/>
                        </a:spcAft>
                        <a:buNone/>
                      </a:pPr>
                      <a:r>
                        <a:t/>
                      </a:r>
                      <a:endParaRPr sz="900">
                        <a:solidFill>
                          <a:srgbClr val="07182C"/>
                        </a:solidFill>
                        <a:latin typeface="Lato"/>
                        <a:ea typeface="Lato"/>
                        <a:cs typeface="Lato"/>
                        <a:sym typeface="Lato"/>
                      </a:endParaRPr>
                    </a:p>
                    <a:p>
                      <a:pPr indent="0" lvl="0" marL="0" rtl="0" algn="l">
                        <a:spcBef>
                          <a:spcPts val="0"/>
                        </a:spcBef>
                        <a:spcAft>
                          <a:spcPts val="0"/>
                        </a:spcAft>
                        <a:buNone/>
                      </a:pPr>
                      <a:r>
                        <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She cares about work-life balance and she tries to optimise her work time without decreasing quality of it, to have spare time to spend on her favourite things. </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rtl="0" algn="l">
                        <a:spcBef>
                          <a:spcPts val="0"/>
                        </a:spcBef>
                        <a:spcAft>
                          <a:spcPts val="0"/>
                        </a:spcAft>
                        <a:buNone/>
                      </a:pPr>
                      <a:r>
                        <a:rPr lang="en" sz="900">
                          <a:latin typeface="Lato"/>
                          <a:ea typeface="Lato"/>
                          <a:cs typeface="Lato"/>
                          <a:sym typeface="Lato"/>
                        </a:rPr>
                        <a:t>Consultant job is time demanding and unpredictable, requires dedication, it’s hard to aim for promotion and stay mentally healthy</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212" name="Google Shape;212;p39"/>
          <p:cNvSpPr txBox="1"/>
          <p:nvPr/>
        </p:nvSpPr>
        <p:spPr>
          <a:xfrm>
            <a:off x="607200" y="2278100"/>
            <a:ext cx="7929600" cy="42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0"/>
              </a:spcBef>
              <a:spcAft>
                <a:spcPts val="600"/>
              </a:spcAft>
              <a:buNone/>
            </a:pPr>
            <a:r>
              <a:rPr b="1" lang="en" sz="2000">
                <a:solidFill>
                  <a:srgbClr val="07182C"/>
                </a:solidFill>
                <a:latin typeface="Poppins"/>
                <a:ea typeface="Poppins"/>
                <a:cs typeface="Poppins"/>
                <a:sym typeface="Poppins"/>
              </a:rPr>
              <a:t>Blockers</a:t>
            </a:r>
            <a:endParaRPr b="1" sz="2000">
              <a:solidFill>
                <a:srgbClr val="07182C"/>
              </a:solidFill>
              <a:latin typeface="Poppins"/>
              <a:ea typeface="Poppins"/>
              <a:cs typeface="Poppins"/>
              <a:sym typeface="Poppins"/>
            </a:endParaRPr>
          </a:p>
        </p:txBody>
      </p:sp>
      <p:graphicFrame>
        <p:nvGraphicFramePr>
          <p:cNvPr id="213" name="Google Shape;213;p39"/>
          <p:cNvGraphicFramePr/>
          <p:nvPr/>
        </p:nvGraphicFramePr>
        <p:xfrm>
          <a:off x="607188" y="2789685"/>
          <a:ext cx="3000000" cy="3000000"/>
        </p:xfrm>
        <a:graphic>
          <a:graphicData uri="http://schemas.openxmlformats.org/drawingml/2006/table">
            <a:tbl>
              <a:tblPr>
                <a:noFill/>
                <a:tableStyleId>{649DE109-F2CC-45FD-8F9A-4B69E8F95048}</a:tableStyleId>
              </a:tblPr>
              <a:tblGrid>
                <a:gridCol w="7631500"/>
              </a:tblGrid>
              <a:tr h="403700">
                <a:tc>
                  <a:txBody>
                    <a:bodyPr/>
                    <a:lstStyle/>
                    <a:p>
                      <a:pPr indent="0" lvl="0" marL="0" rtl="0" algn="l">
                        <a:spcBef>
                          <a:spcPts val="0"/>
                        </a:spcBef>
                        <a:spcAft>
                          <a:spcPts val="0"/>
                        </a:spcAft>
                        <a:buNone/>
                      </a:pPr>
                      <a:r>
                        <a:rPr lang="en" sz="900">
                          <a:solidFill>
                            <a:srgbClr val="07182C"/>
                          </a:solidFill>
                          <a:latin typeface="Poppins SemiBold"/>
                          <a:ea typeface="Poppins SemiBold"/>
                          <a:cs typeface="Poppins SemiBold"/>
                          <a:sym typeface="Poppins SemiBold"/>
                        </a:rPr>
                        <a:t>Pain Points</a:t>
                      </a:r>
                      <a:endParaRPr sz="900">
                        <a:solidFill>
                          <a:srgbClr val="07182C"/>
                        </a:solidFill>
                        <a:highlight>
                          <a:srgbClr val="18C3D9"/>
                        </a:highlight>
                        <a:latin typeface="Poppins SemiBold"/>
                        <a:ea typeface="Poppins SemiBold"/>
                        <a:cs typeface="Poppins SemiBold"/>
                        <a:sym typeface="Poppins SemiBold"/>
                      </a:endParaRPr>
                    </a:p>
                  </a:txBody>
                  <a:tcPr marT="91425" marB="91425" marR="109725" marL="109725" anchor="ctr">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alpha val="0"/>
                        </a:srgbClr>
                      </a:solidFill>
                      <a:prstDash val="solid"/>
                      <a:round/>
                      <a:headEnd len="sm" w="sm" type="none"/>
                      <a:tailEnd len="sm" w="sm" type="none"/>
                    </a:lnB>
                    <a:solidFill>
                      <a:srgbClr val="F5F5F5"/>
                    </a:solidFill>
                  </a:tcPr>
                </a:tc>
              </a:tr>
              <a:tr h="590375">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Suffers from the need to search through multiple apps to find best cost-efficient services</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alpha val="0"/>
                        </a:srgbClr>
                      </a:solidFill>
                      <a:prstDash val="solid"/>
                      <a:round/>
                      <a:headEnd len="sm" w="sm" type="none"/>
                      <a:tailEnd len="sm" w="sm" type="none"/>
                    </a:lnT>
                    <a:lnB cap="flat" cmpd="sng" w="38100">
                      <a:solidFill>
                        <a:srgbClr val="FFFFFF"/>
                      </a:solidFill>
                      <a:prstDash val="solid"/>
                      <a:round/>
                      <a:headEnd len="sm" w="sm" type="none"/>
                      <a:tailEnd len="sm" w="sm" type="none"/>
                    </a:lnB>
                  </a:tcPr>
                </a:tc>
              </a:tr>
              <a:tr h="590375">
                <a:tc>
                  <a:txBody>
                    <a:bodyPr/>
                    <a:lstStyle/>
                    <a:p>
                      <a:pPr indent="0" lvl="0" marL="0" rtl="0" algn="l">
                        <a:spcBef>
                          <a:spcPts val="0"/>
                        </a:spcBef>
                        <a:spcAft>
                          <a:spcPts val="0"/>
                        </a:spcAft>
                        <a:buNone/>
                      </a:pPr>
                      <a:r>
                        <a:rPr lang="en" sz="900">
                          <a:solidFill>
                            <a:srgbClr val="07182C"/>
                          </a:solidFill>
                          <a:latin typeface="Lato"/>
                          <a:ea typeface="Lato"/>
                          <a:cs typeface="Lato"/>
                          <a:sym typeface="Lato"/>
                        </a:rPr>
                        <a:t>While being motivated to work a lot, Michele gets annoyed by time-consuming activities that are redundant.</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590375">
                <a:tc>
                  <a:txBody>
                    <a:bodyPr/>
                    <a:lstStyle/>
                    <a:p>
                      <a:pPr indent="0" lvl="0" marL="0" rtl="0" algn="l">
                        <a:spcBef>
                          <a:spcPts val="0"/>
                        </a:spcBef>
                        <a:spcAft>
                          <a:spcPts val="0"/>
                        </a:spcAft>
                        <a:buNone/>
                      </a:pPr>
                      <a:r>
                        <a:t/>
                      </a:r>
                      <a:endParaRPr sz="900">
                        <a:solidFill>
                          <a:srgbClr val="07182C"/>
                        </a:solidFill>
                        <a:latin typeface="Lato"/>
                        <a:ea typeface="Lato"/>
                        <a:cs typeface="Lato"/>
                        <a:sym typeface="Lato"/>
                      </a:endParaRPr>
                    </a:p>
                  </a:txBody>
                  <a:tcPr marT="91425" marB="91425" marR="109725" marL="109725">
                    <a:lnL cap="flat" cmpd="sng" w="38100">
                      <a:solidFill>
                        <a:srgbClr val="FFFFFF"/>
                      </a:solidFill>
                      <a:prstDash val="solid"/>
                      <a:round/>
                      <a:headEnd len="sm" w="sm" type="none"/>
                      <a:tailEnd len="sm" w="sm" type="none"/>
                    </a:lnL>
                    <a:lnR cap="flat" cmpd="sng" w="381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sp>
        <p:nvSpPr>
          <p:cNvPr id="214" name="Google Shape;214;p39"/>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Zakia</a:t>
            </a:r>
            <a:endParaRPr b="0" sz="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0"/>
          <p:cNvSpPr txBox="1"/>
          <p:nvPr>
            <p:ph type="title"/>
          </p:nvPr>
        </p:nvSpPr>
        <p:spPr>
          <a:xfrm>
            <a:off x="571500" y="800100"/>
            <a:ext cx="3089700" cy="914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Hypothesis statement</a:t>
            </a:r>
            <a:endParaRPr sz="1800">
              <a:latin typeface="Poppins"/>
              <a:ea typeface="Poppins"/>
              <a:cs typeface="Poppins"/>
              <a:sym typeface="Poppins"/>
            </a:endParaRPr>
          </a:p>
        </p:txBody>
      </p:sp>
      <p:sp>
        <p:nvSpPr>
          <p:cNvPr id="220" name="Google Shape;220;p40"/>
          <p:cNvSpPr txBox="1"/>
          <p:nvPr>
            <p:ph idx="1" type="body"/>
          </p:nvPr>
        </p:nvSpPr>
        <p:spPr>
          <a:xfrm>
            <a:off x="571500" y="1601575"/>
            <a:ext cx="7160700" cy="29703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We believe that business travelers are seeking tangible recognition for their repeat stays, which currently represents a missed opportunity for retention.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To address this, we will launch a loyalty MVP offering points per booking that will be redeemable for value-added services, and exclusive perks designed to lower the barrier to re-booking and will reduce churn and/or booking such services elsewhere.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We will validate this if, over a 60-day period, we observe:</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A consistent WOW increase in loyalty program bookings.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 higher booking frequency per user within the loyalty program compared to a non-loyalty control group.</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Our confidence is driven by a six-month spike in organic guest inquiries, indicating a strong market "pull" and an immediate opportunity to capture higher Customer Lifetime Value (CLV).</a:t>
            </a:r>
            <a:endParaRPr sz="1100">
              <a:solidFill>
                <a:srgbClr val="000000"/>
              </a:solidFill>
              <a:latin typeface="Arial"/>
              <a:ea typeface="Arial"/>
              <a:cs typeface="Arial"/>
              <a:sym typeface="Arial"/>
            </a:endParaRPr>
          </a:p>
          <a:p>
            <a:pPr indent="0" lvl="0" marL="0" rtl="0" algn="l">
              <a:lnSpc>
                <a:spcPct val="100000"/>
              </a:lnSpc>
              <a:spcBef>
                <a:spcPts val="1200"/>
              </a:spcBef>
              <a:spcAft>
                <a:spcPts val="0"/>
              </a:spcAft>
              <a:buNone/>
            </a:pPr>
            <a:r>
              <a:t/>
            </a:r>
            <a:endParaRPr sz="1300">
              <a:solidFill>
                <a:srgbClr val="0F243E"/>
              </a:solidFill>
              <a:latin typeface="Arial"/>
              <a:ea typeface="Arial"/>
              <a:cs typeface="Arial"/>
              <a:sym typeface="Arial"/>
            </a:endParaRPr>
          </a:p>
        </p:txBody>
      </p:sp>
      <p:pic>
        <p:nvPicPr>
          <p:cNvPr id="221" name="Google Shape;221;p40"/>
          <p:cNvPicPr preferRelativeResize="0"/>
          <p:nvPr/>
        </p:nvPicPr>
        <p:blipFill>
          <a:blip r:embed="rId3">
            <a:alphaModFix/>
          </a:blip>
          <a:stretch>
            <a:fillRect/>
          </a:stretch>
        </p:blipFill>
        <p:spPr>
          <a:xfrm>
            <a:off x="7463512" y="575375"/>
            <a:ext cx="1108987" cy="224725"/>
          </a:xfrm>
          <a:prstGeom prst="rect">
            <a:avLst/>
          </a:prstGeom>
          <a:noFill/>
          <a:ln>
            <a:noFill/>
          </a:ln>
        </p:spPr>
      </p:pic>
      <p:sp>
        <p:nvSpPr>
          <p:cNvPr id="222" name="Google Shape;222;p40"/>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Zakia</a:t>
            </a:r>
            <a:endParaRPr b="0" sz="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1"/>
          <p:cNvSpPr txBox="1"/>
          <p:nvPr>
            <p:ph type="title"/>
          </p:nvPr>
        </p:nvSpPr>
        <p:spPr>
          <a:xfrm>
            <a:off x="391150" y="206075"/>
            <a:ext cx="3089700" cy="451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Validation</a:t>
            </a:r>
            <a:endParaRPr sz="1800">
              <a:latin typeface="Poppins"/>
              <a:ea typeface="Poppins"/>
              <a:cs typeface="Poppins"/>
              <a:sym typeface="Poppins"/>
            </a:endParaRPr>
          </a:p>
        </p:txBody>
      </p:sp>
      <p:graphicFrame>
        <p:nvGraphicFramePr>
          <p:cNvPr id="228" name="Google Shape;228;p41"/>
          <p:cNvGraphicFramePr/>
          <p:nvPr/>
        </p:nvGraphicFramePr>
        <p:xfrm>
          <a:off x="466175" y="712075"/>
          <a:ext cx="3000000" cy="3000000"/>
        </p:xfrm>
        <a:graphic>
          <a:graphicData uri="http://schemas.openxmlformats.org/drawingml/2006/table">
            <a:tbl>
              <a:tblPr>
                <a:noFill/>
                <a:tableStyleId>{9C3B3467-1ACA-4B72-9468-429F52581097}</a:tableStyleId>
              </a:tblPr>
              <a:tblGrid>
                <a:gridCol w="2754600"/>
                <a:gridCol w="5457050"/>
              </a:tblGrid>
              <a:tr h="427225">
                <a:tc>
                  <a:txBody>
                    <a:bodyPr/>
                    <a:lstStyle/>
                    <a:p>
                      <a:pPr indent="0" lvl="0" marL="0" rtl="0" algn="ctr">
                        <a:spcBef>
                          <a:spcPts val="0"/>
                        </a:spcBef>
                        <a:spcAft>
                          <a:spcPts val="0"/>
                        </a:spcAft>
                        <a:buNone/>
                      </a:pPr>
                      <a:r>
                        <a:t/>
                      </a:r>
                      <a:endParaRPr b="1" sz="1000">
                        <a:latin typeface="Poppins"/>
                        <a:ea typeface="Poppins"/>
                        <a:cs typeface="Poppins"/>
                        <a:sym typeface="Poppins"/>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solidFill>
                      <a:srgbClr val="EFEFEF"/>
                    </a:solidFill>
                  </a:tcPr>
                </a:tc>
                <a:tc>
                  <a:txBody>
                    <a:bodyPr/>
                    <a:lstStyle/>
                    <a:p>
                      <a:pPr indent="0" lvl="0" marL="0" rtl="0" algn="ctr">
                        <a:spcBef>
                          <a:spcPts val="0"/>
                        </a:spcBef>
                        <a:spcAft>
                          <a:spcPts val="0"/>
                        </a:spcAft>
                        <a:buNone/>
                      </a:pPr>
                      <a:r>
                        <a:rPr b="1" lang="en" sz="1000">
                          <a:latin typeface="Poppins"/>
                          <a:ea typeface="Poppins"/>
                          <a:cs typeface="Poppins"/>
                          <a:sym typeface="Poppins"/>
                        </a:rPr>
                        <a:t>Experiment</a:t>
                      </a:r>
                      <a:endParaRPr b="1" sz="1000">
                        <a:latin typeface="Poppins"/>
                        <a:ea typeface="Poppins"/>
                        <a:cs typeface="Poppins"/>
                        <a:sym typeface="Poppins"/>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solidFill>
                      <a:srgbClr val="EFEFEF"/>
                    </a:solidFill>
                  </a:tcPr>
                </a:tc>
              </a:tr>
              <a:tr h="1228225">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Experiment for concept validation</a:t>
                      </a:r>
                      <a:br>
                        <a:rPr lang="en" sz="1200">
                          <a:solidFill>
                            <a:schemeClr val="accent1"/>
                          </a:solidFill>
                          <a:latin typeface="Poppins SemiBold"/>
                          <a:ea typeface="Poppins SemiBold"/>
                          <a:cs typeface="Poppins SemiBold"/>
                          <a:sym typeface="Poppins SemiBold"/>
                        </a:rPr>
                      </a:br>
                      <a:endParaRPr sz="900">
                        <a:solidFill>
                          <a:schemeClr val="accent1"/>
                        </a:solidFill>
                        <a:latin typeface="Lato Light"/>
                        <a:ea typeface="Lato Light"/>
                        <a:cs typeface="Lato Light"/>
                        <a:sym typeface="Lato Light"/>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tcPr>
                </a:tc>
                <a:tc>
                  <a:txBody>
                    <a:bodyPr/>
                    <a:lstStyle/>
                    <a:p>
                      <a:pPr indent="-304800" lvl="0" marL="457200" rtl="0" algn="l">
                        <a:lnSpc>
                          <a:spcPct val="115000"/>
                        </a:lnSpc>
                        <a:spcBef>
                          <a:spcPts val="1200"/>
                        </a:spcBef>
                        <a:spcAft>
                          <a:spcPts val="0"/>
                        </a:spcAft>
                        <a:buSzPts val="1200"/>
                        <a:buFont typeface="Lato Light"/>
                        <a:buAutoNum type="arabicPeriod"/>
                      </a:pPr>
                      <a:r>
                        <a:rPr lang="en" sz="1200">
                          <a:latin typeface="Lato Light"/>
                          <a:ea typeface="Lato Light"/>
                          <a:cs typeface="Lato Light"/>
                          <a:sym typeface="Lato Light"/>
                        </a:rPr>
                        <a:t>Fake door / smoke test: Add a button “Join the loyalty program” button in the app/website and communicate over email. The button leads to the page saying Thank you for joining, we will be contacting you soon with the program details. Track sign-up to gauge demand without building anything.</a:t>
                      </a:r>
                      <a:endParaRPr sz="1200">
                        <a:latin typeface="Lato Light"/>
                        <a:ea typeface="Lato Light"/>
                        <a:cs typeface="Lato Light"/>
                        <a:sym typeface="Lato Light"/>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tcPr>
                </a:tc>
              </a:tr>
              <a:tr h="980225">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Features</a:t>
                      </a:r>
                      <a:endParaRPr sz="900">
                        <a:latin typeface="Lato Light"/>
                        <a:ea typeface="Lato Light"/>
                        <a:cs typeface="Lato Light"/>
                        <a:sym typeface="Lato Light"/>
                      </a:endParaRPr>
                    </a:p>
                    <a:p>
                      <a:pPr indent="0" lvl="0" marL="0" rtl="0" algn="l">
                        <a:spcBef>
                          <a:spcPts val="0"/>
                        </a:spcBef>
                        <a:spcAft>
                          <a:spcPts val="0"/>
                        </a:spcAft>
                        <a:buNone/>
                      </a:pPr>
                      <a:r>
                        <a:t/>
                      </a:r>
                      <a:endParaRPr sz="900">
                        <a:latin typeface="Lato Light"/>
                        <a:ea typeface="Lato Light"/>
                        <a:cs typeface="Lato Light"/>
                        <a:sym typeface="Lato Light"/>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tcPr>
                </a:tc>
                <a:tc>
                  <a:txBody>
                    <a:bodyPr/>
                    <a:lstStyle/>
                    <a:p>
                      <a:pPr indent="-304800" lvl="0" marL="457200" rtl="0" algn="l">
                        <a:spcBef>
                          <a:spcPts val="0"/>
                        </a:spcBef>
                        <a:spcAft>
                          <a:spcPts val="0"/>
                        </a:spcAft>
                        <a:buSzPts val="1200"/>
                        <a:buFont typeface="Lato Light"/>
                        <a:buAutoNum type="arabicPeriod"/>
                      </a:pPr>
                      <a:r>
                        <a:rPr lang="en" sz="1200">
                          <a:latin typeface="Lato Light"/>
                          <a:ea typeface="Lato Light"/>
                          <a:cs typeface="Lato Light"/>
                          <a:sym typeface="Lato Light"/>
                        </a:rPr>
                        <a:t>If this campaign does not give positive result, do the A/B test of the message like “You have points to redeem + CTA” or  “Get a free spa voucher ” Check the result.</a:t>
                      </a:r>
                      <a:endParaRPr sz="1200">
                        <a:latin typeface="Lato Light"/>
                        <a:ea typeface="Lato Light"/>
                        <a:cs typeface="Lato Light"/>
                        <a:sym typeface="Lato Light"/>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tcPr>
                </a:tc>
              </a:tr>
              <a:tr h="484200">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Experiment</a:t>
                      </a:r>
                      <a:r>
                        <a:rPr lang="en" sz="1200">
                          <a:solidFill>
                            <a:schemeClr val="accent1"/>
                          </a:solidFill>
                          <a:latin typeface="Poppins SemiBold"/>
                          <a:ea typeface="Poppins SemiBold"/>
                          <a:cs typeface="Poppins SemiBold"/>
                          <a:sym typeface="Poppins SemiBold"/>
                        </a:rPr>
                        <a:t> prioritization</a:t>
                      </a:r>
                      <a:endParaRPr sz="900">
                        <a:latin typeface="Lato Light"/>
                        <a:ea typeface="Lato Light"/>
                        <a:cs typeface="Lato Light"/>
                        <a:sym typeface="Lato Light"/>
                      </a:endParaRPr>
                    </a:p>
                    <a:p>
                      <a:pPr indent="0" lvl="0" marL="0" rtl="0" algn="l">
                        <a:lnSpc>
                          <a:spcPct val="115000"/>
                        </a:lnSpc>
                        <a:spcBef>
                          <a:spcPts val="0"/>
                        </a:spcBef>
                        <a:spcAft>
                          <a:spcPts val="0"/>
                        </a:spcAft>
                        <a:buNone/>
                      </a:pPr>
                      <a:r>
                        <a:t/>
                      </a:r>
                      <a:endParaRPr sz="1200">
                        <a:solidFill>
                          <a:schemeClr val="accent1"/>
                        </a:solidFill>
                        <a:latin typeface="Lato"/>
                        <a:ea typeface="Lato"/>
                        <a:cs typeface="Lato"/>
                        <a:sym typeface="Lato"/>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tcPr>
                </a:tc>
                <a:tc>
                  <a:txBody>
                    <a:bodyPr/>
                    <a:lstStyle/>
                    <a:p>
                      <a:pPr indent="0" lvl="0" marL="0" rtl="0" algn="l">
                        <a:spcBef>
                          <a:spcPts val="0"/>
                        </a:spcBef>
                        <a:spcAft>
                          <a:spcPts val="0"/>
                        </a:spcAft>
                        <a:buNone/>
                      </a:pPr>
                      <a:r>
                        <a:rPr lang="en" sz="1200">
                          <a:latin typeface="Lato Light"/>
                          <a:ea typeface="Lato Light"/>
                          <a:cs typeface="Lato Light"/>
                          <a:sym typeface="Lato Light"/>
                        </a:rPr>
                        <a:t>1 -&gt; 2</a:t>
                      </a:r>
                      <a:endParaRPr sz="1200">
                        <a:latin typeface="Lato Light"/>
                        <a:ea typeface="Lato Light"/>
                        <a:cs typeface="Lato Light"/>
                        <a:sym typeface="Lato Light"/>
                      </a:endParaRPr>
                    </a:p>
                  </a:txBody>
                  <a:tcPr marT="63500" marB="63500" marR="63500" marL="63500">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12700">
                      <a:solidFill>
                        <a:srgbClr val="000000"/>
                      </a:solidFill>
                      <a:prstDash val="dot"/>
                      <a:round/>
                      <a:headEnd len="sm" w="sm" type="none"/>
                      <a:tailEnd len="sm" w="sm" type="none"/>
                    </a:lnT>
                    <a:lnB cap="flat" cmpd="sng" w="12700">
                      <a:solidFill>
                        <a:srgbClr val="000000"/>
                      </a:solidFill>
                      <a:prstDash val="dot"/>
                      <a:round/>
                      <a:headEnd len="sm" w="sm" type="none"/>
                      <a:tailEnd len="sm" w="sm" type="none"/>
                    </a:lnB>
                  </a:tcPr>
                </a:tc>
              </a:tr>
            </a:tbl>
          </a:graphicData>
        </a:graphic>
      </p:graphicFrame>
      <p:sp>
        <p:nvSpPr>
          <p:cNvPr id="229" name="Google Shape;229;p41"/>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Austin</a:t>
            </a:r>
            <a:endParaRPr b="0" sz="800"/>
          </a:p>
        </p:txBody>
      </p:sp>
      <p:pic>
        <p:nvPicPr>
          <p:cNvPr id="230" name="Google Shape;230;p41"/>
          <p:cNvPicPr preferRelativeResize="0"/>
          <p:nvPr/>
        </p:nvPicPr>
        <p:blipFill>
          <a:blip r:embed="rId3">
            <a:alphaModFix/>
          </a:blip>
          <a:stretch>
            <a:fillRect/>
          </a:stretch>
        </p:blipFill>
        <p:spPr>
          <a:xfrm>
            <a:off x="7781762" y="206075"/>
            <a:ext cx="1108987" cy="224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nvSpPr>
        <p:spPr>
          <a:xfrm>
            <a:off x="381900" y="487625"/>
            <a:ext cx="8560200" cy="2337000"/>
          </a:xfrm>
          <a:prstGeom prst="rect">
            <a:avLst/>
          </a:prstGeom>
          <a:noFill/>
          <a:ln>
            <a:noFill/>
          </a:ln>
        </p:spPr>
        <p:txBody>
          <a:bodyPr anchorCtr="0" anchor="t" bIns="91425" lIns="91425" spcFirstLastPara="1" rIns="91425" wrap="square" tIns="91425">
            <a:spAutoFit/>
          </a:bodyPr>
          <a:lstStyle/>
          <a:p>
            <a:pPr indent="0" lvl="0" marL="0" rtl="0" algn="l">
              <a:spcBef>
                <a:spcPts val="1600"/>
              </a:spcBef>
              <a:spcAft>
                <a:spcPts val="0"/>
              </a:spcAft>
              <a:buNone/>
            </a:pPr>
            <a:r>
              <a:rPr lang="en" sz="1300">
                <a:solidFill>
                  <a:srgbClr val="85859F"/>
                </a:solidFill>
                <a:latin typeface="Poppins SemiBold"/>
                <a:ea typeface="Poppins SemiBold"/>
                <a:cs typeface="Poppins SemiBold"/>
                <a:sym typeface="Poppins SemiBold"/>
              </a:rPr>
              <a:t>Deliverable Value</a:t>
            </a:r>
            <a:endParaRPr sz="1300">
              <a:solidFill>
                <a:srgbClr val="85859F"/>
              </a:solidFill>
              <a:latin typeface="Poppins SemiBold"/>
              <a:ea typeface="Poppins SemiBold"/>
              <a:cs typeface="Poppins SemiBold"/>
              <a:sym typeface="Poppins SemiBold"/>
            </a:endParaRPr>
          </a:p>
          <a:p>
            <a:pPr indent="0" lvl="0" marL="457200" rtl="0" algn="l">
              <a:spcBef>
                <a:spcPts val="400"/>
              </a:spcBef>
              <a:spcAft>
                <a:spcPts val="0"/>
              </a:spcAft>
              <a:buNone/>
            </a:pPr>
            <a:r>
              <a:rPr lang="en" sz="1150">
                <a:solidFill>
                  <a:srgbClr val="131619"/>
                </a:solidFill>
                <a:latin typeface="Lato"/>
                <a:ea typeface="Lato"/>
                <a:cs typeface="Lato"/>
                <a:sym typeface="Lato"/>
              </a:rPr>
              <a:t>We are creating a loyalty program, because in the last 6 months a massive number of customers have requested. Also to increase customer retention and LTV, because the cost of retaining existing customers is five times less than acquiring a new one, plus existing customers are 50% more likely to try a new product and spend 31% more on average than a new customer. </a:t>
            </a:r>
            <a:endParaRPr sz="1150">
              <a:solidFill>
                <a:srgbClr val="131619"/>
              </a:solidFill>
              <a:latin typeface="Lato"/>
              <a:ea typeface="Lato"/>
              <a:cs typeface="Lato"/>
              <a:sym typeface="Lato"/>
            </a:endParaRPr>
          </a:p>
          <a:p>
            <a:pPr indent="0" lvl="0" marL="0" rtl="0" algn="l">
              <a:spcBef>
                <a:spcPts val="1600"/>
              </a:spcBef>
              <a:spcAft>
                <a:spcPts val="0"/>
              </a:spcAft>
              <a:buNone/>
            </a:pPr>
            <a:r>
              <a:rPr lang="en" sz="1300">
                <a:solidFill>
                  <a:srgbClr val="85859F"/>
                </a:solidFill>
                <a:latin typeface="Poppins SemiBold"/>
                <a:ea typeface="Poppins SemiBold"/>
                <a:cs typeface="Poppins SemiBold"/>
                <a:sym typeface="Poppins SemiBold"/>
              </a:rPr>
              <a:t>Core value proposition</a:t>
            </a:r>
            <a:endParaRPr sz="1300">
              <a:solidFill>
                <a:srgbClr val="85859F"/>
              </a:solidFill>
              <a:latin typeface="Poppins SemiBold"/>
              <a:ea typeface="Poppins SemiBold"/>
              <a:cs typeface="Poppins SemiBold"/>
              <a:sym typeface="Poppins SemiBold"/>
            </a:endParaRPr>
          </a:p>
          <a:p>
            <a:pPr indent="0" lvl="0" marL="457200" rtl="0" algn="l">
              <a:spcBef>
                <a:spcPts val="1600"/>
              </a:spcBef>
              <a:spcAft>
                <a:spcPts val="0"/>
              </a:spcAft>
              <a:buNone/>
            </a:pPr>
            <a:r>
              <a:rPr lang="en" sz="1150">
                <a:solidFill>
                  <a:srgbClr val="131619"/>
                </a:solidFill>
                <a:latin typeface="Lato"/>
                <a:ea typeface="Lato"/>
                <a:cs typeface="Lato"/>
                <a:sym typeface="Lato"/>
              </a:rPr>
              <a:t>The core value proposition for the Stay-N-Sleep Loyalty Program is maximizing ROI through recognition of loyalty of the user resulting in retention of the user.</a:t>
            </a:r>
            <a:r>
              <a:rPr lang="en" sz="1100"/>
              <a:t> </a:t>
            </a:r>
            <a:endParaRPr sz="1150">
              <a:solidFill>
                <a:srgbClr val="131619"/>
              </a:solidFill>
              <a:latin typeface="Lato"/>
              <a:ea typeface="Lato"/>
              <a:cs typeface="Lato"/>
              <a:sym typeface="Lato"/>
            </a:endParaRPr>
          </a:p>
          <a:p>
            <a:pPr indent="0" lvl="0" marL="457200" rtl="0" algn="l">
              <a:spcBef>
                <a:spcPts val="400"/>
              </a:spcBef>
              <a:spcAft>
                <a:spcPts val="0"/>
              </a:spcAft>
              <a:buNone/>
            </a:pPr>
            <a:r>
              <a:t/>
            </a:r>
            <a:endParaRPr sz="1150">
              <a:solidFill>
                <a:srgbClr val="131619"/>
              </a:solidFill>
              <a:latin typeface="Lato"/>
              <a:ea typeface="Lato"/>
              <a:cs typeface="Lato"/>
              <a:sym typeface="Lato"/>
            </a:endParaRPr>
          </a:p>
          <a:p>
            <a:pPr indent="0" lvl="0" marL="457200" rtl="0" algn="l">
              <a:spcBef>
                <a:spcPts val="0"/>
              </a:spcBef>
              <a:spcAft>
                <a:spcPts val="0"/>
              </a:spcAft>
              <a:buNone/>
            </a:pPr>
            <a:r>
              <a:t/>
            </a:r>
            <a:endParaRPr sz="1150">
              <a:solidFill>
                <a:srgbClr val="131619"/>
              </a:solidFill>
              <a:latin typeface="Lato"/>
              <a:ea typeface="Lato"/>
              <a:cs typeface="Lato"/>
              <a:sym typeface="Lato"/>
            </a:endParaRPr>
          </a:p>
        </p:txBody>
      </p:sp>
      <p:sp>
        <p:nvSpPr>
          <p:cNvPr id="236" name="Google Shape;236;p42"/>
          <p:cNvSpPr txBox="1"/>
          <p:nvPr/>
        </p:nvSpPr>
        <p:spPr>
          <a:xfrm>
            <a:off x="381900" y="2324725"/>
            <a:ext cx="8166300" cy="2671200"/>
          </a:xfrm>
          <a:prstGeom prst="rect">
            <a:avLst/>
          </a:prstGeom>
          <a:noFill/>
          <a:ln>
            <a:noFill/>
          </a:ln>
        </p:spPr>
        <p:txBody>
          <a:bodyPr anchorCtr="0" anchor="t" bIns="91425" lIns="91425" spcFirstLastPara="1" rIns="91425" wrap="square" tIns="91425">
            <a:spAutoFit/>
          </a:bodyPr>
          <a:lstStyle/>
          <a:p>
            <a:pPr indent="0" lvl="0" marL="0" rtl="0" algn="l">
              <a:spcBef>
                <a:spcPts val="1600"/>
              </a:spcBef>
              <a:spcAft>
                <a:spcPts val="0"/>
              </a:spcAft>
              <a:buNone/>
            </a:pPr>
            <a:r>
              <a:t/>
            </a:r>
            <a:endParaRPr sz="1300">
              <a:solidFill>
                <a:srgbClr val="85859F"/>
              </a:solidFill>
              <a:latin typeface="Poppins SemiBold"/>
              <a:ea typeface="Poppins SemiBold"/>
              <a:cs typeface="Poppins SemiBold"/>
              <a:sym typeface="Poppins SemiBold"/>
            </a:endParaRPr>
          </a:p>
          <a:p>
            <a:pPr indent="0" lvl="0" marL="0" rtl="0" algn="l">
              <a:spcBef>
                <a:spcPts val="1600"/>
              </a:spcBef>
              <a:spcAft>
                <a:spcPts val="0"/>
              </a:spcAft>
              <a:buNone/>
            </a:pPr>
            <a:r>
              <a:t/>
            </a:r>
            <a:endParaRPr sz="1300">
              <a:solidFill>
                <a:srgbClr val="85859F"/>
              </a:solidFill>
              <a:latin typeface="Poppins SemiBold"/>
              <a:ea typeface="Poppins SemiBold"/>
              <a:cs typeface="Poppins SemiBold"/>
              <a:sym typeface="Poppins SemiBold"/>
            </a:endParaRPr>
          </a:p>
          <a:p>
            <a:pPr indent="0" lvl="0" marL="0" rtl="0" algn="l">
              <a:spcBef>
                <a:spcPts val="1600"/>
              </a:spcBef>
              <a:spcAft>
                <a:spcPts val="0"/>
              </a:spcAft>
              <a:buNone/>
            </a:pPr>
            <a:r>
              <a:t/>
            </a:r>
            <a:endParaRPr sz="1300">
              <a:solidFill>
                <a:srgbClr val="85859F"/>
              </a:solidFill>
              <a:latin typeface="Poppins SemiBold"/>
              <a:ea typeface="Poppins SemiBold"/>
              <a:cs typeface="Poppins SemiBold"/>
              <a:sym typeface="Poppins SemiBold"/>
            </a:endParaRPr>
          </a:p>
          <a:p>
            <a:pPr indent="0" lvl="0" marL="0" rtl="0" algn="l">
              <a:spcBef>
                <a:spcPts val="1600"/>
              </a:spcBef>
              <a:spcAft>
                <a:spcPts val="0"/>
              </a:spcAft>
              <a:buNone/>
            </a:pPr>
            <a:r>
              <a:rPr lang="en" sz="1200">
                <a:solidFill>
                  <a:srgbClr val="85859F"/>
                </a:solidFill>
                <a:latin typeface="Poppins SemiBold"/>
                <a:ea typeface="Poppins SemiBold"/>
                <a:cs typeface="Poppins SemiBold"/>
                <a:sym typeface="Poppins SemiBold"/>
              </a:rPr>
              <a:t>Features to include</a:t>
            </a:r>
            <a:endParaRPr sz="1200">
              <a:latin typeface="Lato"/>
              <a:ea typeface="Lato"/>
              <a:cs typeface="Lato"/>
              <a:sym typeface="Lato"/>
            </a:endParaRPr>
          </a:p>
          <a:p>
            <a:pPr indent="-304800" lvl="0" marL="457200" marR="0" rtl="0" algn="l">
              <a:lnSpc>
                <a:spcPct val="115000"/>
              </a:lnSpc>
              <a:spcBef>
                <a:spcPts val="400"/>
              </a:spcBef>
              <a:spcAft>
                <a:spcPts val="0"/>
              </a:spcAft>
              <a:buClr>
                <a:srgbClr val="00D3AD"/>
              </a:buClr>
              <a:buSzPts val="1200"/>
              <a:buFont typeface="Lato"/>
              <a:buChar char="●"/>
            </a:pPr>
            <a:r>
              <a:rPr lang="en" sz="1200">
                <a:solidFill>
                  <a:schemeClr val="dk1"/>
                </a:solidFill>
                <a:latin typeface="Lato"/>
                <a:ea typeface="Lato"/>
                <a:cs typeface="Lato"/>
                <a:sym typeface="Lato"/>
              </a:rPr>
              <a:t>Automatic signing up selected cohort of users to the loyalty program</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Assigning p</a:t>
            </a:r>
            <a:r>
              <a:rPr lang="en" sz="1200">
                <a:solidFill>
                  <a:schemeClr val="dk1"/>
                </a:solidFill>
                <a:latin typeface="Lato"/>
                <a:ea typeface="Lato"/>
                <a:cs typeface="Lato"/>
                <a:sym typeface="Lato"/>
              </a:rPr>
              <a:t>oints to the user after the booking</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Retrieving amount of user’s points</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Opportunity to redeem points for a 100% of the service cost</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Opportunity to opt out of the loyalty program</a:t>
            </a:r>
            <a:endParaRPr sz="1200">
              <a:latin typeface="Lato"/>
              <a:ea typeface="Lato"/>
              <a:cs typeface="Lato"/>
              <a:sym typeface="Lato"/>
            </a:endParaRPr>
          </a:p>
        </p:txBody>
      </p:sp>
      <p:sp>
        <p:nvSpPr>
          <p:cNvPr id="237" name="Google Shape;237;p42"/>
          <p:cNvSpPr txBox="1"/>
          <p:nvPr>
            <p:ph type="title"/>
          </p:nvPr>
        </p:nvSpPr>
        <p:spPr>
          <a:xfrm>
            <a:off x="119000" y="36125"/>
            <a:ext cx="995100" cy="451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MVP</a:t>
            </a:r>
            <a:endParaRPr sz="1800">
              <a:latin typeface="Poppins"/>
              <a:ea typeface="Poppins"/>
              <a:cs typeface="Poppins"/>
              <a:sym typeface="Poppins"/>
            </a:endParaRPr>
          </a:p>
        </p:txBody>
      </p:sp>
      <p:sp>
        <p:nvSpPr>
          <p:cNvPr id="238" name="Google Shape;238;p42"/>
          <p:cNvSpPr txBox="1"/>
          <p:nvPr/>
        </p:nvSpPr>
        <p:spPr>
          <a:xfrm>
            <a:off x="530425" y="2505900"/>
            <a:ext cx="4795800" cy="100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 sz="1200">
                <a:solidFill>
                  <a:srgbClr val="85859F"/>
                </a:solidFill>
                <a:latin typeface="Poppins SemiBold"/>
                <a:ea typeface="Poppins SemiBold"/>
                <a:cs typeface="Poppins SemiBold"/>
                <a:sym typeface="Poppins SemiBold"/>
              </a:rPr>
              <a:t>Features not to include</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Loyalty card design</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Tiered loyalty system</a:t>
            </a:r>
            <a:endParaRPr sz="1200">
              <a:solidFill>
                <a:schemeClr val="dk1"/>
              </a:solidFill>
              <a:latin typeface="Lato"/>
              <a:ea typeface="Lato"/>
              <a:cs typeface="Lato"/>
              <a:sym typeface="Lato"/>
            </a:endParaRPr>
          </a:p>
          <a:p>
            <a:pPr indent="-304800" lvl="0" marL="457200" marR="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Opportunity to redeem points for a partial service cost</a:t>
            </a:r>
            <a:endParaRPr sz="1200">
              <a:solidFill>
                <a:schemeClr val="dk1"/>
              </a:solidFill>
              <a:latin typeface="Lato"/>
              <a:ea typeface="Lato"/>
              <a:cs typeface="Lato"/>
              <a:sym typeface="Lato"/>
            </a:endParaRPr>
          </a:p>
        </p:txBody>
      </p:sp>
      <p:sp>
        <p:nvSpPr>
          <p:cNvPr id="239" name="Google Shape;239;p42"/>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Austin</a:t>
            </a:r>
            <a:endParaRPr b="0" sz="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95225" y="261450"/>
            <a:ext cx="1239900" cy="39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PRD</a:t>
            </a:r>
            <a:endParaRPr sz="1800">
              <a:latin typeface="Poppins"/>
              <a:ea typeface="Poppins"/>
              <a:cs typeface="Poppins"/>
              <a:sym typeface="Poppins"/>
            </a:endParaRPr>
          </a:p>
        </p:txBody>
      </p:sp>
      <p:pic>
        <p:nvPicPr>
          <p:cNvPr id="245" name="Google Shape;245;p43"/>
          <p:cNvPicPr preferRelativeResize="0"/>
          <p:nvPr/>
        </p:nvPicPr>
        <p:blipFill>
          <a:blip r:embed="rId3">
            <a:alphaModFix/>
          </a:blip>
          <a:stretch>
            <a:fillRect/>
          </a:stretch>
        </p:blipFill>
        <p:spPr>
          <a:xfrm>
            <a:off x="7463512" y="575375"/>
            <a:ext cx="1108987" cy="224725"/>
          </a:xfrm>
          <a:prstGeom prst="rect">
            <a:avLst/>
          </a:prstGeom>
          <a:noFill/>
          <a:ln>
            <a:noFill/>
          </a:ln>
        </p:spPr>
      </p:pic>
      <p:sp>
        <p:nvSpPr>
          <p:cNvPr id="246" name="Google Shape;246;p43"/>
          <p:cNvSpPr txBox="1"/>
          <p:nvPr/>
        </p:nvSpPr>
        <p:spPr>
          <a:xfrm>
            <a:off x="180300" y="2035575"/>
            <a:ext cx="8783400" cy="3176100"/>
          </a:xfrm>
          <a:prstGeom prst="rect">
            <a:avLst/>
          </a:prstGeom>
          <a:noFill/>
          <a:ln>
            <a:noFill/>
          </a:ln>
        </p:spPr>
        <p:txBody>
          <a:bodyPr anchorCtr="0" anchor="t" bIns="91425" lIns="91425" spcFirstLastPara="1" rIns="91425" wrap="square" tIns="91425">
            <a:spAutoFit/>
          </a:bodyPr>
          <a:lstStyle/>
          <a:p>
            <a:pPr indent="0" lvl="0" marL="0" rtl="0" algn="l">
              <a:spcBef>
                <a:spcPts val="1600"/>
              </a:spcBef>
              <a:spcAft>
                <a:spcPts val="0"/>
              </a:spcAft>
              <a:buNone/>
            </a:pPr>
            <a:r>
              <a:rPr lang="en">
                <a:solidFill>
                  <a:srgbClr val="85859F"/>
                </a:solidFill>
                <a:latin typeface="Poppins SemiBold"/>
                <a:ea typeface="Poppins SemiBold"/>
                <a:cs typeface="Poppins SemiBold"/>
                <a:sym typeface="Poppins SemiBold"/>
              </a:rPr>
              <a:t>Success Metrics (KPIs)</a:t>
            </a:r>
            <a:endParaRPr b="1" sz="1700"/>
          </a:p>
          <a:p>
            <a:pPr indent="0" lvl="0" marL="0" rtl="0" algn="l">
              <a:lnSpc>
                <a:spcPct val="115000"/>
              </a:lnSpc>
              <a:spcBef>
                <a:spcPts val="1200"/>
              </a:spcBef>
              <a:spcAft>
                <a:spcPts val="0"/>
              </a:spcAft>
              <a:buNone/>
            </a:pPr>
            <a:r>
              <a:rPr lang="en" sz="1100"/>
              <a:t>We will monitor these for 60 days to determine if we continue development:</a:t>
            </a:r>
            <a:endParaRPr b="1" sz="1100">
              <a:latin typeface="Merriweather Sans"/>
              <a:ea typeface="Merriweather Sans"/>
              <a:cs typeface="Merriweather Sans"/>
              <a:sym typeface="Merriweather Sans"/>
            </a:endParaRPr>
          </a:p>
          <a:p>
            <a:pPr indent="0" lvl="0" marL="0" rtl="0" algn="l">
              <a:lnSpc>
                <a:spcPct val="115000"/>
              </a:lnSpc>
              <a:spcBef>
                <a:spcPts val="1200"/>
              </a:spcBef>
              <a:spcAft>
                <a:spcPts val="0"/>
              </a:spcAft>
              <a:buNone/>
            </a:pPr>
            <a:r>
              <a:rPr lang="en" sz="1200">
                <a:solidFill>
                  <a:srgbClr val="121E48"/>
                </a:solidFill>
                <a:latin typeface="Lato"/>
                <a:ea typeface="Lato"/>
                <a:cs typeface="Lato"/>
                <a:sym typeface="Lato"/>
              </a:rPr>
              <a:t>How will we measure if our solution is successful?</a:t>
            </a:r>
            <a:endParaRPr sz="1200">
              <a:solidFill>
                <a:srgbClr val="121E48"/>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100"/>
              <a:t>20% of active business travelers utilise the program within Month 1 (</a:t>
            </a:r>
            <a:r>
              <a:rPr lang="en" sz="1200">
                <a:solidFill>
                  <a:srgbClr val="121E48"/>
                </a:solidFill>
                <a:latin typeface="Lato"/>
                <a:ea typeface="Lato"/>
                <a:cs typeface="Lato"/>
                <a:sym typeface="Lato"/>
              </a:rPr>
              <a:t>redeem the loyalty points at least once)</a:t>
            </a:r>
            <a:r>
              <a:rPr lang="en" sz="1100"/>
              <a:t>  (10% of unchanged behaviour + 10% of increased amount of bookings)</a:t>
            </a:r>
            <a:br>
              <a:rPr lang="en" sz="1100"/>
            </a:br>
            <a:r>
              <a:rPr lang="en" sz="1100"/>
              <a:t>Average amount of bookings per person WOW increased reaching to 2.7 by the end of the month.</a:t>
            </a:r>
            <a:endParaRPr sz="1100"/>
          </a:p>
          <a:p>
            <a:pPr indent="-304800" lvl="0" marL="457200" rtl="0" algn="l">
              <a:lnSpc>
                <a:spcPct val="115000"/>
              </a:lnSpc>
              <a:spcBef>
                <a:spcPts val="0"/>
              </a:spcBef>
              <a:spcAft>
                <a:spcPts val="0"/>
              </a:spcAft>
              <a:buClr>
                <a:srgbClr val="00D3AD"/>
              </a:buClr>
              <a:buSzPts val="1200"/>
              <a:buFont typeface="Lato"/>
              <a:buChar char="●"/>
            </a:pPr>
            <a:r>
              <a:rPr lang="en" sz="1200">
                <a:solidFill>
                  <a:srgbClr val="121E48"/>
                </a:solidFill>
                <a:latin typeface="Lato"/>
                <a:ea typeface="Lato"/>
                <a:cs typeface="Lato"/>
                <a:sym typeface="Lato"/>
              </a:rPr>
              <a:t>How does this tie to our product/company metrics? </a:t>
            </a:r>
            <a:endParaRPr sz="1200">
              <a:solidFill>
                <a:srgbClr val="121E48"/>
              </a:solidFill>
              <a:latin typeface="Lato"/>
              <a:ea typeface="Lato"/>
              <a:cs typeface="Lato"/>
              <a:sym typeface="Lato"/>
            </a:endParaRPr>
          </a:p>
          <a:p>
            <a:pPr indent="0" lvl="0" marL="0" rtl="0" algn="l">
              <a:lnSpc>
                <a:spcPct val="115000"/>
              </a:lnSpc>
              <a:spcBef>
                <a:spcPts val="0"/>
              </a:spcBef>
              <a:spcAft>
                <a:spcPts val="0"/>
              </a:spcAft>
              <a:buNone/>
            </a:pPr>
            <a:r>
              <a:rPr lang="en" sz="1200">
                <a:solidFill>
                  <a:srgbClr val="121E48"/>
                </a:solidFill>
                <a:latin typeface="Lato"/>
                <a:ea typeface="Lato"/>
                <a:cs typeface="Lato"/>
                <a:sym typeface="Lato"/>
              </a:rPr>
              <a:t>	The company globally has a metric of average amount of bookings per person (0.2) and an absolute amount of bookings per month (150K), </a:t>
            </a:r>
            <a:r>
              <a:rPr lang="en" sz="1200">
                <a:solidFill>
                  <a:srgbClr val="121E48"/>
                </a:solidFill>
                <a:latin typeface="Lato"/>
                <a:ea typeface="Lato"/>
                <a:cs typeface="Lato"/>
                <a:sym typeface="Lato"/>
              </a:rPr>
              <a:t>which both will increase as a result of the introduction of the loyalty program</a:t>
            </a:r>
            <a:r>
              <a:rPr lang="en" sz="1200">
                <a:solidFill>
                  <a:srgbClr val="121E48"/>
                </a:solidFill>
                <a:latin typeface="Lato"/>
                <a:ea typeface="Lato"/>
                <a:cs typeface="Lato"/>
                <a:sym typeface="Lato"/>
              </a:rPr>
              <a:t>. </a:t>
            </a:r>
            <a:endParaRPr sz="1200">
              <a:solidFill>
                <a:srgbClr val="121E48"/>
              </a:solidFill>
              <a:latin typeface="Lato"/>
              <a:ea typeface="Lato"/>
              <a:cs typeface="Lato"/>
              <a:sym typeface="Lato"/>
            </a:endParaRPr>
          </a:p>
          <a:p>
            <a:pPr indent="0" lvl="0" marL="0" rtl="0" algn="l">
              <a:lnSpc>
                <a:spcPct val="115000"/>
              </a:lnSpc>
              <a:spcBef>
                <a:spcPts val="0"/>
              </a:spcBef>
              <a:spcAft>
                <a:spcPts val="0"/>
              </a:spcAft>
              <a:buNone/>
            </a:pPr>
            <a:r>
              <a:rPr lang="en" sz="1200">
                <a:solidFill>
                  <a:srgbClr val="121E48"/>
                </a:solidFill>
                <a:latin typeface="Lato"/>
                <a:ea typeface="Lato"/>
                <a:cs typeface="Lato"/>
                <a:sym typeface="Lato"/>
              </a:rPr>
              <a:t>What is the baseline?</a:t>
            </a:r>
            <a:endParaRPr sz="1200">
              <a:solidFill>
                <a:srgbClr val="121E48"/>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200">
                <a:solidFill>
                  <a:srgbClr val="121E48"/>
                </a:solidFill>
                <a:latin typeface="Lato"/>
                <a:ea typeface="Lato"/>
                <a:cs typeface="Lato"/>
                <a:sym typeface="Lato"/>
              </a:rPr>
              <a:t>Average amount of bookings before loyalty program (2.5 bookings per month per person)</a:t>
            </a:r>
            <a:endParaRPr sz="1200">
              <a:solidFill>
                <a:srgbClr val="121E48"/>
              </a:solidFill>
              <a:latin typeface="Lato"/>
              <a:ea typeface="Lato"/>
              <a:cs typeface="Lato"/>
              <a:sym typeface="Lato"/>
            </a:endParaRPr>
          </a:p>
          <a:p>
            <a:pPr indent="0" lvl="0" marL="0" rtl="0" algn="l">
              <a:lnSpc>
                <a:spcPct val="115000"/>
              </a:lnSpc>
              <a:spcBef>
                <a:spcPts val="0"/>
              </a:spcBef>
              <a:spcAft>
                <a:spcPts val="0"/>
              </a:spcAft>
              <a:buNone/>
            </a:pPr>
            <a:r>
              <a:rPr lang="en" sz="1200">
                <a:solidFill>
                  <a:srgbClr val="121E48"/>
                </a:solidFill>
                <a:latin typeface="Lato"/>
                <a:ea typeface="Lato"/>
                <a:cs typeface="Lato"/>
                <a:sym typeface="Lato"/>
              </a:rPr>
              <a:t>What is the target?</a:t>
            </a:r>
            <a:endParaRPr sz="1200">
              <a:solidFill>
                <a:srgbClr val="121E48"/>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200">
                <a:solidFill>
                  <a:srgbClr val="121E48"/>
                </a:solidFill>
                <a:latin typeface="Lato"/>
                <a:ea typeface="Lato"/>
                <a:cs typeface="Lato"/>
                <a:sym typeface="Lato"/>
              </a:rPr>
              <a:t>Average amount of bookings with loyalty program (3.5 bookings per month per person)</a:t>
            </a:r>
            <a:endParaRPr/>
          </a:p>
        </p:txBody>
      </p:sp>
      <p:sp>
        <p:nvSpPr>
          <p:cNvPr id="247" name="Google Shape;247;p43"/>
          <p:cNvSpPr txBox="1"/>
          <p:nvPr/>
        </p:nvSpPr>
        <p:spPr>
          <a:xfrm>
            <a:off x="180300" y="762063"/>
            <a:ext cx="6563700" cy="1273500"/>
          </a:xfrm>
          <a:prstGeom prst="rect">
            <a:avLst/>
          </a:prstGeom>
          <a:noFill/>
          <a:ln>
            <a:noFill/>
          </a:ln>
        </p:spPr>
        <p:txBody>
          <a:bodyPr anchorCtr="0" anchor="t" bIns="91425" lIns="91425" spcFirstLastPara="1" rIns="91425" wrap="square" tIns="91425">
            <a:spAutoFit/>
          </a:bodyPr>
          <a:lstStyle/>
          <a:p>
            <a:pPr indent="0" lvl="0" marL="0" rtl="0" algn="l">
              <a:spcBef>
                <a:spcPts val="1600"/>
              </a:spcBef>
              <a:spcAft>
                <a:spcPts val="0"/>
              </a:spcAft>
              <a:buNone/>
            </a:pPr>
            <a:r>
              <a:rPr lang="en">
                <a:solidFill>
                  <a:srgbClr val="85859F"/>
                </a:solidFill>
                <a:latin typeface="Poppins SemiBold"/>
                <a:ea typeface="Poppins SemiBold"/>
                <a:cs typeface="Poppins SemiBold"/>
                <a:sym typeface="Poppins SemiBold"/>
              </a:rPr>
              <a:t>Objectives</a:t>
            </a:r>
            <a:endParaRPr>
              <a:solidFill>
                <a:srgbClr val="85859F"/>
              </a:solidFill>
              <a:latin typeface="Poppins SemiBold"/>
              <a:ea typeface="Poppins SemiBold"/>
              <a:cs typeface="Poppins SemiBold"/>
              <a:sym typeface="Poppins SemiBold"/>
            </a:endParaRPr>
          </a:p>
          <a:p>
            <a:pPr indent="0" lvl="0" marL="0" rtl="0" algn="l">
              <a:lnSpc>
                <a:spcPct val="115000"/>
              </a:lnSpc>
              <a:spcBef>
                <a:spcPts val="400"/>
              </a:spcBef>
              <a:spcAft>
                <a:spcPts val="0"/>
              </a:spcAft>
              <a:buNone/>
            </a:pPr>
            <a:r>
              <a:rPr lang="en" sz="1200">
                <a:solidFill>
                  <a:schemeClr val="dk1"/>
                </a:solidFill>
                <a:latin typeface="Lato"/>
                <a:ea typeface="Lato"/>
                <a:cs typeface="Lato"/>
                <a:sym typeface="Lato"/>
              </a:rPr>
              <a:t>The goals for this project are to increase (prioritised)</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Overall booking rates</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C</a:t>
            </a:r>
            <a:r>
              <a:rPr lang="en" sz="1200">
                <a:solidFill>
                  <a:schemeClr val="dk1"/>
                </a:solidFill>
                <a:latin typeface="Lato"/>
                <a:ea typeface="Lato"/>
                <a:cs typeface="Lato"/>
                <a:sym typeface="Lato"/>
              </a:rPr>
              <a:t>ustomer base retention</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200">
                <a:solidFill>
                  <a:schemeClr val="dk1"/>
                </a:solidFill>
                <a:latin typeface="Lato"/>
                <a:ea typeface="Lato"/>
                <a:cs typeface="Lato"/>
                <a:sym typeface="Lato"/>
              </a:rPr>
              <a:t>Lifetime value</a:t>
            </a:r>
            <a:endParaRPr sz="1200">
              <a:solidFill>
                <a:schemeClr val="dk1"/>
              </a:solidFill>
              <a:latin typeface="Lato"/>
              <a:ea typeface="Lato"/>
              <a:cs typeface="Lato"/>
              <a:sym typeface="Lato"/>
            </a:endParaRPr>
          </a:p>
        </p:txBody>
      </p:sp>
      <p:sp>
        <p:nvSpPr>
          <p:cNvPr id="248" name="Google Shape;248;p43"/>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Austin</a:t>
            </a:r>
            <a:endParaRPr b="0" sz="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nvSpPr>
        <p:spPr>
          <a:xfrm>
            <a:off x="245950" y="2991400"/>
            <a:ext cx="8138700" cy="1468200"/>
          </a:xfrm>
          <a:prstGeom prst="rect">
            <a:avLst/>
          </a:prstGeom>
          <a:noFill/>
          <a:ln>
            <a:noFill/>
          </a:ln>
        </p:spPr>
        <p:txBody>
          <a:bodyPr anchorCtr="0" anchor="t" bIns="91425" lIns="91425" spcFirstLastPara="1" rIns="91425" wrap="square" tIns="91425">
            <a:spAutoFit/>
          </a:bodyPr>
          <a:lstStyle/>
          <a:p>
            <a:pPr indent="0" lvl="0" marL="0" rtl="0" algn="l">
              <a:spcBef>
                <a:spcPts val="1600"/>
              </a:spcBef>
              <a:spcAft>
                <a:spcPts val="0"/>
              </a:spcAft>
              <a:buNone/>
            </a:pPr>
            <a:r>
              <a:rPr lang="en">
                <a:solidFill>
                  <a:srgbClr val="85859F"/>
                </a:solidFill>
                <a:latin typeface="Poppins SemiBold"/>
                <a:ea typeface="Poppins SemiBold"/>
                <a:cs typeface="Poppins SemiBold"/>
                <a:sym typeface="Poppins SemiBold"/>
              </a:rPr>
              <a:t>Use Cases</a:t>
            </a:r>
            <a:endParaRPr sz="1100">
              <a:solidFill>
                <a:srgbClr val="0000FF"/>
              </a:solidFill>
            </a:endParaRPr>
          </a:p>
          <a:p>
            <a:pPr indent="-304800" lvl="0" marL="457200" rtl="0" algn="l">
              <a:lnSpc>
                <a:spcPct val="115000"/>
              </a:lnSpc>
              <a:spcBef>
                <a:spcPts val="400"/>
              </a:spcBef>
              <a:spcAft>
                <a:spcPts val="0"/>
              </a:spcAft>
              <a:buClr>
                <a:srgbClr val="00D3AD"/>
              </a:buClr>
              <a:buSzPts val="1200"/>
              <a:buFont typeface="Lato"/>
              <a:buChar char="●"/>
            </a:pPr>
            <a:r>
              <a:rPr lang="en" sz="1100">
                <a:solidFill>
                  <a:schemeClr val="dk1"/>
                </a:solidFill>
                <a:latin typeface="Lato"/>
                <a:ea typeface="Lato"/>
                <a:cs typeface="Lato"/>
                <a:sym typeface="Lato"/>
              </a:rPr>
              <a:t>At the time of booking, the user has unlocked benefit  which  he/she can redeem and book free lounge.</a:t>
            </a:r>
            <a:endParaRPr sz="1100">
              <a:solidFill>
                <a:schemeClr val="dk1"/>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100">
                <a:solidFill>
                  <a:schemeClr val="dk1"/>
                </a:solidFill>
                <a:latin typeface="Lato"/>
                <a:ea typeface="Lato"/>
                <a:cs typeface="Lato"/>
                <a:sym typeface="Lato"/>
              </a:rPr>
              <a:t>While staying at the accommodation or at home, the user decides to book a spa, they find availability at the partner spa center, book and redeem the voucher.</a:t>
            </a:r>
            <a:endParaRPr sz="1100">
              <a:solidFill>
                <a:schemeClr val="dk1"/>
              </a:solidFill>
              <a:latin typeface="Lato"/>
              <a:ea typeface="Lato"/>
              <a:cs typeface="Lato"/>
              <a:sym typeface="Lato"/>
            </a:endParaRPr>
          </a:p>
          <a:p>
            <a:pPr indent="-304800" lvl="0" marL="457200" rtl="0" algn="l">
              <a:lnSpc>
                <a:spcPct val="115000"/>
              </a:lnSpc>
              <a:spcBef>
                <a:spcPts val="0"/>
              </a:spcBef>
              <a:spcAft>
                <a:spcPts val="0"/>
              </a:spcAft>
              <a:buClr>
                <a:srgbClr val="00D3AD"/>
              </a:buClr>
              <a:buSzPts val="1200"/>
              <a:buFont typeface="Lato"/>
              <a:buChar char="●"/>
            </a:pPr>
            <a:r>
              <a:rPr lang="en" sz="1200">
                <a:solidFill>
                  <a:srgbClr val="121E48"/>
                </a:solidFill>
                <a:latin typeface="Lato"/>
                <a:ea typeface="Lato"/>
                <a:cs typeface="Lato"/>
                <a:sym typeface="Lato"/>
              </a:rPr>
              <a:t>They will come back to book at StayNSleep again to unlock new benefits and enjoy the lounge or a spa during their next travel which will make their travel more  pleasant and help them balance work stress.</a:t>
            </a:r>
            <a:endParaRPr sz="1200">
              <a:solidFill>
                <a:srgbClr val="121E48"/>
              </a:solidFill>
              <a:latin typeface="Lato"/>
              <a:ea typeface="Lato"/>
              <a:cs typeface="Lato"/>
              <a:sym typeface="Lato"/>
            </a:endParaRPr>
          </a:p>
        </p:txBody>
      </p:sp>
      <p:sp>
        <p:nvSpPr>
          <p:cNvPr id="254" name="Google Shape;254;p44"/>
          <p:cNvSpPr txBox="1"/>
          <p:nvPr/>
        </p:nvSpPr>
        <p:spPr>
          <a:xfrm>
            <a:off x="245950" y="660450"/>
            <a:ext cx="8267100" cy="1990200"/>
          </a:xfrm>
          <a:prstGeom prst="rect">
            <a:avLst/>
          </a:prstGeom>
          <a:noFill/>
          <a:ln>
            <a:noFill/>
          </a:ln>
        </p:spPr>
        <p:txBody>
          <a:bodyPr anchorCtr="0" anchor="t" bIns="91425" lIns="91425" spcFirstLastPara="1" rIns="91425" wrap="square" tIns="91425">
            <a:spAutoFit/>
          </a:bodyPr>
          <a:lstStyle/>
          <a:p>
            <a:pPr indent="0" lvl="0" marL="0" rtl="0" algn="l">
              <a:spcBef>
                <a:spcPts val="1600"/>
              </a:spcBef>
              <a:spcAft>
                <a:spcPts val="0"/>
              </a:spcAft>
              <a:buNone/>
            </a:pPr>
            <a:r>
              <a:rPr lang="en">
                <a:solidFill>
                  <a:srgbClr val="85859F"/>
                </a:solidFill>
                <a:latin typeface="Poppins SemiBold"/>
                <a:ea typeface="Poppins SemiBold"/>
                <a:cs typeface="Poppins SemiBold"/>
                <a:sym typeface="Poppins SemiBold"/>
              </a:rPr>
              <a:t>Messaging</a:t>
            </a:r>
            <a:endParaRPr>
              <a:solidFill>
                <a:srgbClr val="85859F"/>
              </a:solidFill>
              <a:latin typeface="Poppins SemiBold"/>
              <a:ea typeface="Poppins SemiBold"/>
              <a:cs typeface="Poppins SemiBold"/>
              <a:sym typeface="Poppins SemiBold"/>
            </a:endParaRPr>
          </a:p>
          <a:p>
            <a:pPr indent="-304800" lvl="0" marL="457200" rtl="0" algn="l">
              <a:lnSpc>
                <a:spcPct val="115000"/>
              </a:lnSpc>
              <a:spcBef>
                <a:spcPts val="400"/>
              </a:spcBef>
              <a:spcAft>
                <a:spcPts val="0"/>
              </a:spcAft>
              <a:buClr>
                <a:srgbClr val="00D3AD"/>
              </a:buClr>
              <a:buSzPts val="1200"/>
              <a:buFont typeface="Lato"/>
              <a:buChar char="●"/>
            </a:pPr>
            <a:r>
              <a:rPr lang="en" sz="1200">
                <a:solidFill>
                  <a:srgbClr val="121E48"/>
                </a:solidFill>
                <a:latin typeface="Lato"/>
                <a:ea typeface="Lato"/>
                <a:cs typeface="Lato"/>
                <a:sym typeface="Lato"/>
              </a:rPr>
              <a:t>“We value your loyalty”</a:t>
            </a:r>
            <a:endParaRPr sz="1200">
              <a:solidFill>
                <a:srgbClr val="121E48"/>
              </a:solidFill>
              <a:latin typeface="Lato"/>
              <a:ea typeface="Lato"/>
              <a:cs typeface="Lato"/>
              <a:sym typeface="Lato"/>
            </a:endParaRPr>
          </a:p>
          <a:p>
            <a:pPr indent="0" lvl="0" marL="0" rtl="0" algn="l">
              <a:lnSpc>
                <a:spcPct val="115000"/>
              </a:lnSpc>
              <a:spcBef>
                <a:spcPts val="1600"/>
              </a:spcBef>
              <a:spcAft>
                <a:spcPts val="0"/>
              </a:spcAft>
              <a:buNone/>
            </a:pPr>
            <a:r>
              <a:rPr lang="en">
                <a:solidFill>
                  <a:srgbClr val="85859F"/>
                </a:solidFill>
                <a:latin typeface="Poppins SemiBold"/>
                <a:ea typeface="Poppins SemiBold"/>
                <a:cs typeface="Poppins SemiBold"/>
                <a:sym typeface="Poppins SemiBold"/>
              </a:rPr>
              <a:t>Timeline &amp; Release Planning</a:t>
            </a:r>
            <a:endParaRPr>
              <a:solidFill>
                <a:srgbClr val="85859F"/>
              </a:solidFill>
              <a:latin typeface="Poppins SemiBold"/>
              <a:ea typeface="Poppins SemiBold"/>
              <a:cs typeface="Poppins SemiBold"/>
              <a:sym typeface="Poppins SemiBold"/>
            </a:endParaRPr>
          </a:p>
          <a:p>
            <a:pPr indent="-304800" lvl="0" marL="457200" rtl="0" algn="l">
              <a:lnSpc>
                <a:spcPct val="115000"/>
              </a:lnSpc>
              <a:spcBef>
                <a:spcPts val="400"/>
              </a:spcBef>
              <a:spcAft>
                <a:spcPts val="0"/>
              </a:spcAft>
              <a:buClr>
                <a:schemeClr val="accent1"/>
              </a:buClr>
              <a:buSzPts val="1200"/>
              <a:buFont typeface="Lato"/>
              <a:buChar char="●"/>
            </a:pPr>
            <a:r>
              <a:rPr lang="en" sz="1200">
                <a:solidFill>
                  <a:srgbClr val="121E48"/>
                </a:solidFill>
                <a:latin typeface="Lato"/>
                <a:ea typeface="Lato"/>
                <a:cs typeface="Lato"/>
                <a:sym typeface="Lato"/>
              </a:rPr>
              <a:t>Launch a fake door in 2 weeks. Collect data for 2 weeks, prolong for 2 weeks more if not enough data.</a:t>
            </a:r>
            <a:endParaRPr sz="1200">
              <a:solidFill>
                <a:srgbClr val="121E48"/>
              </a:solidFill>
              <a:latin typeface="Lato"/>
              <a:ea typeface="Lato"/>
              <a:cs typeface="Lato"/>
              <a:sym typeface="Lato"/>
            </a:endParaRPr>
          </a:p>
          <a:p>
            <a:pPr indent="-304800" lvl="0" marL="457200" rtl="0" algn="l">
              <a:lnSpc>
                <a:spcPct val="115000"/>
              </a:lnSpc>
              <a:spcBef>
                <a:spcPts val="0"/>
              </a:spcBef>
              <a:spcAft>
                <a:spcPts val="0"/>
              </a:spcAft>
              <a:buClr>
                <a:schemeClr val="accent1"/>
              </a:buClr>
              <a:buSzPts val="1200"/>
              <a:buFont typeface="Lato"/>
              <a:buChar char="●"/>
            </a:pPr>
            <a:r>
              <a:rPr lang="en" sz="1200">
                <a:solidFill>
                  <a:srgbClr val="121E48"/>
                </a:solidFill>
                <a:latin typeface="Lato"/>
                <a:ea typeface="Lato"/>
                <a:cs typeface="Lato"/>
                <a:sym typeface="Lato"/>
              </a:rPr>
              <a:t>If over 50% of pilot group signs up → Build MVP in 2 months including testing.</a:t>
            </a:r>
            <a:endParaRPr sz="1200">
              <a:solidFill>
                <a:srgbClr val="121E48"/>
              </a:solidFill>
              <a:latin typeface="Lato"/>
              <a:ea typeface="Lato"/>
              <a:cs typeface="Lato"/>
              <a:sym typeface="Lato"/>
            </a:endParaRPr>
          </a:p>
          <a:p>
            <a:pPr indent="-304800" lvl="0" marL="457200" rtl="0" algn="l">
              <a:lnSpc>
                <a:spcPct val="115000"/>
              </a:lnSpc>
              <a:spcBef>
                <a:spcPts val="0"/>
              </a:spcBef>
              <a:spcAft>
                <a:spcPts val="0"/>
              </a:spcAft>
              <a:buClr>
                <a:schemeClr val="accent1"/>
              </a:buClr>
              <a:buSzPts val="1200"/>
              <a:buFont typeface="Lato"/>
              <a:buChar char="●"/>
            </a:pPr>
            <a:r>
              <a:rPr lang="en" sz="1200">
                <a:solidFill>
                  <a:srgbClr val="121E48"/>
                </a:solidFill>
                <a:latin typeface="Lato"/>
                <a:ea typeface="Lato"/>
                <a:cs typeface="Lato"/>
                <a:sym typeface="Lato"/>
              </a:rPr>
              <a:t>Collect data for 2 months.</a:t>
            </a:r>
            <a:endParaRPr sz="1200">
              <a:solidFill>
                <a:srgbClr val="121E48"/>
              </a:solidFill>
              <a:latin typeface="Lato"/>
              <a:ea typeface="Lato"/>
              <a:cs typeface="Lato"/>
              <a:sym typeface="Lato"/>
            </a:endParaRPr>
          </a:p>
          <a:p>
            <a:pPr indent="-304800" lvl="0" marL="457200" rtl="0" algn="l">
              <a:lnSpc>
                <a:spcPct val="115000"/>
              </a:lnSpc>
              <a:spcBef>
                <a:spcPts val="0"/>
              </a:spcBef>
              <a:spcAft>
                <a:spcPts val="0"/>
              </a:spcAft>
              <a:buClr>
                <a:schemeClr val="accent1"/>
              </a:buClr>
              <a:buSzPts val="1200"/>
              <a:buFont typeface="Lato"/>
              <a:buChar char="●"/>
            </a:pPr>
            <a:r>
              <a:rPr lang="en" sz="1200">
                <a:solidFill>
                  <a:srgbClr val="121E48"/>
                </a:solidFill>
                <a:latin typeface="Lato"/>
                <a:ea typeface="Lato"/>
                <a:cs typeface="Lato"/>
                <a:sym typeface="Lato"/>
              </a:rPr>
              <a:t>If metrics are moving towards target, it’s PMF, optimise and scale</a:t>
            </a:r>
            <a:endParaRPr sz="1200">
              <a:solidFill>
                <a:srgbClr val="121E48"/>
              </a:solidFill>
              <a:latin typeface="Lato"/>
              <a:ea typeface="Lato"/>
              <a:cs typeface="Lato"/>
              <a:sym typeface="Lato"/>
            </a:endParaRPr>
          </a:p>
        </p:txBody>
      </p:sp>
      <p:sp>
        <p:nvSpPr>
          <p:cNvPr id="255" name="Google Shape;255;p44"/>
          <p:cNvSpPr txBox="1"/>
          <p:nvPr>
            <p:ph type="title"/>
          </p:nvPr>
        </p:nvSpPr>
        <p:spPr>
          <a:xfrm>
            <a:off x="95225" y="261450"/>
            <a:ext cx="1239900" cy="39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PRD</a:t>
            </a:r>
            <a:endParaRPr sz="1800">
              <a:latin typeface="Poppins"/>
              <a:ea typeface="Poppins"/>
              <a:cs typeface="Poppins"/>
              <a:sym typeface="Poppins"/>
            </a:endParaRPr>
          </a:p>
        </p:txBody>
      </p:sp>
      <p:sp>
        <p:nvSpPr>
          <p:cNvPr id="256" name="Google Shape;256;p44"/>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Olesia</a:t>
            </a:r>
            <a:endParaRPr b="0" sz="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5"/>
          <p:cNvSpPr txBox="1"/>
          <p:nvPr>
            <p:ph type="title"/>
          </p:nvPr>
        </p:nvSpPr>
        <p:spPr>
          <a:xfrm>
            <a:off x="287200" y="32700"/>
            <a:ext cx="1365600" cy="538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Roadmap</a:t>
            </a:r>
            <a:endParaRPr/>
          </a:p>
        </p:txBody>
      </p:sp>
      <p:sp>
        <p:nvSpPr>
          <p:cNvPr id="262" name="Google Shape;262;p45"/>
          <p:cNvSpPr/>
          <p:nvPr/>
        </p:nvSpPr>
        <p:spPr>
          <a:xfrm>
            <a:off x="-569" y="4146174"/>
            <a:ext cx="9141024" cy="778329"/>
          </a:xfrm>
          <a:custGeom>
            <a:rect b="b" l="l" r="r" t="t"/>
            <a:pathLst>
              <a:path extrusionOk="0" h="2345" w="19560">
                <a:moveTo>
                  <a:pt x="0" y="2344"/>
                </a:moveTo>
                <a:lnTo>
                  <a:pt x="19559" y="2344"/>
                </a:lnTo>
                <a:lnTo>
                  <a:pt x="19559" y="0"/>
                </a:lnTo>
                <a:lnTo>
                  <a:pt x="0" y="0"/>
                </a:lnTo>
                <a:lnTo>
                  <a:pt x="0" y="2344"/>
                </a:lnTo>
              </a:path>
            </a:pathLst>
          </a:custGeom>
          <a:solidFill>
            <a:schemeClr val="accent5"/>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3" name="Google Shape;263;p45"/>
          <p:cNvSpPr/>
          <p:nvPr/>
        </p:nvSpPr>
        <p:spPr>
          <a:xfrm>
            <a:off x="-568" y="4217862"/>
            <a:ext cx="9140226" cy="644796"/>
          </a:xfrm>
          <a:custGeom>
            <a:rect b="b" l="l" r="r" t="t"/>
            <a:pathLst>
              <a:path extrusionOk="0" h="2410452" w="24373937">
                <a:moveTo>
                  <a:pt x="21976" y="2345773"/>
                </a:moveTo>
                <a:lnTo>
                  <a:pt x="24373937" y="2345773"/>
                </a:lnTo>
                <a:lnTo>
                  <a:pt x="24373937" y="2410452"/>
                </a:lnTo>
                <a:lnTo>
                  <a:pt x="21976" y="2410452"/>
                </a:lnTo>
                <a:close/>
                <a:moveTo>
                  <a:pt x="23855957" y="1192114"/>
                </a:moveTo>
                <a:lnTo>
                  <a:pt x="24362949" y="1192114"/>
                </a:lnTo>
                <a:lnTo>
                  <a:pt x="24362949" y="1256769"/>
                </a:lnTo>
                <a:lnTo>
                  <a:pt x="23855957" y="1256769"/>
                </a:lnTo>
                <a:close/>
                <a:moveTo>
                  <a:pt x="22839481" y="1192114"/>
                </a:moveTo>
                <a:lnTo>
                  <a:pt x="23347717" y="1192114"/>
                </a:lnTo>
                <a:lnTo>
                  <a:pt x="23347717" y="1256769"/>
                </a:lnTo>
                <a:lnTo>
                  <a:pt x="22839481" y="1256769"/>
                </a:lnTo>
                <a:close/>
                <a:moveTo>
                  <a:pt x="21823005" y="1192114"/>
                </a:moveTo>
                <a:lnTo>
                  <a:pt x="22331241" y="1192114"/>
                </a:lnTo>
                <a:lnTo>
                  <a:pt x="22331241" y="1256769"/>
                </a:lnTo>
                <a:lnTo>
                  <a:pt x="21823005" y="1256769"/>
                </a:lnTo>
                <a:close/>
                <a:moveTo>
                  <a:pt x="20807773" y="1192114"/>
                </a:moveTo>
                <a:lnTo>
                  <a:pt x="21316009" y="1192114"/>
                </a:lnTo>
                <a:lnTo>
                  <a:pt x="21316009" y="1256769"/>
                </a:lnTo>
                <a:lnTo>
                  <a:pt x="20807773" y="1256769"/>
                </a:lnTo>
                <a:close/>
                <a:moveTo>
                  <a:pt x="19791297" y="1192114"/>
                </a:moveTo>
                <a:lnTo>
                  <a:pt x="20299533" y="1192114"/>
                </a:lnTo>
                <a:lnTo>
                  <a:pt x="20299533" y="1256769"/>
                </a:lnTo>
                <a:lnTo>
                  <a:pt x="19791297" y="1256769"/>
                </a:lnTo>
                <a:close/>
                <a:moveTo>
                  <a:pt x="18776065" y="1192114"/>
                </a:moveTo>
                <a:lnTo>
                  <a:pt x="19284301" y="1192114"/>
                </a:lnTo>
                <a:lnTo>
                  <a:pt x="19284301" y="1256769"/>
                </a:lnTo>
                <a:lnTo>
                  <a:pt x="18776065" y="1256769"/>
                </a:lnTo>
                <a:close/>
                <a:moveTo>
                  <a:pt x="17760833" y="1192114"/>
                </a:moveTo>
                <a:lnTo>
                  <a:pt x="18267825" y="1192114"/>
                </a:lnTo>
                <a:lnTo>
                  <a:pt x="18267825" y="1256769"/>
                </a:lnTo>
                <a:lnTo>
                  <a:pt x="17760833" y="1256769"/>
                </a:lnTo>
                <a:close/>
                <a:moveTo>
                  <a:pt x="16744356" y="1192114"/>
                </a:moveTo>
                <a:lnTo>
                  <a:pt x="17252593" y="1192114"/>
                </a:lnTo>
                <a:lnTo>
                  <a:pt x="17252593" y="1256769"/>
                </a:lnTo>
                <a:lnTo>
                  <a:pt x="16744356" y="1256769"/>
                </a:lnTo>
                <a:close/>
                <a:moveTo>
                  <a:pt x="15729124" y="1192114"/>
                </a:moveTo>
                <a:lnTo>
                  <a:pt x="16237363" y="1192114"/>
                </a:lnTo>
                <a:lnTo>
                  <a:pt x="16237363" y="1256769"/>
                </a:lnTo>
                <a:lnTo>
                  <a:pt x="15729124" y="1256769"/>
                </a:lnTo>
                <a:close/>
                <a:moveTo>
                  <a:pt x="14713893" y="1192114"/>
                </a:moveTo>
                <a:lnTo>
                  <a:pt x="15220886" y="1192114"/>
                </a:lnTo>
                <a:lnTo>
                  <a:pt x="15220886" y="1256769"/>
                </a:lnTo>
                <a:lnTo>
                  <a:pt x="14713893" y="1256769"/>
                </a:lnTo>
                <a:close/>
                <a:moveTo>
                  <a:pt x="13697416" y="1192114"/>
                </a:moveTo>
                <a:lnTo>
                  <a:pt x="14205654" y="1192114"/>
                </a:lnTo>
                <a:lnTo>
                  <a:pt x="14205654" y="1256769"/>
                </a:lnTo>
                <a:lnTo>
                  <a:pt x="13697416" y="1256769"/>
                </a:lnTo>
                <a:close/>
                <a:moveTo>
                  <a:pt x="12682185" y="1192114"/>
                </a:moveTo>
                <a:lnTo>
                  <a:pt x="13189177" y="1192114"/>
                </a:lnTo>
                <a:lnTo>
                  <a:pt x="13189177" y="1256769"/>
                </a:lnTo>
                <a:lnTo>
                  <a:pt x="12682185" y="1256769"/>
                </a:lnTo>
                <a:close/>
                <a:moveTo>
                  <a:pt x="11666953" y="1192114"/>
                </a:moveTo>
                <a:lnTo>
                  <a:pt x="12175192" y="1192114"/>
                </a:lnTo>
                <a:lnTo>
                  <a:pt x="12175192" y="1256769"/>
                </a:lnTo>
                <a:lnTo>
                  <a:pt x="11666953" y="1256769"/>
                </a:lnTo>
                <a:close/>
                <a:moveTo>
                  <a:pt x="10651723" y="1192114"/>
                </a:moveTo>
                <a:lnTo>
                  <a:pt x="11158716" y="1192114"/>
                </a:lnTo>
                <a:lnTo>
                  <a:pt x="11158716" y="1256769"/>
                </a:lnTo>
                <a:lnTo>
                  <a:pt x="10651723" y="1256769"/>
                </a:lnTo>
                <a:close/>
                <a:moveTo>
                  <a:pt x="9635245" y="1192114"/>
                </a:moveTo>
                <a:lnTo>
                  <a:pt x="10143483" y="1192114"/>
                </a:lnTo>
                <a:lnTo>
                  <a:pt x="10143483" y="1256769"/>
                </a:lnTo>
                <a:lnTo>
                  <a:pt x="9635245" y="1256769"/>
                </a:lnTo>
                <a:close/>
                <a:moveTo>
                  <a:pt x="8620014" y="1192114"/>
                </a:moveTo>
                <a:lnTo>
                  <a:pt x="9127007" y="1192114"/>
                </a:lnTo>
                <a:lnTo>
                  <a:pt x="9127007" y="1256769"/>
                </a:lnTo>
                <a:lnTo>
                  <a:pt x="8620014" y="1256769"/>
                </a:lnTo>
                <a:close/>
                <a:moveTo>
                  <a:pt x="7603538" y="1192114"/>
                </a:moveTo>
                <a:lnTo>
                  <a:pt x="8111776" y="1192114"/>
                </a:lnTo>
                <a:lnTo>
                  <a:pt x="8111776" y="1256769"/>
                </a:lnTo>
                <a:lnTo>
                  <a:pt x="7603538" y="1256769"/>
                </a:lnTo>
                <a:close/>
                <a:moveTo>
                  <a:pt x="6588307" y="1192114"/>
                </a:moveTo>
                <a:lnTo>
                  <a:pt x="7096545" y="1192114"/>
                </a:lnTo>
                <a:lnTo>
                  <a:pt x="7096545" y="1256769"/>
                </a:lnTo>
                <a:lnTo>
                  <a:pt x="6588307" y="1256769"/>
                </a:lnTo>
                <a:close/>
                <a:moveTo>
                  <a:pt x="5573075" y="1192114"/>
                </a:moveTo>
                <a:lnTo>
                  <a:pt x="6080068" y="1192114"/>
                </a:lnTo>
                <a:lnTo>
                  <a:pt x="6080068" y="1256769"/>
                </a:lnTo>
                <a:lnTo>
                  <a:pt x="5573075" y="1256769"/>
                </a:lnTo>
                <a:close/>
                <a:moveTo>
                  <a:pt x="4556598" y="1192114"/>
                </a:moveTo>
                <a:lnTo>
                  <a:pt x="5064836" y="1192114"/>
                </a:lnTo>
                <a:lnTo>
                  <a:pt x="5064836" y="1256769"/>
                </a:lnTo>
                <a:lnTo>
                  <a:pt x="4556598" y="1256769"/>
                </a:lnTo>
                <a:close/>
                <a:moveTo>
                  <a:pt x="3541367" y="1192114"/>
                </a:moveTo>
                <a:lnTo>
                  <a:pt x="4049605" y="1192114"/>
                </a:lnTo>
                <a:lnTo>
                  <a:pt x="4049605" y="1256769"/>
                </a:lnTo>
                <a:lnTo>
                  <a:pt x="3541367" y="1256769"/>
                </a:lnTo>
                <a:close/>
                <a:moveTo>
                  <a:pt x="2526135" y="1192114"/>
                </a:moveTo>
                <a:lnTo>
                  <a:pt x="3033128" y="1192114"/>
                </a:lnTo>
                <a:lnTo>
                  <a:pt x="3033128" y="1256769"/>
                </a:lnTo>
                <a:lnTo>
                  <a:pt x="2526135" y="1256769"/>
                </a:lnTo>
                <a:close/>
                <a:moveTo>
                  <a:pt x="1509658" y="1192114"/>
                </a:moveTo>
                <a:lnTo>
                  <a:pt x="2017896" y="1192114"/>
                </a:lnTo>
                <a:lnTo>
                  <a:pt x="2017896" y="1256769"/>
                </a:lnTo>
                <a:lnTo>
                  <a:pt x="1509658" y="1256769"/>
                </a:lnTo>
                <a:close/>
                <a:moveTo>
                  <a:pt x="494427" y="1192114"/>
                </a:moveTo>
                <a:lnTo>
                  <a:pt x="1002665" y="1192114"/>
                </a:lnTo>
                <a:lnTo>
                  <a:pt x="1002665" y="1256769"/>
                </a:lnTo>
                <a:lnTo>
                  <a:pt x="494427" y="1256769"/>
                </a:lnTo>
                <a:close/>
                <a:moveTo>
                  <a:pt x="0" y="0"/>
                </a:moveTo>
                <a:lnTo>
                  <a:pt x="24351961" y="0"/>
                </a:lnTo>
                <a:lnTo>
                  <a:pt x="24351961" y="64655"/>
                </a:lnTo>
                <a:lnTo>
                  <a:pt x="0" y="64655"/>
                </a:lnTo>
                <a:close/>
              </a:path>
            </a:pathLst>
          </a:custGeom>
          <a:solidFill>
            <a:schemeClr val="l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4" name="Google Shape;264;p45"/>
          <p:cNvSpPr/>
          <p:nvPr/>
        </p:nvSpPr>
        <p:spPr>
          <a:xfrm>
            <a:off x="1102949" y="1811450"/>
            <a:ext cx="24725" cy="2292525"/>
          </a:xfrm>
          <a:custGeom>
            <a:rect b="b" l="l" r="r" t="t"/>
            <a:pathLst>
              <a:path extrusionOk="0" h="4261" w="53">
                <a:moveTo>
                  <a:pt x="0" y="0"/>
                </a:moveTo>
                <a:lnTo>
                  <a:pt x="52" y="0"/>
                </a:lnTo>
                <a:lnTo>
                  <a:pt x="52" y="4260"/>
                </a:lnTo>
                <a:lnTo>
                  <a:pt x="0" y="4260"/>
                </a:lnTo>
                <a:lnTo>
                  <a:pt x="0" y="0"/>
                </a:lnTo>
              </a:path>
            </a:pathLst>
          </a:custGeom>
          <a:solidFill>
            <a:schemeClr val="accen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5" name="Google Shape;265;p45"/>
          <p:cNvSpPr/>
          <p:nvPr/>
        </p:nvSpPr>
        <p:spPr>
          <a:xfrm>
            <a:off x="1045245" y="4103972"/>
            <a:ext cx="138063" cy="138028"/>
          </a:xfrm>
          <a:custGeom>
            <a:rect b="b" l="l" r="r" t="t"/>
            <a:pathLst>
              <a:path extrusionOk="0" h="297" w="297">
                <a:moveTo>
                  <a:pt x="148" y="0"/>
                </a:moveTo>
                <a:lnTo>
                  <a:pt x="148" y="0"/>
                </a:lnTo>
                <a:cubicBezTo>
                  <a:pt x="229" y="0"/>
                  <a:pt x="296" y="66"/>
                  <a:pt x="296" y="148"/>
                </a:cubicBezTo>
                <a:lnTo>
                  <a:pt x="296" y="148"/>
                </a:lnTo>
                <a:cubicBezTo>
                  <a:pt x="296" y="229"/>
                  <a:pt x="229" y="296"/>
                  <a:pt x="148" y="296"/>
                </a:cubicBezTo>
                <a:lnTo>
                  <a:pt x="148" y="296"/>
                </a:lnTo>
                <a:cubicBezTo>
                  <a:pt x="67" y="296"/>
                  <a:pt x="0" y="229"/>
                  <a:pt x="0" y="148"/>
                </a:cubicBezTo>
                <a:lnTo>
                  <a:pt x="0" y="148"/>
                </a:lnTo>
                <a:cubicBezTo>
                  <a:pt x="0" y="66"/>
                  <a:pt x="67" y="0"/>
                  <a:pt x="148" y="0"/>
                </a:cubicBezTo>
              </a:path>
            </a:pathLst>
          </a:custGeom>
          <a:solidFill>
            <a:schemeClr val="accen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6" name="Google Shape;266;p45"/>
          <p:cNvSpPr/>
          <p:nvPr/>
        </p:nvSpPr>
        <p:spPr>
          <a:xfrm>
            <a:off x="581942" y="1342009"/>
            <a:ext cx="1070848" cy="1070573"/>
          </a:xfrm>
          <a:custGeom>
            <a:rect b="b" l="l" r="r" t="t"/>
            <a:pathLst>
              <a:path extrusionOk="0" h="2753" w="2753">
                <a:moveTo>
                  <a:pt x="1376" y="0"/>
                </a:moveTo>
                <a:lnTo>
                  <a:pt x="1376" y="0"/>
                </a:lnTo>
                <a:cubicBezTo>
                  <a:pt x="2136" y="0"/>
                  <a:pt x="2752" y="616"/>
                  <a:pt x="2752" y="1376"/>
                </a:cubicBezTo>
                <a:lnTo>
                  <a:pt x="2752" y="1376"/>
                </a:lnTo>
                <a:cubicBezTo>
                  <a:pt x="2752" y="2136"/>
                  <a:pt x="2136" y="2752"/>
                  <a:pt x="1376" y="2752"/>
                </a:cubicBezTo>
                <a:lnTo>
                  <a:pt x="1376" y="2752"/>
                </a:lnTo>
                <a:cubicBezTo>
                  <a:pt x="616" y="2752"/>
                  <a:pt x="0" y="2136"/>
                  <a:pt x="0" y="1376"/>
                </a:cubicBezTo>
                <a:lnTo>
                  <a:pt x="0" y="1376"/>
                </a:lnTo>
                <a:cubicBezTo>
                  <a:pt x="0" y="616"/>
                  <a:pt x="616" y="0"/>
                  <a:pt x="1376" y="0"/>
                </a:cubicBezTo>
              </a:path>
            </a:pathLst>
          </a:custGeom>
          <a:solidFill>
            <a:schemeClr val="accen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7" name="Google Shape;267;p45"/>
          <p:cNvSpPr/>
          <p:nvPr/>
        </p:nvSpPr>
        <p:spPr>
          <a:xfrm>
            <a:off x="739825" y="1499891"/>
            <a:ext cx="753368" cy="753173"/>
          </a:xfrm>
          <a:custGeom>
            <a:rect b="b" l="l" r="r" t="t"/>
            <a:pathLst>
              <a:path extrusionOk="0" h="1937" w="1938">
                <a:moveTo>
                  <a:pt x="968" y="0"/>
                </a:moveTo>
                <a:lnTo>
                  <a:pt x="968" y="0"/>
                </a:lnTo>
                <a:cubicBezTo>
                  <a:pt x="1503" y="0"/>
                  <a:pt x="1937" y="433"/>
                  <a:pt x="1937" y="968"/>
                </a:cubicBezTo>
                <a:lnTo>
                  <a:pt x="1937" y="968"/>
                </a:lnTo>
                <a:cubicBezTo>
                  <a:pt x="1937" y="1502"/>
                  <a:pt x="1503" y="1936"/>
                  <a:pt x="968" y="1936"/>
                </a:cubicBezTo>
                <a:lnTo>
                  <a:pt x="968" y="1936"/>
                </a:lnTo>
                <a:cubicBezTo>
                  <a:pt x="433" y="1936"/>
                  <a:pt x="0" y="1502"/>
                  <a:pt x="0" y="968"/>
                </a:cubicBezTo>
                <a:lnTo>
                  <a:pt x="0" y="968"/>
                </a:lnTo>
                <a:cubicBezTo>
                  <a:pt x="0" y="433"/>
                  <a:pt x="433" y="0"/>
                  <a:pt x="968" y="0"/>
                </a:cubicBezTo>
              </a:path>
            </a:pathLst>
          </a:custGeom>
          <a:solidFill>
            <a:schemeClr val="l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8" name="Google Shape;268;p45"/>
          <p:cNvSpPr/>
          <p:nvPr/>
        </p:nvSpPr>
        <p:spPr>
          <a:xfrm>
            <a:off x="2940252" y="2201440"/>
            <a:ext cx="24728" cy="1990057"/>
          </a:xfrm>
          <a:custGeom>
            <a:rect b="b" l="l" r="r" t="t"/>
            <a:pathLst>
              <a:path extrusionOk="0" h="4261" w="53">
                <a:moveTo>
                  <a:pt x="0" y="0"/>
                </a:moveTo>
                <a:lnTo>
                  <a:pt x="52" y="0"/>
                </a:lnTo>
                <a:lnTo>
                  <a:pt x="52" y="4260"/>
                </a:lnTo>
                <a:lnTo>
                  <a:pt x="0" y="4260"/>
                </a:lnTo>
                <a:lnTo>
                  <a:pt x="0" y="0"/>
                </a:lnTo>
              </a:path>
            </a:pathLst>
          </a:custGeom>
          <a:solidFill>
            <a:schemeClr val="accent2"/>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69" name="Google Shape;269;p45"/>
          <p:cNvSpPr/>
          <p:nvPr/>
        </p:nvSpPr>
        <p:spPr>
          <a:xfrm>
            <a:off x="2906704" y="4103976"/>
            <a:ext cx="138063" cy="138026"/>
          </a:xfrm>
          <a:custGeom>
            <a:rect b="b" l="l" r="r" t="t"/>
            <a:pathLst>
              <a:path extrusionOk="0" h="296" w="297">
                <a:moveTo>
                  <a:pt x="148" y="0"/>
                </a:moveTo>
                <a:lnTo>
                  <a:pt x="148" y="0"/>
                </a:lnTo>
                <a:cubicBezTo>
                  <a:pt x="229" y="0"/>
                  <a:pt x="296" y="66"/>
                  <a:pt x="296" y="147"/>
                </a:cubicBezTo>
                <a:lnTo>
                  <a:pt x="296" y="147"/>
                </a:lnTo>
                <a:cubicBezTo>
                  <a:pt x="296" y="229"/>
                  <a:pt x="229" y="295"/>
                  <a:pt x="148" y="295"/>
                </a:cubicBezTo>
                <a:lnTo>
                  <a:pt x="148" y="295"/>
                </a:lnTo>
                <a:cubicBezTo>
                  <a:pt x="67" y="295"/>
                  <a:pt x="0" y="229"/>
                  <a:pt x="0" y="147"/>
                </a:cubicBezTo>
                <a:lnTo>
                  <a:pt x="0" y="147"/>
                </a:lnTo>
                <a:cubicBezTo>
                  <a:pt x="0" y="66"/>
                  <a:pt x="67" y="0"/>
                  <a:pt x="148" y="0"/>
                </a:cubicBezTo>
              </a:path>
            </a:pathLst>
          </a:custGeom>
          <a:solidFill>
            <a:schemeClr val="accent2"/>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0" name="Google Shape;270;p45"/>
          <p:cNvSpPr/>
          <p:nvPr/>
        </p:nvSpPr>
        <p:spPr>
          <a:xfrm>
            <a:off x="2419251" y="1183374"/>
            <a:ext cx="1070848" cy="1070573"/>
          </a:xfrm>
          <a:custGeom>
            <a:rect b="b" l="l" r="r" t="t"/>
            <a:pathLst>
              <a:path extrusionOk="0" h="2753" w="2753">
                <a:moveTo>
                  <a:pt x="1376" y="0"/>
                </a:moveTo>
                <a:lnTo>
                  <a:pt x="1376" y="0"/>
                </a:lnTo>
                <a:cubicBezTo>
                  <a:pt x="2136" y="0"/>
                  <a:pt x="2752" y="616"/>
                  <a:pt x="2752" y="1376"/>
                </a:cubicBezTo>
                <a:lnTo>
                  <a:pt x="2752" y="1376"/>
                </a:lnTo>
                <a:cubicBezTo>
                  <a:pt x="2752" y="2136"/>
                  <a:pt x="2136" y="2752"/>
                  <a:pt x="1376" y="2752"/>
                </a:cubicBezTo>
                <a:lnTo>
                  <a:pt x="1376" y="2752"/>
                </a:lnTo>
                <a:cubicBezTo>
                  <a:pt x="617" y="2752"/>
                  <a:pt x="0" y="2136"/>
                  <a:pt x="0" y="1376"/>
                </a:cubicBezTo>
                <a:lnTo>
                  <a:pt x="0" y="1376"/>
                </a:lnTo>
                <a:cubicBezTo>
                  <a:pt x="0" y="616"/>
                  <a:pt x="617" y="0"/>
                  <a:pt x="1376" y="0"/>
                </a:cubicBezTo>
              </a:path>
            </a:pathLst>
          </a:custGeom>
          <a:solidFill>
            <a:schemeClr val="accent2"/>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1" name="Google Shape;271;p45"/>
          <p:cNvSpPr/>
          <p:nvPr/>
        </p:nvSpPr>
        <p:spPr>
          <a:xfrm>
            <a:off x="2577134" y="1342931"/>
            <a:ext cx="753368" cy="753173"/>
          </a:xfrm>
          <a:custGeom>
            <a:rect b="b" l="l" r="r" t="t"/>
            <a:pathLst>
              <a:path extrusionOk="0" h="1937" w="1938">
                <a:moveTo>
                  <a:pt x="968" y="0"/>
                </a:moveTo>
                <a:lnTo>
                  <a:pt x="968" y="0"/>
                </a:lnTo>
                <a:cubicBezTo>
                  <a:pt x="1503" y="0"/>
                  <a:pt x="1937" y="433"/>
                  <a:pt x="1937" y="968"/>
                </a:cubicBezTo>
                <a:lnTo>
                  <a:pt x="1937" y="968"/>
                </a:lnTo>
                <a:cubicBezTo>
                  <a:pt x="1937" y="1502"/>
                  <a:pt x="1503" y="1936"/>
                  <a:pt x="968" y="1936"/>
                </a:cubicBezTo>
                <a:lnTo>
                  <a:pt x="968" y="1936"/>
                </a:lnTo>
                <a:cubicBezTo>
                  <a:pt x="434" y="1936"/>
                  <a:pt x="0" y="1502"/>
                  <a:pt x="0" y="968"/>
                </a:cubicBezTo>
                <a:lnTo>
                  <a:pt x="0" y="968"/>
                </a:lnTo>
                <a:cubicBezTo>
                  <a:pt x="0" y="433"/>
                  <a:pt x="434" y="0"/>
                  <a:pt x="968" y="0"/>
                </a:cubicBezTo>
              </a:path>
            </a:pathLst>
          </a:custGeom>
          <a:solidFill>
            <a:schemeClr val="l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2" name="Google Shape;272;p45"/>
          <p:cNvSpPr/>
          <p:nvPr/>
        </p:nvSpPr>
        <p:spPr>
          <a:xfrm>
            <a:off x="2753132" y="1535701"/>
            <a:ext cx="404334" cy="377676"/>
          </a:xfrm>
          <a:custGeom>
            <a:rect b="b" l="l" r="r" t="t"/>
            <a:pathLst>
              <a:path extrusionOk="0" h="272690" w="291412">
                <a:moveTo>
                  <a:pt x="28276" y="189991"/>
                </a:moveTo>
                <a:cubicBezTo>
                  <a:pt x="30432" y="188912"/>
                  <a:pt x="32948" y="189631"/>
                  <a:pt x="34027" y="191789"/>
                </a:cubicBezTo>
                <a:lnTo>
                  <a:pt x="44091" y="208328"/>
                </a:lnTo>
                <a:cubicBezTo>
                  <a:pt x="44450" y="209407"/>
                  <a:pt x="45169" y="209767"/>
                  <a:pt x="45528" y="209767"/>
                </a:cubicBezTo>
                <a:cubicBezTo>
                  <a:pt x="45888" y="209767"/>
                  <a:pt x="46247" y="209767"/>
                  <a:pt x="46966" y="209407"/>
                </a:cubicBezTo>
                <a:lnTo>
                  <a:pt x="62422" y="200418"/>
                </a:lnTo>
                <a:cubicBezTo>
                  <a:pt x="64219" y="199339"/>
                  <a:pt x="66735" y="200059"/>
                  <a:pt x="67813" y="201497"/>
                </a:cubicBezTo>
                <a:cubicBezTo>
                  <a:pt x="72845" y="207609"/>
                  <a:pt x="78237" y="213003"/>
                  <a:pt x="83988" y="218037"/>
                </a:cubicBezTo>
                <a:cubicBezTo>
                  <a:pt x="85785" y="219115"/>
                  <a:pt x="86144" y="221632"/>
                  <a:pt x="85426" y="223430"/>
                </a:cubicBezTo>
                <a:lnTo>
                  <a:pt x="76440" y="238891"/>
                </a:lnTo>
                <a:cubicBezTo>
                  <a:pt x="76080" y="239611"/>
                  <a:pt x="76080" y="239970"/>
                  <a:pt x="76080" y="240330"/>
                </a:cubicBezTo>
                <a:cubicBezTo>
                  <a:pt x="76080" y="240689"/>
                  <a:pt x="76440" y="241408"/>
                  <a:pt x="76799" y="241768"/>
                </a:cubicBezTo>
                <a:lnTo>
                  <a:pt x="94052" y="251476"/>
                </a:lnTo>
                <a:cubicBezTo>
                  <a:pt x="95130" y="252195"/>
                  <a:pt x="96568" y="251836"/>
                  <a:pt x="96927" y="250757"/>
                </a:cubicBezTo>
                <a:lnTo>
                  <a:pt x="105913" y="235296"/>
                </a:lnTo>
                <a:cubicBezTo>
                  <a:pt x="106992" y="233498"/>
                  <a:pt x="109148" y="232779"/>
                  <a:pt x="111305" y="233498"/>
                </a:cubicBezTo>
                <a:cubicBezTo>
                  <a:pt x="118494" y="236374"/>
                  <a:pt x="126042" y="238172"/>
                  <a:pt x="133230" y="239611"/>
                </a:cubicBezTo>
                <a:cubicBezTo>
                  <a:pt x="135387" y="239970"/>
                  <a:pt x="137184" y="241768"/>
                  <a:pt x="137184" y="243925"/>
                </a:cubicBezTo>
                <a:lnTo>
                  <a:pt x="137184" y="261544"/>
                </a:lnTo>
                <a:cubicBezTo>
                  <a:pt x="137184" y="262623"/>
                  <a:pt x="137903" y="263701"/>
                  <a:pt x="139341" y="263701"/>
                </a:cubicBezTo>
                <a:lnTo>
                  <a:pt x="159110" y="263701"/>
                </a:lnTo>
                <a:cubicBezTo>
                  <a:pt x="160188" y="263701"/>
                  <a:pt x="161266" y="262623"/>
                  <a:pt x="161266" y="261544"/>
                </a:cubicBezTo>
                <a:lnTo>
                  <a:pt x="161266" y="243925"/>
                </a:lnTo>
                <a:cubicBezTo>
                  <a:pt x="161266" y="241768"/>
                  <a:pt x="162704" y="239970"/>
                  <a:pt x="164861" y="239611"/>
                </a:cubicBezTo>
                <a:cubicBezTo>
                  <a:pt x="172409" y="238172"/>
                  <a:pt x="179957" y="236374"/>
                  <a:pt x="187145" y="233498"/>
                </a:cubicBezTo>
                <a:cubicBezTo>
                  <a:pt x="188943" y="232779"/>
                  <a:pt x="191099" y="233498"/>
                  <a:pt x="192177" y="235296"/>
                </a:cubicBezTo>
                <a:lnTo>
                  <a:pt x="201163" y="250757"/>
                </a:lnTo>
                <a:cubicBezTo>
                  <a:pt x="201882" y="251836"/>
                  <a:pt x="202961" y="252195"/>
                  <a:pt x="204039" y="251476"/>
                </a:cubicBezTo>
                <a:lnTo>
                  <a:pt x="221292" y="241768"/>
                </a:lnTo>
                <a:cubicBezTo>
                  <a:pt x="221651" y="241408"/>
                  <a:pt x="222011" y="240689"/>
                  <a:pt x="222011" y="240330"/>
                </a:cubicBezTo>
                <a:cubicBezTo>
                  <a:pt x="222011" y="239970"/>
                  <a:pt x="222370" y="239611"/>
                  <a:pt x="222011" y="238891"/>
                </a:cubicBezTo>
                <a:lnTo>
                  <a:pt x="213025" y="223430"/>
                </a:lnTo>
                <a:cubicBezTo>
                  <a:pt x="211946" y="221632"/>
                  <a:pt x="212665" y="219115"/>
                  <a:pt x="214103" y="218037"/>
                </a:cubicBezTo>
                <a:cubicBezTo>
                  <a:pt x="220213" y="213003"/>
                  <a:pt x="225605" y="207609"/>
                  <a:pt x="230277" y="201497"/>
                </a:cubicBezTo>
                <a:cubicBezTo>
                  <a:pt x="231715" y="200059"/>
                  <a:pt x="234231" y="199339"/>
                  <a:pt x="236028" y="200418"/>
                </a:cubicBezTo>
                <a:lnTo>
                  <a:pt x="251484" y="209407"/>
                </a:lnTo>
                <a:cubicBezTo>
                  <a:pt x="251844" y="209767"/>
                  <a:pt x="252562" y="209767"/>
                  <a:pt x="252922" y="209767"/>
                </a:cubicBezTo>
                <a:cubicBezTo>
                  <a:pt x="253281" y="209767"/>
                  <a:pt x="254000" y="209407"/>
                  <a:pt x="254360" y="208328"/>
                </a:cubicBezTo>
                <a:lnTo>
                  <a:pt x="264064" y="191789"/>
                </a:lnTo>
                <a:cubicBezTo>
                  <a:pt x="265143" y="189631"/>
                  <a:pt x="268018" y="188912"/>
                  <a:pt x="270175" y="189991"/>
                </a:cubicBezTo>
                <a:cubicBezTo>
                  <a:pt x="272331" y="191069"/>
                  <a:pt x="272691" y="193586"/>
                  <a:pt x="271972" y="195744"/>
                </a:cubicBezTo>
                <a:lnTo>
                  <a:pt x="261908" y="213003"/>
                </a:lnTo>
                <a:cubicBezTo>
                  <a:pt x="260470" y="215520"/>
                  <a:pt x="257954" y="217318"/>
                  <a:pt x="255078" y="218396"/>
                </a:cubicBezTo>
                <a:cubicBezTo>
                  <a:pt x="252562" y="218756"/>
                  <a:pt x="249327" y="218396"/>
                  <a:pt x="246811" y="216958"/>
                </a:cubicBezTo>
                <a:lnTo>
                  <a:pt x="234591" y="210126"/>
                </a:lnTo>
                <a:cubicBezTo>
                  <a:pt x="230996" y="214441"/>
                  <a:pt x="227043" y="218396"/>
                  <a:pt x="222729" y="222351"/>
                </a:cubicBezTo>
                <a:lnTo>
                  <a:pt x="229559" y="234217"/>
                </a:lnTo>
                <a:cubicBezTo>
                  <a:pt x="230996" y="236734"/>
                  <a:pt x="231715" y="239970"/>
                  <a:pt x="230637" y="242847"/>
                </a:cubicBezTo>
                <a:cubicBezTo>
                  <a:pt x="229918" y="245364"/>
                  <a:pt x="228121" y="247881"/>
                  <a:pt x="225605" y="249319"/>
                </a:cubicBezTo>
                <a:lnTo>
                  <a:pt x="208352" y="259027"/>
                </a:lnTo>
                <a:cubicBezTo>
                  <a:pt x="203320" y="262263"/>
                  <a:pt x="196491" y="260465"/>
                  <a:pt x="193615" y="255072"/>
                </a:cubicBezTo>
                <a:lnTo>
                  <a:pt x="186427" y="243206"/>
                </a:lnTo>
                <a:cubicBezTo>
                  <a:pt x="181035" y="245004"/>
                  <a:pt x="175644" y="246442"/>
                  <a:pt x="170252" y="247521"/>
                </a:cubicBezTo>
                <a:lnTo>
                  <a:pt x="170252" y="261544"/>
                </a:lnTo>
                <a:cubicBezTo>
                  <a:pt x="170252" y="267297"/>
                  <a:pt x="164861" y="272690"/>
                  <a:pt x="159110" y="272690"/>
                </a:cubicBezTo>
                <a:lnTo>
                  <a:pt x="139341" y="272690"/>
                </a:lnTo>
                <a:cubicBezTo>
                  <a:pt x="133230" y="272690"/>
                  <a:pt x="128198" y="267297"/>
                  <a:pt x="128198" y="261544"/>
                </a:cubicBezTo>
                <a:lnTo>
                  <a:pt x="128198" y="247521"/>
                </a:lnTo>
                <a:cubicBezTo>
                  <a:pt x="122807" y="246442"/>
                  <a:pt x="117056" y="245004"/>
                  <a:pt x="111664" y="243206"/>
                </a:cubicBezTo>
                <a:lnTo>
                  <a:pt x="104835" y="255072"/>
                </a:lnTo>
                <a:cubicBezTo>
                  <a:pt x="101600" y="260465"/>
                  <a:pt x="94771" y="262263"/>
                  <a:pt x="89739" y="259027"/>
                </a:cubicBezTo>
                <a:lnTo>
                  <a:pt x="72845" y="249319"/>
                </a:lnTo>
                <a:cubicBezTo>
                  <a:pt x="70329" y="247881"/>
                  <a:pt x="68173" y="245364"/>
                  <a:pt x="67454" y="242847"/>
                </a:cubicBezTo>
                <a:cubicBezTo>
                  <a:pt x="66735" y="239970"/>
                  <a:pt x="67454" y="236734"/>
                  <a:pt x="68892" y="234217"/>
                </a:cubicBezTo>
                <a:lnTo>
                  <a:pt x="75721" y="222351"/>
                </a:lnTo>
                <a:cubicBezTo>
                  <a:pt x="71408" y="218396"/>
                  <a:pt x="67454" y="214441"/>
                  <a:pt x="63500" y="210126"/>
                </a:cubicBezTo>
                <a:lnTo>
                  <a:pt x="51279" y="216958"/>
                </a:lnTo>
                <a:cubicBezTo>
                  <a:pt x="49123" y="218396"/>
                  <a:pt x="45888" y="218756"/>
                  <a:pt x="43012" y="218396"/>
                </a:cubicBezTo>
                <a:cubicBezTo>
                  <a:pt x="40137" y="217318"/>
                  <a:pt x="37980" y="215520"/>
                  <a:pt x="36543" y="213003"/>
                </a:cubicBezTo>
                <a:lnTo>
                  <a:pt x="26478" y="195744"/>
                </a:lnTo>
                <a:cubicBezTo>
                  <a:pt x="25400" y="193586"/>
                  <a:pt x="26119" y="191069"/>
                  <a:pt x="28276" y="189991"/>
                </a:cubicBezTo>
                <a:close/>
                <a:moveTo>
                  <a:pt x="94365" y="167436"/>
                </a:moveTo>
                <a:cubicBezTo>
                  <a:pt x="93285" y="168874"/>
                  <a:pt x="91844" y="170312"/>
                  <a:pt x="90764" y="171390"/>
                </a:cubicBezTo>
                <a:cubicBezTo>
                  <a:pt x="102649" y="190800"/>
                  <a:pt x="123900" y="203739"/>
                  <a:pt x="148031" y="203739"/>
                </a:cubicBezTo>
                <a:cubicBezTo>
                  <a:pt x="172163" y="203739"/>
                  <a:pt x="193413" y="190800"/>
                  <a:pt x="205659" y="171390"/>
                </a:cubicBezTo>
                <a:cubicBezTo>
                  <a:pt x="204218" y="170312"/>
                  <a:pt x="202777" y="168874"/>
                  <a:pt x="202057" y="167436"/>
                </a:cubicBezTo>
                <a:lnTo>
                  <a:pt x="94365" y="167436"/>
                </a:lnTo>
                <a:close/>
                <a:moveTo>
                  <a:pt x="43514" y="120069"/>
                </a:moveTo>
                <a:lnTo>
                  <a:pt x="34028" y="136167"/>
                </a:lnTo>
                <a:lnTo>
                  <a:pt x="43514" y="152624"/>
                </a:lnTo>
                <a:lnTo>
                  <a:pt x="62850" y="152624"/>
                </a:lnTo>
                <a:lnTo>
                  <a:pt x="72335" y="136167"/>
                </a:lnTo>
                <a:lnTo>
                  <a:pt x="62850" y="120069"/>
                </a:lnTo>
                <a:lnTo>
                  <a:pt x="43514" y="120069"/>
                </a:lnTo>
                <a:close/>
                <a:moveTo>
                  <a:pt x="40960" y="111125"/>
                </a:moveTo>
                <a:lnTo>
                  <a:pt x="65403" y="111125"/>
                </a:lnTo>
                <a:cubicBezTo>
                  <a:pt x="67227" y="111125"/>
                  <a:pt x="68322" y="111841"/>
                  <a:pt x="69052" y="113271"/>
                </a:cubicBezTo>
                <a:lnTo>
                  <a:pt x="81456" y="134379"/>
                </a:lnTo>
                <a:cubicBezTo>
                  <a:pt x="82185" y="135452"/>
                  <a:pt x="82185" y="137241"/>
                  <a:pt x="81456" y="138671"/>
                </a:cubicBezTo>
                <a:lnTo>
                  <a:pt x="69052" y="159421"/>
                </a:lnTo>
                <a:cubicBezTo>
                  <a:pt x="68322" y="160494"/>
                  <a:pt x="67227" y="161567"/>
                  <a:pt x="65403" y="161567"/>
                </a:cubicBezTo>
                <a:lnTo>
                  <a:pt x="40960" y="161567"/>
                </a:lnTo>
                <a:cubicBezTo>
                  <a:pt x="39136" y="161567"/>
                  <a:pt x="37677" y="160494"/>
                  <a:pt x="36947" y="159421"/>
                </a:cubicBezTo>
                <a:lnTo>
                  <a:pt x="24543" y="138671"/>
                </a:lnTo>
                <a:cubicBezTo>
                  <a:pt x="23813" y="137241"/>
                  <a:pt x="23813" y="135452"/>
                  <a:pt x="24543" y="134379"/>
                </a:cubicBezTo>
                <a:lnTo>
                  <a:pt x="36947" y="113271"/>
                </a:lnTo>
                <a:cubicBezTo>
                  <a:pt x="37677" y="111841"/>
                  <a:pt x="39136" y="111125"/>
                  <a:pt x="40960" y="111125"/>
                </a:cubicBezTo>
                <a:close/>
                <a:moveTo>
                  <a:pt x="52225" y="92674"/>
                </a:moveTo>
                <a:cubicBezTo>
                  <a:pt x="28454" y="92674"/>
                  <a:pt x="8644" y="112443"/>
                  <a:pt x="8644" y="136166"/>
                </a:cubicBezTo>
                <a:cubicBezTo>
                  <a:pt x="8644" y="160248"/>
                  <a:pt x="28454" y="179657"/>
                  <a:pt x="52225" y="179657"/>
                </a:cubicBezTo>
                <a:cubicBezTo>
                  <a:pt x="66632" y="179657"/>
                  <a:pt x="79958" y="172468"/>
                  <a:pt x="88242" y="160607"/>
                </a:cubicBezTo>
                <a:cubicBezTo>
                  <a:pt x="88963" y="159529"/>
                  <a:pt x="90403" y="158810"/>
                  <a:pt x="91844" y="158810"/>
                </a:cubicBezTo>
                <a:lnTo>
                  <a:pt x="204218" y="158810"/>
                </a:lnTo>
                <a:cubicBezTo>
                  <a:pt x="205659" y="158810"/>
                  <a:pt x="207099" y="159529"/>
                  <a:pt x="207820" y="160607"/>
                </a:cubicBezTo>
                <a:cubicBezTo>
                  <a:pt x="216104" y="172468"/>
                  <a:pt x="229430" y="179657"/>
                  <a:pt x="243837" y="179657"/>
                </a:cubicBezTo>
                <a:cubicBezTo>
                  <a:pt x="258244" y="179657"/>
                  <a:pt x="271210" y="173187"/>
                  <a:pt x="279134" y="161685"/>
                </a:cubicBezTo>
                <a:lnTo>
                  <a:pt x="237714" y="161685"/>
                </a:lnTo>
                <a:cubicBezTo>
                  <a:pt x="236273" y="161685"/>
                  <a:pt x="234833" y="160607"/>
                  <a:pt x="233752" y="159529"/>
                </a:cubicBezTo>
                <a:lnTo>
                  <a:pt x="221866" y="138682"/>
                </a:lnTo>
                <a:cubicBezTo>
                  <a:pt x="220786" y="137244"/>
                  <a:pt x="220786" y="135447"/>
                  <a:pt x="221866" y="134368"/>
                </a:cubicBezTo>
                <a:lnTo>
                  <a:pt x="233752" y="113162"/>
                </a:lnTo>
                <a:cubicBezTo>
                  <a:pt x="234833" y="111724"/>
                  <a:pt x="236273" y="111005"/>
                  <a:pt x="237714" y="111005"/>
                </a:cubicBezTo>
                <a:lnTo>
                  <a:pt x="279134" y="111005"/>
                </a:lnTo>
                <a:cubicBezTo>
                  <a:pt x="271210" y="99863"/>
                  <a:pt x="258244" y="92674"/>
                  <a:pt x="243837" y="92674"/>
                </a:cubicBezTo>
                <a:cubicBezTo>
                  <a:pt x="229430" y="92674"/>
                  <a:pt x="216104" y="99863"/>
                  <a:pt x="207820" y="111724"/>
                </a:cubicBezTo>
                <a:cubicBezTo>
                  <a:pt x="207099" y="113162"/>
                  <a:pt x="205659" y="113881"/>
                  <a:pt x="204218" y="113881"/>
                </a:cubicBezTo>
                <a:lnTo>
                  <a:pt x="91844" y="113881"/>
                </a:lnTo>
                <a:cubicBezTo>
                  <a:pt x="90403" y="113881"/>
                  <a:pt x="88963" y="113162"/>
                  <a:pt x="88242" y="111724"/>
                </a:cubicBezTo>
                <a:cubicBezTo>
                  <a:pt x="79958" y="99863"/>
                  <a:pt x="66632" y="92674"/>
                  <a:pt x="52225" y="92674"/>
                </a:cubicBezTo>
                <a:close/>
                <a:moveTo>
                  <a:pt x="148031" y="68951"/>
                </a:moveTo>
                <a:cubicBezTo>
                  <a:pt x="123900" y="68951"/>
                  <a:pt x="102649" y="81891"/>
                  <a:pt x="90764" y="100941"/>
                </a:cubicBezTo>
                <a:cubicBezTo>
                  <a:pt x="92204" y="102379"/>
                  <a:pt x="93285" y="103457"/>
                  <a:pt x="94365" y="104895"/>
                </a:cubicBezTo>
                <a:lnTo>
                  <a:pt x="202057" y="104895"/>
                </a:lnTo>
                <a:cubicBezTo>
                  <a:pt x="202777" y="103457"/>
                  <a:pt x="204218" y="102379"/>
                  <a:pt x="205299" y="100941"/>
                </a:cubicBezTo>
                <a:cubicBezTo>
                  <a:pt x="193413" y="81891"/>
                  <a:pt x="172163" y="68951"/>
                  <a:pt x="148031" y="68951"/>
                </a:cubicBezTo>
                <a:close/>
                <a:moveTo>
                  <a:pt x="148031" y="60325"/>
                </a:moveTo>
                <a:cubicBezTo>
                  <a:pt x="174684" y="60325"/>
                  <a:pt x="198455" y="73984"/>
                  <a:pt x="212142" y="94831"/>
                </a:cubicBezTo>
                <a:cubicBezTo>
                  <a:pt x="221146" y="88001"/>
                  <a:pt x="231951" y="84048"/>
                  <a:pt x="243837" y="84048"/>
                </a:cubicBezTo>
                <a:cubicBezTo>
                  <a:pt x="264007" y="84048"/>
                  <a:pt x="282015" y="95190"/>
                  <a:pt x="291020" y="113521"/>
                </a:cubicBezTo>
                <a:cubicBezTo>
                  <a:pt x="291740" y="114600"/>
                  <a:pt x="291380" y="116397"/>
                  <a:pt x="290659" y="117834"/>
                </a:cubicBezTo>
                <a:cubicBezTo>
                  <a:pt x="289939" y="118913"/>
                  <a:pt x="288498" y="119991"/>
                  <a:pt x="287058" y="119991"/>
                </a:cubicBezTo>
                <a:lnTo>
                  <a:pt x="240235" y="119991"/>
                </a:lnTo>
                <a:lnTo>
                  <a:pt x="230871" y="136166"/>
                </a:lnTo>
                <a:lnTo>
                  <a:pt x="240235" y="152700"/>
                </a:lnTo>
                <a:lnTo>
                  <a:pt x="287058" y="152700"/>
                </a:lnTo>
                <a:cubicBezTo>
                  <a:pt x="288498" y="152700"/>
                  <a:pt x="289939" y="153418"/>
                  <a:pt x="290659" y="154856"/>
                </a:cubicBezTo>
                <a:cubicBezTo>
                  <a:pt x="291380" y="156294"/>
                  <a:pt x="291740" y="157732"/>
                  <a:pt x="291020" y="159169"/>
                </a:cubicBezTo>
                <a:cubicBezTo>
                  <a:pt x="282015" y="177141"/>
                  <a:pt x="264007" y="188643"/>
                  <a:pt x="243837" y="188643"/>
                </a:cubicBezTo>
                <a:cubicBezTo>
                  <a:pt x="231951" y="188643"/>
                  <a:pt x="221146" y="184689"/>
                  <a:pt x="212142" y="177860"/>
                </a:cubicBezTo>
                <a:cubicBezTo>
                  <a:pt x="198455" y="198707"/>
                  <a:pt x="174684" y="212366"/>
                  <a:pt x="148031" y="212366"/>
                </a:cubicBezTo>
                <a:cubicBezTo>
                  <a:pt x="121378" y="212366"/>
                  <a:pt x="97967" y="198707"/>
                  <a:pt x="84281" y="177860"/>
                </a:cubicBezTo>
                <a:cubicBezTo>
                  <a:pt x="75276" y="184689"/>
                  <a:pt x="64111" y="188643"/>
                  <a:pt x="52225" y="188643"/>
                </a:cubicBezTo>
                <a:cubicBezTo>
                  <a:pt x="23411" y="188643"/>
                  <a:pt x="0" y="164920"/>
                  <a:pt x="0" y="136166"/>
                </a:cubicBezTo>
                <a:cubicBezTo>
                  <a:pt x="0" y="107770"/>
                  <a:pt x="23411" y="84048"/>
                  <a:pt x="52225" y="84048"/>
                </a:cubicBezTo>
                <a:cubicBezTo>
                  <a:pt x="64111" y="84048"/>
                  <a:pt x="75276" y="88001"/>
                  <a:pt x="84281" y="95190"/>
                </a:cubicBezTo>
                <a:cubicBezTo>
                  <a:pt x="97967" y="73984"/>
                  <a:pt x="121378" y="60325"/>
                  <a:pt x="148031" y="60325"/>
                </a:cubicBezTo>
                <a:close/>
                <a:moveTo>
                  <a:pt x="139341" y="0"/>
                </a:moveTo>
                <a:lnTo>
                  <a:pt x="159110" y="0"/>
                </a:lnTo>
                <a:cubicBezTo>
                  <a:pt x="164861" y="0"/>
                  <a:pt x="170252" y="5034"/>
                  <a:pt x="170252" y="11146"/>
                </a:cubicBezTo>
                <a:lnTo>
                  <a:pt x="170252" y="25169"/>
                </a:lnTo>
                <a:cubicBezTo>
                  <a:pt x="175644" y="26248"/>
                  <a:pt x="181035" y="27686"/>
                  <a:pt x="186427" y="29484"/>
                </a:cubicBezTo>
                <a:lnTo>
                  <a:pt x="193615" y="17259"/>
                </a:lnTo>
                <a:cubicBezTo>
                  <a:pt x="195053" y="14742"/>
                  <a:pt x="197210" y="13304"/>
                  <a:pt x="200085" y="12225"/>
                </a:cubicBezTo>
                <a:cubicBezTo>
                  <a:pt x="202961" y="11506"/>
                  <a:pt x="205836" y="11865"/>
                  <a:pt x="208352" y="13304"/>
                </a:cubicBezTo>
                <a:lnTo>
                  <a:pt x="225605" y="23371"/>
                </a:lnTo>
                <a:cubicBezTo>
                  <a:pt x="228121" y="24810"/>
                  <a:pt x="229918" y="26967"/>
                  <a:pt x="230637" y="29843"/>
                </a:cubicBezTo>
                <a:cubicBezTo>
                  <a:pt x="231715" y="32720"/>
                  <a:pt x="230996" y="35596"/>
                  <a:pt x="229559" y="38473"/>
                </a:cubicBezTo>
                <a:lnTo>
                  <a:pt x="222729" y="50338"/>
                </a:lnTo>
                <a:cubicBezTo>
                  <a:pt x="227043" y="53934"/>
                  <a:pt x="230996" y="58249"/>
                  <a:pt x="234591" y="62563"/>
                </a:cubicBezTo>
                <a:lnTo>
                  <a:pt x="246811" y="55732"/>
                </a:lnTo>
                <a:cubicBezTo>
                  <a:pt x="249327" y="53934"/>
                  <a:pt x="252562" y="53574"/>
                  <a:pt x="255078" y="54653"/>
                </a:cubicBezTo>
                <a:cubicBezTo>
                  <a:pt x="257954" y="55013"/>
                  <a:pt x="260470" y="57170"/>
                  <a:pt x="261908" y="59687"/>
                </a:cubicBezTo>
                <a:lnTo>
                  <a:pt x="271972" y="76586"/>
                </a:lnTo>
                <a:cubicBezTo>
                  <a:pt x="272691" y="78744"/>
                  <a:pt x="272331" y="81261"/>
                  <a:pt x="270175" y="82699"/>
                </a:cubicBezTo>
                <a:cubicBezTo>
                  <a:pt x="269456" y="83058"/>
                  <a:pt x="268737" y="83418"/>
                  <a:pt x="268018" y="83418"/>
                </a:cubicBezTo>
                <a:cubicBezTo>
                  <a:pt x="266221" y="83418"/>
                  <a:pt x="264783" y="82339"/>
                  <a:pt x="264064" y="81261"/>
                </a:cubicBezTo>
                <a:lnTo>
                  <a:pt x="254360" y="64002"/>
                </a:lnTo>
                <a:cubicBezTo>
                  <a:pt x="254000" y="63283"/>
                  <a:pt x="253281" y="62923"/>
                  <a:pt x="252922" y="62923"/>
                </a:cubicBezTo>
                <a:cubicBezTo>
                  <a:pt x="252562" y="62563"/>
                  <a:pt x="251844" y="62563"/>
                  <a:pt x="251484" y="63283"/>
                </a:cubicBezTo>
                <a:lnTo>
                  <a:pt x="236028" y="71912"/>
                </a:lnTo>
                <a:cubicBezTo>
                  <a:pt x="234231" y="72991"/>
                  <a:pt x="231715" y="72631"/>
                  <a:pt x="230277" y="71193"/>
                </a:cubicBezTo>
                <a:cubicBezTo>
                  <a:pt x="225605" y="65080"/>
                  <a:pt x="220213" y="59687"/>
                  <a:pt x="214103" y="55013"/>
                </a:cubicBezTo>
                <a:cubicBezTo>
                  <a:pt x="212665" y="53574"/>
                  <a:pt x="211946" y="51057"/>
                  <a:pt x="213025" y="49260"/>
                </a:cubicBezTo>
                <a:lnTo>
                  <a:pt x="222011" y="33799"/>
                </a:lnTo>
                <a:cubicBezTo>
                  <a:pt x="222729" y="32720"/>
                  <a:pt x="222011" y="31641"/>
                  <a:pt x="221292" y="30922"/>
                </a:cubicBezTo>
                <a:lnTo>
                  <a:pt x="204039" y="20854"/>
                </a:lnTo>
                <a:cubicBezTo>
                  <a:pt x="202961" y="20495"/>
                  <a:pt x="201882" y="20854"/>
                  <a:pt x="201163" y="21933"/>
                </a:cubicBezTo>
                <a:lnTo>
                  <a:pt x="192177" y="37035"/>
                </a:lnTo>
                <a:cubicBezTo>
                  <a:pt x="191099" y="39192"/>
                  <a:pt x="188943" y="39911"/>
                  <a:pt x="187145" y="39192"/>
                </a:cubicBezTo>
                <a:cubicBezTo>
                  <a:pt x="179957" y="36316"/>
                  <a:pt x="172409" y="34158"/>
                  <a:pt x="164861" y="33079"/>
                </a:cubicBezTo>
                <a:cubicBezTo>
                  <a:pt x="162704" y="32720"/>
                  <a:pt x="161266" y="30922"/>
                  <a:pt x="161266" y="28765"/>
                </a:cubicBezTo>
                <a:lnTo>
                  <a:pt x="161266" y="11146"/>
                </a:lnTo>
                <a:cubicBezTo>
                  <a:pt x="161266" y="10068"/>
                  <a:pt x="160188" y="8989"/>
                  <a:pt x="159110" y="8989"/>
                </a:cubicBezTo>
                <a:lnTo>
                  <a:pt x="139341" y="8989"/>
                </a:lnTo>
                <a:cubicBezTo>
                  <a:pt x="137903" y="8989"/>
                  <a:pt x="137184" y="10068"/>
                  <a:pt x="137184" y="11146"/>
                </a:cubicBezTo>
                <a:lnTo>
                  <a:pt x="137184" y="28765"/>
                </a:lnTo>
                <a:cubicBezTo>
                  <a:pt x="137184" y="30922"/>
                  <a:pt x="135387" y="32720"/>
                  <a:pt x="133230" y="33079"/>
                </a:cubicBezTo>
                <a:cubicBezTo>
                  <a:pt x="126042" y="34158"/>
                  <a:pt x="118494" y="36316"/>
                  <a:pt x="111305" y="39192"/>
                </a:cubicBezTo>
                <a:cubicBezTo>
                  <a:pt x="109148" y="39911"/>
                  <a:pt x="106992" y="39192"/>
                  <a:pt x="105913" y="37035"/>
                </a:cubicBezTo>
                <a:lnTo>
                  <a:pt x="96927" y="21933"/>
                </a:lnTo>
                <a:cubicBezTo>
                  <a:pt x="96568" y="20854"/>
                  <a:pt x="95130" y="20495"/>
                  <a:pt x="94052" y="20854"/>
                </a:cubicBezTo>
                <a:lnTo>
                  <a:pt x="76799" y="30922"/>
                </a:lnTo>
                <a:cubicBezTo>
                  <a:pt x="76440" y="31282"/>
                  <a:pt x="76080" y="32001"/>
                  <a:pt x="76080" y="32001"/>
                </a:cubicBezTo>
                <a:cubicBezTo>
                  <a:pt x="76080" y="32720"/>
                  <a:pt x="76080" y="33079"/>
                  <a:pt x="76440" y="33799"/>
                </a:cubicBezTo>
                <a:lnTo>
                  <a:pt x="85426" y="49260"/>
                </a:lnTo>
                <a:cubicBezTo>
                  <a:pt x="86144" y="51057"/>
                  <a:pt x="85785" y="53574"/>
                  <a:pt x="83988" y="55013"/>
                </a:cubicBezTo>
                <a:cubicBezTo>
                  <a:pt x="78237" y="59687"/>
                  <a:pt x="72845" y="65080"/>
                  <a:pt x="67813" y="71193"/>
                </a:cubicBezTo>
                <a:cubicBezTo>
                  <a:pt x="66735" y="72631"/>
                  <a:pt x="64219" y="72991"/>
                  <a:pt x="62422" y="71912"/>
                </a:cubicBezTo>
                <a:lnTo>
                  <a:pt x="46966" y="63283"/>
                </a:lnTo>
                <a:cubicBezTo>
                  <a:pt x="46247" y="62563"/>
                  <a:pt x="45888" y="62563"/>
                  <a:pt x="45528" y="62923"/>
                </a:cubicBezTo>
                <a:cubicBezTo>
                  <a:pt x="45169" y="62923"/>
                  <a:pt x="44450" y="63283"/>
                  <a:pt x="44091" y="64002"/>
                </a:cubicBezTo>
                <a:lnTo>
                  <a:pt x="34027" y="81261"/>
                </a:lnTo>
                <a:cubicBezTo>
                  <a:pt x="32948" y="83418"/>
                  <a:pt x="30432" y="83777"/>
                  <a:pt x="28276" y="82699"/>
                </a:cubicBezTo>
                <a:cubicBezTo>
                  <a:pt x="26119" y="81261"/>
                  <a:pt x="25400" y="78744"/>
                  <a:pt x="26478" y="76586"/>
                </a:cubicBezTo>
                <a:lnTo>
                  <a:pt x="36543" y="59687"/>
                </a:lnTo>
                <a:cubicBezTo>
                  <a:pt x="37980" y="57170"/>
                  <a:pt x="40137" y="55013"/>
                  <a:pt x="43012" y="54653"/>
                </a:cubicBezTo>
                <a:cubicBezTo>
                  <a:pt x="45888" y="53574"/>
                  <a:pt x="49123" y="53934"/>
                  <a:pt x="51279" y="55732"/>
                </a:cubicBezTo>
                <a:lnTo>
                  <a:pt x="63500" y="62563"/>
                </a:lnTo>
                <a:cubicBezTo>
                  <a:pt x="67454" y="58249"/>
                  <a:pt x="71408" y="53934"/>
                  <a:pt x="75721" y="50338"/>
                </a:cubicBezTo>
                <a:lnTo>
                  <a:pt x="68892" y="38473"/>
                </a:lnTo>
                <a:cubicBezTo>
                  <a:pt x="67454" y="35596"/>
                  <a:pt x="66735" y="32720"/>
                  <a:pt x="67454" y="29843"/>
                </a:cubicBezTo>
                <a:cubicBezTo>
                  <a:pt x="68173" y="26967"/>
                  <a:pt x="70329" y="24810"/>
                  <a:pt x="72845" y="23371"/>
                </a:cubicBezTo>
                <a:lnTo>
                  <a:pt x="89739" y="13304"/>
                </a:lnTo>
                <a:cubicBezTo>
                  <a:pt x="92255" y="11865"/>
                  <a:pt x="95490" y="11506"/>
                  <a:pt x="98006" y="12225"/>
                </a:cubicBezTo>
                <a:cubicBezTo>
                  <a:pt x="100881" y="13304"/>
                  <a:pt x="103397" y="14742"/>
                  <a:pt x="104835" y="17259"/>
                </a:cubicBezTo>
                <a:lnTo>
                  <a:pt x="111664" y="29484"/>
                </a:lnTo>
                <a:cubicBezTo>
                  <a:pt x="117056" y="27686"/>
                  <a:pt x="122807" y="26248"/>
                  <a:pt x="128198" y="25169"/>
                </a:cubicBezTo>
                <a:lnTo>
                  <a:pt x="128198" y="11146"/>
                </a:lnTo>
                <a:cubicBezTo>
                  <a:pt x="128198" y="5034"/>
                  <a:pt x="133230" y="0"/>
                  <a:pt x="139341" y="0"/>
                </a:cubicBezTo>
                <a:close/>
              </a:path>
            </a:pathLst>
          </a:custGeom>
          <a:solidFill>
            <a:schemeClr val="accent2"/>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1400">
              <a:solidFill>
                <a:schemeClr val="dk1"/>
              </a:solidFill>
              <a:latin typeface="Lato Light"/>
              <a:ea typeface="Lato Light"/>
              <a:cs typeface="Lato Light"/>
              <a:sym typeface="Lato Light"/>
            </a:endParaRPr>
          </a:p>
        </p:txBody>
      </p:sp>
      <p:sp>
        <p:nvSpPr>
          <p:cNvPr id="273" name="Google Shape;273;p45"/>
          <p:cNvSpPr/>
          <p:nvPr/>
        </p:nvSpPr>
        <p:spPr>
          <a:xfrm>
            <a:off x="4937150" y="1859450"/>
            <a:ext cx="24725" cy="2189504"/>
          </a:xfrm>
          <a:custGeom>
            <a:rect b="b" l="l" r="r" t="t"/>
            <a:pathLst>
              <a:path extrusionOk="0" h="4261" w="51">
                <a:moveTo>
                  <a:pt x="0" y="0"/>
                </a:moveTo>
                <a:lnTo>
                  <a:pt x="50" y="0"/>
                </a:lnTo>
                <a:lnTo>
                  <a:pt x="50" y="4260"/>
                </a:lnTo>
                <a:lnTo>
                  <a:pt x="0" y="4260"/>
                </a:lnTo>
                <a:lnTo>
                  <a:pt x="0" y="0"/>
                </a:lnTo>
              </a:path>
            </a:pathLst>
          </a:custGeom>
          <a:solidFill>
            <a:schemeClr val="accent3"/>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4" name="Google Shape;274;p45"/>
          <p:cNvSpPr/>
          <p:nvPr/>
        </p:nvSpPr>
        <p:spPr>
          <a:xfrm>
            <a:off x="4880500" y="4048951"/>
            <a:ext cx="138064" cy="138026"/>
          </a:xfrm>
          <a:custGeom>
            <a:rect b="b" l="l" r="r" t="t"/>
            <a:pathLst>
              <a:path extrusionOk="0" h="296" w="297">
                <a:moveTo>
                  <a:pt x="148" y="0"/>
                </a:moveTo>
                <a:lnTo>
                  <a:pt x="148" y="0"/>
                </a:lnTo>
                <a:cubicBezTo>
                  <a:pt x="230" y="0"/>
                  <a:pt x="296" y="66"/>
                  <a:pt x="296" y="147"/>
                </a:cubicBezTo>
                <a:lnTo>
                  <a:pt x="296" y="147"/>
                </a:lnTo>
                <a:cubicBezTo>
                  <a:pt x="296" y="229"/>
                  <a:pt x="230" y="295"/>
                  <a:pt x="148" y="295"/>
                </a:cubicBezTo>
                <a:lnTo>
                  <a:pt x="148" y="295"/>
                </a:lnTo>
                <a:cubicBezTo>
                  <a:pt x="66" y="295"/>
                  <a:pt x="0" y="229"/>
                  <a:pt x="0" y="147"/>
                </a:cubicBezTo>
                <a:lnTo>
                  <a:pt x="0" y="147"/>
                </a:lnTo>
                <a:cubicBezTo>
                  <a:pt x="0" y="66"/>
                  <a:pt x="66" y="0"/>
                  <a:pt x="148" y="0"/>
                </a:cubicBezTo>
              </a:path>
            </a:pathLst>
          </a:custGeom>
          <a:solidFill>
            <a:schemeClr val="accent3"/>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5" name="Google Shape;275;p45"/>
          <p:cNvSpPr/>
          <p:nvPr/>
        </p:nvSpPr>
        <p:spPr>
          <a:xfrm>
            <a:off x="4416148" y="1390009"/>
            <a:ext cx="1070848" cy="1070573"/>
          </a:xfrm>
          <a:custGeom>
            <a:rect b="b" l="l" r="r" t="t"/>
            <a:pathLst>
              <a:path extrusionOk="0" h="2753" w="2753">
                <a:moveTo>
                  <a:pt x="1376" y="0"/>
                </a:moveTo>
                <a:lnTo>
                  <a:pt x="1376" y="0"/>
                </a:lnTo>
                <a:cubicBezTo>
                  <a:pt x="2136" y="0"/>
                  <a:pt x="2752" y="616"/>
                  <a:pt x="2752" y="1376"/>
                </a:cubicBezTo>
                <a:lnTo>
                  <a:pt x="2752" y="1376"/>
                </a:lnTo>
                <a:cubicBezTo>
                  <a:pt x="2752" y="2136"/>
                  <a:pt x="2136" y="2752"/>
                  <a:pt x="1376" y="2752"/>
                </a:cubicBezTo>
                <a:lnTo>
                  <a:pt x="1376" y="2752"/>
                </a:lnTo>
                <a:cubicBezTo>
                  <a:pt x="616" y="2752"/>
                  <a:pt x="0" y="2136"/>
                  <a:pt x="0" y="1376"/>
                </a:cubicBezTo>
                <a:lnTo>
                  <a:pt x="0" y="1376"/>
                </a:lnTo>
                <a:cubicBezTo>
                  <a:pt x="0" y="616"/>
                  <a:pt x="616" y="0"/>
                  <a:pt x="1376" y="0"/>
                </a:cubicBezTo>
              </a:path>
            </a:pathLst>
          </a:custGeom>
          <a:solidFill>
            <a:schemeClr val="accent3"/>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6" name="Google Shape;276;p45"/>
          <p:cNvSpPr/>
          <p:nvPr/>
        </p:nvSpPr>
        <p:spPr>
          <a:xfrm>
            <a:off x="4575746" y="1549566"/>
            <a:ext cx="753367" cy="753173"/>
          </a:xfrm>
          <a:custGeom>
            <a:rect b="b" l="l" r="r" t="t"/>
            <a:pathLst>
              <a:path extrusionOk="0" h="1937" w="1937">
                <a:moveTo>
                  <a:pt x="968" y="0"/>
                </a:moveTo>
                <a:lnTo>
                  <a:pt x="968" y="0"/>
                </a:lnTo>
                <a:cubicBezTo>
                  <a:pt x="1503" y="0"/>
                  <a:pt x="1936" y="433"/>
                  <a:pt x="1936" y="968"/>
                </a:cubicBezTo>
                <a:lnTo>
                  <a:pt x="1936" y="968"/>
                </a:lnTo>
                <a:cubicBezTo>
                  <a:pt x="1936" y="1502"/>
                  <a:pt x="1503" y="1936"/>
                  <a:pt x="968" y="1936"/>
                </a:cubicBezTo>
                <a:lnTo>
                  <a:pt x="968" y="1936"/>
                </a:lnTo>
                <a:cubicBezTo>
                  <a:pt x="433" y="1936"/>
                  <a:pt x="0" y="1502"/>
                  <a:pt x="0" y="968"/>
                </a:cubicBezTo>
                <a:lnTo>
                  <a:pt x="0" y="968"/>
                </a:lnTo>
                <a:cubicBezTo>
                  <a:pt x="0" y="433"/>
                  <a:pt x="433" y="0"/>
                  <a:pt x="968" y="0"/>
                </a:cubicBezTo>
              </a:path>
            </a:pathLst>
          </a:custGeom>
          <a:solidFill>
            <a:schemeClr val="l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7" name="Google Shape;277;p45"/>
          <p:cNvSpPr/>
          <p:nvPr/>
        </p:nvSpPr>
        <p:spPr>
          <a:xfrm>
            <a:off x="6843195" y="2143353"/>
            <a:ext cx="24728" cy="1990057"/>
          </a:xfrm>
          <a:custGeom>
            <a:rect b="b" l="l" r="r" t="t"/>
            <a:pathLst>
              <a:path extrusionOk="0" h="4261" w="51">
                <a:moveTo>
                  <a:pt x="0" y="0"/>
                </a:moveTo>
                <a:lnTo>
                  <a:pt x="50" y="0"/>
                </a:lnTo>
                <a:lnTo>
                  <a:pt x="50" y="4260"/>
                </a:lnTo>
                <a:lnTo>
                  <a:pt x="0" y="4260"/>
                </a:lnTo>
                <a:lnTo>
                  <a:pt x="0" y="0"/>
                </a:lnTo>
              </a:path>
            </a:pathLst>
          </a:custGeom>
          <a:solidFill>
            <a:schemeClr val="accent4"/>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8" name="Google Shape;278;p45"/>
          <p:cNvSpPr/>
          <p:nvPr/>
        </p:nvSpPr>
        <p:spPr>
          <a:xfrm>
            <a:off x="6787559" y="4048951"/>
            <a:ext cx="138064" cy="138026"/>
          </a:xfrm>
          <a:custGeom>
            <a:rect b="b" l="l" r="r" t="t"/>
            <a:pathLst>
              <a:path extrusionOk="0" h="296" w="297">
                <a:moveTo>
                  <a:pt x="148" y="0"/>
                </a:moveTo>
                <a:lnTo>
                  <a:pt x="148" y="0"/>
                </a:lnTo>
                <a:cubicBezTo>
                  <a:pt x="230" y="0"/>
                  <a:pt x="296" y="66"/>
                  <a:pt x="296" y="147"/>
                </a:cubicBezTo>
                <a:lnTo>
                  <a:pt x="296" y="147"/>
                </a:lnTo>
                <a:cubicBezTo>
                  <a:pt x="296" y="229"/>
                  <a:pt x="230" y="295"/>
                  <a:pt x="148" y="295"/>
                </a:cubicBezTo>
                <a:lnTo>
                  <a:pt x="148" y="295"/>
                </a:lnTo>
                <a:cubicBezTo>
                  <a:pt x="66" y="295"/>
                  <a:pt x="0" y="229"/>
                  <a:pt x="0" y="147"/>
                </a:cubicBezTo>
                <a:lnTo>
                  <a:pt x="0" y="147"/>
                </a:lnTo>
                <a:cubicBezTo>
                  <a:pt x="0" y="66"/>
                  <a:pt x="66" y="0"/>
                  <a:pt x="148" y="0"/>
                </a:cubicBezTo>
              </a:path>
            </a:pathLst>
          </a:custGeom>
          <a:solidFill>
            <a:schemeClr val="accent4"/>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79" name="Google Shape;279;p45"/>
          <p:cNvSpPr/>
          <p:nvPr/>
        </p:nvSpPr>
        <p:spPr>
          <a:xfrm>
            <a:off x="6322194" y="1125286"/>
            <a:ext cx="1070848" cy="1070573"/>
          </a:xfrm>
          <a:custGeom>
            <a:rect b="b" l="l" r="r" t="t"/>
            <a:pathLst>
              <a:path extrusionOk="0" h="2753" w="2753">
                <a:moveTo>
                  <a:pt x="1376" y="0"/>
                </a:moveTo>
                <a:lnTo>
                  <a:pt x="1376" y="0"/>
                </a:lnTo>
                <a:cubicBezTo>
                  <a:pt x="2136" y="0"/>
                  <a:pt x="2752" y="616"/>
                  <a:pt x="2752" y="1376"/>
                </a:cubicBezTo>
                <a:lnTo>
                  <a:pt x="2752" y="1376"/>
                </a:lnTo>
                <a:cubicBezTo>
                  <a:pt x="2752" y="2136"/>
                  <a:pt x="2136" y="2752"/>
                  <a:pt x="1376" y="2752"/>
                </a:cubicBezTo>
                <a:lnTo>
                  <a:pt x="1376" y="2752"/>
                </a:lnTo>
                <a:cubicBezTo>
                  <a:pt x="616" y="2752"/>
                  <a:pt x="0" y="2136"/>
                  <a:pt x="0" y="1376"/>
                </a:cubicBezTo>
                <a:lnTo>
                  <a:pt x="0" y="1376"/>
                </a:lnTo>
                <a:cubicBezTo>
                  <a:pt x="0" y="616"/>
                  <a:pt x="616" y="0"/>
                  <a:pt x="1376" y="0"/>
                </a:cubicBezTo>
              </a:path>
            </a:pathLst>
          </a:custGeom>
          <a:solidFill>
            <a:schemeClr val="accent4"/>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80" name="Google Shape;280;p45"/>
          <p:cNvSpPr/>
          <p:nvPr/>
        </p:nvSpPr>
        <p:spPr>
          <a:xfrm>
            <a:off x="6481793" y="1284843"/>
            <a:ext cx="753367" cy="753173"/>
          </a:xfrm>
          <a:custGeom>
            <a:rect b="b" l="l" r="r" t="t"/>
            <a:pathLst>
              <a:path extrusionOk="0" h="1937" w="1937">
                <a:moveTo>
                  <a:pt x="968" y="0"/>
                </a:moveTo>
                <a:lnTo>
                  <a:pt x="968" y="0"/>
                </a:lnTo>
                <a:cubicBezTo>
                  <a:pt x="1503" y="0"/>
                  <a:pt x="1936" y="433"/>
                  <a:pt x="1936" y="968"/>
                </a:cubicBezTo>
                <a:lnTo>
                  <a:pt x="1936" y="968"/>
                </a:lnTo>
                <a:cubicBezTo>
                  <a:pt x="1936" y="1502"/>
                  <a:pt x="1503" y="1936"/>
                  <a:pt x="968" y="1936"/>
                </a:cubicBezTo>
                <a:lnTo>
                  <a:pt x="968" y="1936"/>
                </a:lnTo>
                <a:cubicBezTo>
                  <a:pt x="433" y="1936"/>
                  <a:pt x="0" y="1502"/>
                  <a:pt x="0" y="968"/>
                </a:cubicBezTo>
                <a:lnTo>
                  <a:pt x="0" y="968"/>
                </a:lnTo>
                <a:cubicBezTo>
                  <a:pt x="0" y="433"/>
                  <a:pt x="433" y="0"/>
                  <a:pt x="968" y="0"/>
                </a:cubicBezTo>
              </a:path>
            </a:pathLst>
          </a:custGeom>
          <a:solidFill>
            <a:schemeClr val="lt1"/>
          </a:solidFill>
          <a:ln>
            <a:noFill/>
          </a:ln>
        </p:spPr>
        <p:txBody>
          <a:bodyPr anchorCtr="0" anchor="ctr" bIns="17150" lIns="34300" spcFirstLastPara="1" rIns="34300" wrap="square" tIns="17150">
            <a:noAutofit/>
          </a:bodyPr>
          <a:lstStyle/>
          <a:p>
            <a:pPr indent="0" lvl="0" marL="0" marR="0" rtl="0" algn="l">
              <a:spcBef>
                <a:spcPts val="0"/>
              </a:spcBef>
              <a:spcAft>
                <a:spcPts val="0"/>
              </a:spcAft>
              <a:buNone/>
            </a:pPr>
            <a:r>
              <a:t/>
            </a:r>
            <a:endParaRPr sz="2400">
              <a:solidFill>
                <a:schemeClr val="dk1"/>
              </a:solidFill>
              <a:latin typeface="Lato Light"/>
              <a:ea typeface="Lato Light"/>
              <a:cs typeface="Lato Light"/>
              <a:sym typeface="Lato Light"/>
            </a:endParaRPr>
          </a:p>
        </p:txBody>
      </p:sp>
      <p:sp>
        <p:nvSpPr>
          <p:cNvPr id="281" name="Google Shape;281;p45"/>
          <p:cNvSpPr txBox="1"/>
          <p:nvPr/>
        </p:nvSpPr>
        <p:spPr>
          <a:xfrm>
            <a:off x="1156450" y="3083100"/>
            <a:ext cx="1834800" cy="1050600"/>
          </a:xfrm>
          <a:prstGeom prst="rect">
            <a:avLst/>
          </a:prstGeom>
          <a:noFill/>
          <a:ln>
            <a:noFill/>
          </a:ln>
        </p:spPr>
        <p:txBody>
          <a:bodyPr anchorCtr="0" anchor="t" bIns="17150" lIns="34300" spcFirstLastPara="1" rIns="34300" wrap="square" tIns="17150">
            <a:spAutoFit/>
          </a:bodyPr>
          <a:lstStyle/>
          <a:p>
            <a:pPr indent="0" lvl="0" marL="0" marR="0" rtl="0" algn="l">
              <a:lnSpc>
                <a:spcPct val="100000"/>
              </a:lnSpc>
              <a:spcBef>
                <a:spcPts val="0"/>
              </a:spcBef>
              <a:spcAft>
                <a:spcPts val="0"/>
              </a:spcAft>
              <a:buClr>
                <a:schemeClr val="dk1"/>
              </a:buClr>
              <a:buSzPts val="900"/>
              <a:buFont typeface="Arial"/>
              <a:buNone/>
            </a:pPr>
            <a:r>
              <a:rPr lang="en" sz="1100">
                <a:solidFill>
                  <a:schemeClr val="dk1"/>
                </a:solidFill>
                <a:latin typeface="Lato"/>
                <a:ea typeface="Lato"/>
                <a:cs typeface="Lato"/>
                <a:sym typeface="Lato"/>
              </a:rPr>
              <a:t>Landing page with list of rewards and reward ladder</a:t>
            </a:r>
            <a:endParaRPr sz="11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900"/>
              <a:buFont typeface="Arial"/>
              <a:buNone/>
            </a:pPr>
            <a:r>
              <a:rPr lang="en" sz="1100">
                <a:solidFill>
                  <a:schemeClr val="dk1"/>
                </a:solidFill>
                <a:latin typeface="Lato"/>
                <a:ea typeface="Lato"/>
                <a:cs typeface="Lato"/>
                <a:sym typeface="Lato"/>
              </a:rPr>
              <a:t>Metric: signups</a:t>
            </a:r>
            <a:endParaRPr sz="11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900"/>
              <a:buFont typeface="Arial"/>
              <a:buNone/>
            </a:pPr>
            <a:r>
              <a:rPr lang="en" sz="1100">
                <a:solidFill>
                  <a:schemeClr val="dk1"/>
                </a:solidFill>
                <a:latin typeface="Lato"/>
                <a:ea typeface="Lato"/>
                <a:cs typeface="Lato"/>
                <a:sym typeface="Lato"/>
              </a:rPr>
              <a:t>Communication: Email, Linkedin, Application</a:t>
            </a:r>
            <a:endParaRPr sz="1100">
              <a:solidFill>
                <a:schemeClr val="dk1"/>
              </a:solidFill>
              <a:latin typeface="Lato"/>
              <a:ea typeface="Lato"/>
              <a:cs typeface="Lato"/>
              <a:sym typeface="Lato"/>
            </a:endParaRPr>
          </a:p>
          <a:p>
            <a:pPr indent="0" lvl="0" marL="0" marR="0" rtl="0" algn="l">
              <a:lnSpc>
                <a:spcPct val="100000"/>
              </a:lnSpc>
              <a:spcBef>
                <a:spcPts val="0"/>
              </a:spcBef>
              <a:spcAft>
                <a:spcPts val="0"/>
              </a:spcAft>
              <a:buClr>
                <a:schemeClr val="dk1"/>
              </a:buClr>
              <a:buSzPts val="900"/>
              <a:buFont typeface="Arial"/>
              <a:buNone/>
            </a:pPr>
            <a:r>
              <a:t/>
            </a:r>
            <a:endParaRPr sz="1100">
              <a:solidFill>
                <a:schemeClr val="dk1"/>
              </a:solidFill>
              <a:latin typeface="Lato"/>
              <a:ea typeface="Lato"/>
              <a:cs typeface="Lato"/>
              <a:sym typeface="Lato"/>
            </a:endParaRPr>
          </a:p>
        </p:txBody>
      </p:sp>
      <p:sp>
        <p:nvSpPr>
          <p:cNvPr id="282" name="Google Shape;282;p45"/>
          <p:cNvSpPr txBox="1"/>
          <p:nvPr/>
        </p:nvSpPr>
        <p:spPr>
          <a:xfrm>
            <a:off x="1156440" y="2652275"/>
            <a:ext cx="1682400" cy="404100"/>
          </a:xfrm>
          <a:prstGeom prst="rect">
            <a:avLst/>
          </a:prstGeom>
          <a:noFill/>
          <a:ln>
            <a:noFill/>
          </a:ln>
        </p:spPr>
        <p:txBody>
          <a:bodyPr anchorCtr="0" anchor="b" bIns="17150" lIns="34300" spcFirstLastPara="1" rIns="34300" wrap="square" tIns="17150">
            <a:spAutoFit/>
          </a:bodyPr>
          <a:lstStyle/>
          <a:p>
            <a:pPr indent="0" lvl="0" marL="0" marR="0" rtl="0" algn="l">
              <a:spcBef>
                <a:spcPts val="0"/>
              </a:spcBef>
              <a:spcAft>
                <a:spcPts val="0"/>
              </a:spcAft>
              <a:buNone/>
            </a:pPr>
            <a:r>
              <a:rPr b="1" lang="en" sz="1200">
                <a:solidFill>
                  <a:schemeClr val="dk2"/>
                </a:solidFill>
                <a:latin typeface="Lato"/>
                <a:ea typeface="Lato"/>
                <a:cs typeface="Lato"/>
                <a:sym typeface="Lato"/>
              </a:rPr>
              <a:t>Fake-door desirability validation. 1 month</a:t>
            </a:r>
            <a:endParaRPr b="1" sz="1200">
              <a:solidFill>
                <a:schemeClr val="dk2"/>
              </a:solidFill>
              <a:latin typeface="Lato"/>
              <a:ea typeface="Lato"/>
              <a:cs typeface="Lato"/>
              <a:sym typeface="Lato"/>
            </a:endParaRPr>
          </a:p>
        </p:txBody>
      </p:sp>
      <p:sp>
        <p:nvSpPr>
          <p:cNvPr id="283" name="Google Shape;283;p45"/>
          <p:cNvSpPr txBox="1"/>
          <p:nvPr/>
        </p:nvSpPr>
        <p:spPr>
          <a:xfrm>
            <a:off x="6976078" y="2728625"/>
            <a:ext cx="1984200" cy="1372200"/>
          </a:xfrm>
          <a:prstGeom prst="rect">
            <a:avLst/>
          </a:prstGeom>
          <a:noFill/>
          <a:ln>
            <a:noFill/>
          </a:ln>
        </p:spPr>
        <p:txBody>
          <a:bodyPr anchorCtr="0" anchor="t" bIns="17150" lIns="34300" spcFirstLastPara="1" rIns="34300" wrap="square" tIns="17150">
            <a:spAutoFit/>
          </a:bodyPr>
          <a:lstStyle/>
          <a:p>
            <a:pPr indent="0" lvl="0" marL="0" rtl="0" algn="l">
              <a:lnSpc>
                <a:spcPct val="115000"/>
              </a:lnSpc>
              <a:spcBef>
                <a:spcPts val="1200"/>
              </a:spcBef>
              <a:spcAft>
                <a:spcPts val="1200"/>
              </a:spcAft>
              <a:buNone/>
            </a:pPr>
            <a:r>
              <a:rPr lang="en" sz="1100">
                <a:solidFill>
                  <a:schemeClr val="dk1"/>
                </a:solidFill>
                <a:latin typeface="Lato"/>
                <a:ea typeface="Lato"/>
                <a:cs typeface="Lato"/>
                <a:sym typeface="Lato"/>
              </a:rPr>
              <a:t>Expand Spa/lounge partnerships</a:t>
            </a:r>
            <a:br>
              <a:rPr lang="en" sz="1100">
                <a:solidFill>
                  <a:schemeClr val="dk1"/>
                </a:solidFill>
                <a:latin typeface="Lato"/>
                <a:ea typeface="Lato"/>
                <a:cs typeface="Lato"/>
                <a:sym typeface="Lato"/>
              </a:rPr>
            </a:br>
            <a:r>
              <a:rPr lang="en" sz="1100">
                <a:solidFill>
                  <a:schemeClr val="dk1"/>
                </a:solidFill>
                <a:latin typeface="Lato"/>
                <a:ea typeface="Lato"/>
                <a:cs typeface="Lato"/>
                <a:sym typeface="Lato"/>
              </a:rPr>
              <a:t>Tier system for ongoing progression</a:t>
            </a:r>
            <a:br>
              <a:rPr lang="en" sz="1100">
                <a:solidFill>
                  <a:schemeClr val="dk1"/>
                </a:solidFill>
                <a:latin typeface="Lato"/>
                <a:ea typeface="Lato"/>
                <a:cs typeface="Lato"/>
                <a:sym typeface="Lato"/>
              </a:rPr>
            </a:br>
            <a:r>
              <a:rPr lang="en" sz="1100">
                <a:solidFill>
                  <a:schemeClr val="dk1"/>
                </a:solidFill>
                <a:latin typeface="Lato"/>
                <a:ea typeface="Lato"/>
                <a:cs typeface="Lato"/>
                <a:sym typeface="Lato"/>
              </a:rPr>
              <a:t>Track: Amount of bookings per user per month</a:t>
            </a:r>
            <a:br>
              <a:rPr lang="en" sz="1100">
                <a:solidFill>
                  <a:schemeClr val="dk1"/>
                </a:solidFill>
                <a:latin typeface="Lato"/>
                <a:ea typeface="Lato"/>
                <a:cs typeface="Lato"/>
                <a:sym typeface="Lato"/>
              </a:rPr>
            </a:br>
            <a:r>
              <a:rPr lang="en" sz="1100">
                <a:solidFill>
                  <a:schemeClr val="dk1"/>
                </a:solidFill>
                <a:latin typeface="Lato"/>
                <a:ea typeface="Lato"/>
                <a:cs typeface="Lato"/>
                <a:sym typeface="Lato"/>
              </a:rPr>
              <a:t>CAC vs LTV</a:t>
            </a:r>
            <a:endParaRPr sz="1100">
              <a:solidFill>
                <a:schemeClr val="dk1"/>
              </a:solidFill>
              <a:latin typeface="Lato"/>
              <a:ea typeface="Lato"/>
              <a:cs typeface="Lato"/>
              <a:sym typeface="Lato"/>
            </a:endParaRPr>
          </a:p>
        </p:txBody>
      </p:sp>
      <p:sp>
        <p:nvSpPr>
          <p:cNvPr id="284" name="Google Shape;284;p45"/>
          <p:cNvSpPr txBox="1"/>
          <p:nvPr/>
        </p:nvSpPr>
        <p:spPr>
          <a:xfrm>
            <a:off x="6976080" y="2451763"/>
            <a:ext cx="1749900" cy="219300"/>
          </a:xfrm>
          <a:prstGeom prst="rect">
            <a:avLst/>
          </a:prstGeom>
          <a:noFill/>
          <a:ln>
            <a:noFill/>
          </a:ln>
        </p:spPr>
        <p:txBody>
          <a:bodyPr anchorCtr="0" anchor="b" bIns="17150" lIns="34300" spcFirstLastPara="1" rIns="34300" wrap="square" tIns="17150">
            <a:spAutoFit/>
          </a:bodyPr>
          <a:lstStyle/>
          <a:p>
            <a:pPr indent="0" lvl="0" marL="0" marR="0" rtl="0" algn="l">
              <a:spcBef>
                <a:spcPts val="0"/>
              </a:spcBef>
              <a:spcAft>
                <a:spcPts val="0"/>
              </a:spcAft>
              <a:buNone/>
            </a:pPr>
            <a:r>
              <a:rPr b="1" lang="en" sz="1200">
                <a:solidFill>
                  <a:schemeClr val="dk2"/>
                </a:solidFill>
                <a:latin typeface="Lato"/>
                <a:ea typeface="Lato"/>
                <a:cs typeface="Lato"/>
                <a:sym typeface="Lato"/>
              </a:rPr>
              <a:t>Optimisation and scale</a:t>
            </a:r>
            <a:endParaRPr sz="500">
              <a:latin typeface="Lato"/>
              <a:ea typeface="Lato"/>
              <a:cs typeface="Lato"/>
              <a:sym typeface="Lato"/>
            </a:endParaRPr>
          </a:p>
        </p:txBody>
      </p:sp>
      <p:grpSp>
        <p:nvGrpSpPr>
          <p:cNvPr id="285" name="Google Shape;285;p45"/>
          <p:cNvGrpSpPr/>
          <p:nvPr/>
        </p:nvGrpSpPr>
        <p:grpSpPr>
          <a:xfrm>
            <a:off x="934906" y="1703121"/>
            <a:ext cx="358752" cy="360366"/>
            <a:chOff x="7127606" y="3373696"/>
            <a:chExt cx="358752" cy="360366"/>
          </a:xfrm>
        </p:grpSpPr>
        <p:sp>
          <p:nvSpPr>
            <p:cNvPr id="286" name="Google Shape;286;p45"/>
            <p:cNvSpPr/>
            <p:nvPr/>
          </p:nvSpPr>
          <p:spPr>
            <a:xfrm>
              <a:off x="7237316" y="3409740"/>
              <a:ext cx="139365" cy="137751"/>
            </a:xfrm>
            <a:custGeom>
              <a:rect b="b" l="l" r="r" t="t"/>
              <a:pathLst>
                <a:path extrusionOk="0" h="4097" w="4145">
                  <a:moveTo>
                    <a:pt x="2049" y="334"/>
                  </a:moveTo>
                  <a:cubicBezTo>
                    <a:pt x="3001" y="334"/>
                    <a:pt x="3787" y="1096"/>
                    <a:pt x="3787" y="2049"/>
                  </a:cubicBezTo>
                  <a:cubicBezTo>
                    <a:pt x="3787" y="3001"/>
                    <a:pt x="3001" y="3787"/>
                    <a:pt x="2049" y="3787"/>
                  </a:cubicBezTo>
                  <a:cubicBezTo>
                    <a:pt x="1096" y="3787"/>
                    <a:pt x="334" y="3001"/>
                    <a:pt x="334" y="2049"/>
                  </a:cubicBezTo>
                  <a:cubicBezTo>
                    <a:pt x="334" y="1096"/>
                    <a:pt x="1096" y="334"/>
                    <a:pt x="2049" y="334"/>
                  </a:cubicBezTo>
                  <a:close/>
                  <a:moveTo>
                    <a:pt x="2049" y="1"/>
                  </a:moveTo>
                  <a:cubicBezTo>
                    <a:pt x="929" y="1"/>
                    <a:pt x="0" y="929"/>
                    <a:pt x="0" y="2049"/>
                  </a:cubicBezTo>
                  <a:cubicBezTo>
                    <a:pt x="0" y="3192"/>
                    <a:pt x="929" y="4097"/>
                    <a:pt x="2049" y="4097"/>
                  </a:cubicBezTo>
                  <a:cubicBezTo>
                    <a:pt x="3192" y="4097"/>
                    <a:pt x="4120" y="3168"/>
                    <a:pt x="4120" y="2049"/>
                  </a:cubicBezTo>
                  <a:cubicBezTo>
                    <a:pt x="4144" y="929"/>
                    <a:pt x="3215" y="1"/>
                    <a:pt x="20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5"/>
            <p:cNvSpPr/>
            <p:nvPr/>
          </p:nvSpPr>
          <p:spPr>
            <a:xfrm>
              <a:off x="7127606" y="3373696"/>
              <a:ext cx="358752" cy="360366"/>
            </a:xfrm>
            <a:custGeom>
              <a:rect b="b" l="l" r="r" t="t"/>
              <a:pathLst>
                <a:path extrusionOk="0" h="10718" w="10670">
                  <a:moveTo>
                    <a:pt x="5312" y="382"/>
                  </a:moveTo>
                  <a:cubicBezTo>
                    <a:pt x="6931" y="382"/>
                    <a:pt x="8241" y="1692"/>
                    <a:pt x="8241" y="3311"/>
                  </a:cubicBezTo>
                  <a:cubicBezTo>
                    <a:pt x="8241" y="3954"/>
                    <a:pt x="7693" y="5050"/>
                    <a:pt x="6717" y="6431"/>
                  </a:cubicBezTo>
                  <a:cubicBezTo>
                    <a:pt x="6145" y="7241"/>
                    <a:pt x="5550" y="7907"/>
                    <a:pt x="5312" y="8217"/>
                  </a:cubicBezTo>
                  <a:cubicBezTo>
                    <a:pt x="5073" y="7907"/>
                    <a:pt x="4478" y="7241"/>
                    <a:pt x="3906" y="6431"/>
                  </a:cubicBezTo>
                  <a:cubicBezTo>
                    <a:pt x="2906" y="5026"/>
                    <a:pt x="2406" y="3954"/>
                    <a:pt x="2406" y="3311"/>
                  </a:cubicBezTo>
                  <a:cubicBezTo>
                    <a:pt x="2406" y="1692"/>
                    <a:pt x="3716" y="382"/>
                    <a:pt x="5312" y="382"/>
                  </a:cubicBezTo>
                  <a:close/>
                  <a:moveTo>
                    <a:pt x="8003" y="7264"/>
                  </a:moveTo>
                  <a:lnTo>
                    <a:pt x="10122" y="9670"/>
                  </a:lnTo>
                  <a:lnTo>
                    <a:pt x="525" y="9670"/>
                  </a:lnTo>
                  <a:lnTo>
                    <a:pt x="2644" y="7264"/>
                  </a:lnTo>
                  <a:lnTo>
                    <a:pt x="4097" y="7264"/>
                  </a:lnTo>
                  <a:cubicBezTo>
                    <a:pt x="4669" y="8003"/>
                    <a:pt x="5145" y="8550"/>
                    <a:pt x="5192" y="8598"/>
                  </a:cubicBezTo>
                  <a:cubicBezTo>
                    <a:pt x="5231" y="8636"/>
                    <a:pt x="5283" y="8661"/>
                    <a:pt x="5330" y="8661"/>
                  </a:cubicBezTo>
                  <a:cubicBezTo>
                    <a:pt x="5371" y="8661"/>
                    <a:pt x="5408" y="8642"/>
                    <a:pt x="5431" y="8598"/>
                  </a:cubicBezTo>
                  <a:cubicBezTo>
                    <a:pt x="5502" y="8550"/>
                    <a:pt x="5978" y="8003"/>
                    <a:pt x="6550" y="7264"/>
                  </a:cubicBezTo>
                  <a:close/>
                  <a:moveTo>
                    <a:pt x="10313" y="10003"/>
                  </a:moveTo>
                  <a:lnTo>
                    <a:pt x="10313" y="10360"/>
                  </a:lnTo>
                  <a:lnTo>
                    <a:pt x="311" y="10360"/>
                  </a:lnTo>
                  <a:lnTo>
                    <a:pt x="311" y="10003"/>
                  </a:lnTo>
                  <a:close/>
                  <a:moveTo>
                    <a:pt x="5312" y="1"/>
                  </a:moveTo>
                  <a:cubicBezTo>
                    <a:pt x="3502" y="1"/>
                    <a:pt x="2049" y="1454"/>
                    <a:pt x="2049" y="3264"/>
                  </a:cubicBezTo>
                  <a:cubicBezTo>
                    <a:pt x="2049" y="4264"/>
                    <a:pt x="3002" y="5740"/>
                    <a:pt x="3835" y="6907"/>
                  </a:cubicBezTo>
                  <a:lnTo>
                    <a:pt x="2549" y="6907"/>
                  </a:lnTo>
                  <a:cubicBezTo>
                    <a:pt x="2501" y="6907"/>
                    <a:pt x="2454" y="6931"/>
                    <a:pt x="2430" y="6955"/>
                  </a:cubicBezTo>
                  <a:lnTo>
                    <a:pt x="25" y="9741"/>
                  </a:lnTo>
                  <a:cubicBezTo>
                    <a:pt x="1" y="9765"/>
                    <a:pt x="1" y="9789"/>
                    <a:pt x="1" y="9860"/>
                  </a:cubicBezTo>
                  <a:lnTo>
                    <a:pt x="1" y="10527"/>
                  </a:lnTo>
                  <a:cubicBezTo>
                    <a:pt x="1" y="10622"/>
                    <a:pt x="72" y="10717"/>
                    <a:pt x="168" y="10717"/>
                  </a:cubicBezTo>
                  <a:lnTo>
                    <a:pt x="10503" y="10717"/>
                  </a:lnTo>
                  <a:cubicBezTo>
                    <a:pt x="10598" y="10717"/>
                    <a:pt x="10670" y="10622"/>
                    <a:pt x="10670" y="10527"/>
                  </a:cubicBezTo>
                  <a:lnTo>
                    <a:pt x="10670" y="9860"/>
                  </a:lnTo>
                  <a:cubicBezTo>
                    <a:pt x="10670" y="9789"/>
                    <a:pt x="10646" y="9765"/>
                    <a:pt x="10622" y="9741"/>
                  </a:cubicBezTo>
                  <a:lnTo>
                    <a:pt x="8217" y="6955"/>
                  </a:lnTo>
                  <a:cubicBezTo>
                    <a:pt x="8169" y="6931"/>
                    <a:pt x="8122" y="6907"/>
                    <a:pt x="8098" y="6907"/>
                  </a:cubicBezTo>
                  <a:lnTo>
                    <a:pt x="6812" y="6907"/>
                  </a:lnTo>
                  <a:cubicBezTo>
                    <a:pt x="7669" y="5740"/>
                    <a:pt x="8598" y="4264"/>
                    <a:pt x="8598" y="3264"/>
                  </a:cubicBezTo>
                  <a:cubicBezTo>
                    <a:pt x="8598" y="1454"/>
                    <a:pt x="7145" y="1"/>
                    <a:pt x="53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5"/>
            <p:cNvSpPr/>
            <p:nvPr/>
          </p:nvSpPr>
          <p:spPr>
            <a:xfrm>
              <a:off x="7260549" y="3432973"/>
              <a:ext cx="92092" cy="92092"/>
            </a:xfrm>
            <a:custGeom>
              <a:rect b="b" l="l" r="r" t="t"/>
              <a:pathLst>
                <a:path extrusionOk="0" h="2739" w="2739">
                  <a:moveTo>
                    <a:pt x="1358" y="858"/>
                  </a:moveTo>
                  <a:cubicBezTo>
                    <a:pt x="1453" y="858"/>
                    <a:pt x="1548" y="953"/>
                    <a:pt x="1548" y="1024"/>
                  </a:cubicBezTo>
                  <a:cubicBezTo>
                    <a:pt x="1548" y="1120"/>
                    <a:pt x="1453" y="1215"/>
                    <a:pt x="1358" y="1215"/>
                  </a:cubicBezTo>
                  <a:cubicBezTo>
                    <a:pt x="1286" y="1191"/>
                    <a:pt x="1191" y="1120"/>
                    <a:pt x="1191" y="1024"/>
                  </a:cubicBezTo>
                  <a:cubicBezTo>
                    <a:pt x="1191" y="953"/>
                    <a:pt x="1286" y="858"/>
                    <a:pt x="1358" y="858"/>
                  </a:cubicBezTo>
                  <a:close/>
                  <a:moveTo>
                    <a:pt x="1371" y="315"/>
                  </a:moveTo>
                  <a:cubicBezTo>
                    <a:pt x="1694" y="315"/>
                    <a:pt x="2014" y="466"/>
                    <a:pt x="2215" y="738"/>
                  </a:cubicBezTo>
                  <a:cubicBezTo>
                    <a:pt x="2477" y="1120"/>
                    <a:pt x="2477" y="1620"/>
                    <a:pt x="2191" y="1977"/>
                  </a:cubicBezTo>
                  <a:cubicBezTo>
                    <a:pt x="2120" y="1715"/>
                    <a:pt x="1929" y="1548"/>
                    <a:pt x="1691" y="1429"/>
                  </a:cubicBezTo>
                  <a:cubicBezTo>
                    <a:pt x="1929" y="1239"/>
                    <a:pt x="1953" y="905"/>
                    <a:pt x="1786" y="715"/>
                  </a:cubicBezTo>
                  <a:cubicBezTo>
                    <a:pt x="1675" y="576"/>
                    <a:pt x="1516" y="502"/>
                    <a:pt x="1364" y="502"/>
                  </a:cubicBezTo>
                  <a:cubicBezTo>
                    <a:pt x="1256" y="502"/>
                    <a:pt x="1151" y="540"/>
                    <a:pt x="1072" y="619"/>
                  </a:cubicBezTo>
                  <a:cubicBezTo>
                    <a:pt x="834" y="786"/>
                    <a:pt x="810" y="1120"/>
                    <a:pt x="977" y="1334"/>
                  </a:cubicBezTo>
                  <a:lnTo>
                    <a:pt x="1072" y="1429"/>
                  </a:lnTo>
                  <a:cubicBezTo>
                    <a:pt x="834" y="1501"/>
                    <a:pt x="619" y="1715"/>
                    <a:pt x="548" y="1977"/>
                  </a:cubicBezTo>
                  <a:cubicBezTo>
                    <a:pt x="191" y="1548"/>
                    <a:pt x="334" y="881"/>
                    <a:pt x="762" y="524"/>
                  </a:cubicBezTo>
                  <a:cubicBezTo>
                    <a:pt x="943" y="382"/>
                    <a:pt x="1157" y="315"/>
                    <a:pt x="1371" y="315"/>
                  </a:cubicBezTo>
                  <a:close/>
                  <a:moveTo>
                    <a:pt x="1358" y="1715"/>
                  </a:moveTo>
                  <a:cubicBezTo>
                    <a:pt x="1667" y="1715"/>
                    <a:pt x="1881" y="1953"/>
                    <a:pt x="1881" y="2215"/>
                  </a:cubicBezTo>
                  <a:lnTo>
                    <a:pt x="1881" y="2263"/>
                  </a:lnTo>
                  <a:lnTo>
                    <a:pt x="1905" y="2263"/>
                  </a:lnTo>
                  <a:cubicBezTo>
                    <a:pt x="1739" y="2346"/>
                    <a:pt x="1560" y="2388"/>
                    <a:pt x="1381" y="2388"/>
                  </a:cubicBezTo>
                  <a:cubicBezTo>
                    <a:pt x="1203" y="2388"/>
                    <a:pt x="1024" y="2346"/>
                    <a:pt x="857" y="2263"/>
                  </a:cubicBezTo>
                  <a:lnTo>
                    <a:pt x="857" y="2215"/>
                  </a:lnTo>
                  <a:cubicBezTo>
                    <a:pt x="857" y="1929"/>
                    <a:pt x="1096" y="1715"/>
                    <a:pt x="1358" y="1715"/>
                  </a:cubicBezTo>
                  <a:close/>
                  <a:moveTo>
                    <a:pt x="1358" y="0"/>
                  </a:moveTo>
                  <a:cubicBezTo>
                    <a:pt x="595" y="0"/>
                    <a:pt x="0" y="619"/>
                    <a:pt x="0" y="1358"/>
                  </a:cubicBezTo>
                  <a:cubicBezTo>
                    <a:pt x="0" y="2144"/>
                    <a:pt x="619" y="2739"/>
                    <a:pt x="1358" y="2739"/>
                  </a:cubicBezTo>
                  <a:cubicBezTo>
                    <a:pt x="2143" y="2739"/>
                    <a:pt x="2739" y="2096"/>
                    <a:pt x="2739" y="1358"/>
                  </a:cubicBezTo>
                  <a:cubicBezTo>
                    <a:pt x="2739" y="619"/>
                    <a:pt x="2143" y="0"/>
                    <a:pt x="135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 name="Google Shape;289;p45"/>
          <p:cNvGrpSpPr/>
          <p:nvPr/>
        </p:nvGrpSpPr>
        <p:grpSpPr>
          <a:xfrm>
            <a:off x="6678703" y="1509813"/>
            <a:ext cx="359525" cy="313294"/>
            <a:chOff x="4009690" y="3963838"/>
            <a:chExt cx="359525" cy="313294"/>
          </a:xfrm>
        </p:grpSpPr>
        <p:sp>
          <p:nvSpPr>
            <p:cNvPr id="290" name="Google Shape;290;p45"/>
            <p:cNvSpPr/>
            <p:nvPr/>
          </p:nvSpPr>
          <p:spPr>
            <a:xfrm>
              <a:off x="4223462" y="4109054"/>
              <a:ext cx="70506" cy="93605"/>
            </a:xfrm>
            <a:custGeom>
              <a:rect b="b" l="l" r="r" t="t"/>
              <a:pathLst>
                <a:path extrusionOk="0" h="2784" w="2097">
                  <a:moveTo>
                    <a:pt x="1049" y="682"/>
                  </a:moveTo>
                  <a:lnTo>
                    <a:pt x="1358" y="1563"/>
                  </a:lnTo>
                  <a:lnTo>
                    <a:pt x="763" y="1563"/>
                  </a:lnTo>
                  <a:lnTo>
                    <a:pt x="1049" y="682"/>
                  </a:lnTo>
                  <a:close/>
                  <a:moveTo>
                    <a:pt x="1084" y="0"/>
                  </a:moveTo>
                  <a:cubicBezTo>
                    <a:pt x="1065" y="0"/>
                    <a:pt x="1046" y="5"/>
                    <a:pt x="1025" y="15"/>
                  </a:cubicBezTo>
                  <a:cubicBezTo>
                    <a:pt x="953" y="39"/>
                    <a:pt x="930" y="63"/>
                    <a:pt x="906" y="134"/>
                  </a:cubicBezTo>
                  <a:lnTo>
                    <a:pt x="48" y="2540"/>
                  </a:lnTo>
                  <a:cubicBezTo>
                    <a:pt x="1" y="2635"/>
                    <a:pt x="48" y="2706"/>
                    <a:pt x="120" y="2754"/>
                  </a:cubicBezTo>
                  <a:cubicBezTo>
                    <a:pt x="142" y="2760"/>
                    <a:pt x="165" y="2763"/>
                    <a:pt x="186" y="2763"/>
                  </a:cubicBezTo>
                  <a:cubicBezTo>
                    <a:pt x="256" y="2763"/>
                    <a:pt x="316" y="2732"/>
                    <a:pt x="334" y="2659"/>
                  </a:cubicBezTo>
                  <a:lnTo>
                    <a:pt x="596" y="1921"/>
                  </a:lnTo>
                  <a:lnTo>
                    <a:pt x="1477" y="1921"/>
                  </a:lnTo>
                  <a:lnTo>
                    <a:pt x="1739" y="2659"/>
                  </a:lnTo>
                  <a:cubicBezTo>
                    <a:pt x="1759" y="2738"/>
                    <a:pt x="1828" y="2784"/>
                    <a:pt x="1905" y="2784"/>
                  </a:cubicBezTo>
                  <a:cubicBezTo>
                    <a:pt x="1921" y="2784"/>
                    <a:pt x="1937" y="2782"/>
                    <a:pt x="1954" y="2778"/>
                  </a:cubicBezTo>
                  <a:cubicBezTo>
                    <a:pt x="2025" y="2730"/>
                    <a:pt x="2096" y="2659"/>
                    <a:pt x="2073" y="2564"/>
                  </a:cubicBezTo>
                  <a:lnTo>
                    <a:pt x="1239" y="134"/>
                  </a:lnTo>
                  <a:cubicBezTo>
                    <a:pt x="1202" y="60"/>
                    <a:pt x="1150" y="0"/>
                    <a:pt x="1084" y="0"/>
                  </a:cubicBezTo>
                  <a:close/>
                </a:path>
              </a:pathLst>
            </a:custGeom>
            <a:solidFill>
              <a:srgbClr val="858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5"/>
            <p:cNvSpPr/>
            <p:nvPr/>
          </p:nvSpPr>
          <p:spPr>
            <a:xfrm>
              <a:off x="4009690" y="3963838"/>
              <a:ext cx="359525" cy="313294"/>
            </a:xfrm>
            <a:custGeom>
              <a:rect b="b" l="l" r="r" t="t"/>
              <a:pathLst>
                <a:path extrusionOk="0" h="9318" w="10693">
                  <a:moveTo>
                    <a:pt x="5859" y="357"/>
                  </a:moveTo>
                  <a:cubicBezTo>
                    <a:pt x="6240" y="357"/>
                    <a:pt x="6549" y="667"/>
                    <a:pt x="6549" y="1048"/>
                  </a:cubicBezTo>
                  <a:lnTo>
                    <a:pt x="6549" y="4501"/>
                  </a:lnTo>
                  <a:cubicBezTo>
                    <a:pt x="6549" y="4882"/>
                    <a:pt x="6240" y="5192"/>
                    <a:pt x="5859" y="5192"/>
                  </a:cubicBezTo>
                  <a:lnTo>
                    <a:pt x="2072" y="5192"/>
                  </a:lnTo>
                  <a:cubicBezTo>
                    <a:pt x="2025" y="5192"/>
                    <a:pt x="2001" y="5215"/>
                    <a:pt x="1953" y="5239"/>
                  </a:cubicBezTo>
                  <a:lnTo>
                    <a:pt x="1215" y="6001"/>
                  </a:lnTo>
                  <a:lnTo>
                    <a:pt x="1215" y="5358"/>
                  </a:lnTo>
                  <a:cubicBezTo>
                    <a:pt x="1215" y="5263"/>
                    <a:pt x="1120" y="5192"/>
                    <a:pt x="1048" y="5192"/>
                  </a:cubicBezTo>
                  <a:cubicBezTo>
                    <a:pt x="643" y="5192"/>
                    <a:pt x="358" y="4882"/>
                    <a:pt x="358" y="4501"/>
                  </a:cubicBezTo>
                  <a:lnTo>
                    <a:pt x="358" y="1048"/>
                  </a:lnTo>
                  <a:cubicBezTo>
                    <a:pt x="358" y="667"/>
                    <a:pt x="643" y="357"/>
                    <a:pt x="1048" y="357"/>
                  </a:cubicBezTo>
                  <a:close/>
                  <a:moveTo>
                    <a:pt x="9693" y="3144"/>
                  </a:moveTo>
                  <a:cubicBezTo>
                    <a:pt x="10098" y="3144"/>
                    <a:pt x="10383" y="3429"/>
                    <a:pt x="10383" y="3810"/>
                  </a:cubicBezTo>
                  <a:lnTo>
                    <a:pt x="10383" y="7264"/>
                  </a:lnTo>
                  <a:lnTo>
                    <a:pt x="10360" y="7264"/>
                  </a:lnTo>
                  <a:cubicBezTo>
                    <a:pt x="10360" y="7668"/>
                    <a:pt x="10050" y="7954"/>
                    <a:pt x="9669" y="7954"/>
                  </a:cubicBezTo>
                  <a:cubicBezTo>
                    <a:pt x="9574" y="7954"/>
                    <a:pt x="9502" y="8049"/>
                    <a:pt x="9502" y="8145"/>
                  </a:cubicBezTo>
                  <a:lnTo>
                    <a:pt x="9502" y="8764"/>
                  </a:lnTo>
                  <a:lnTo>
                    <a:pt x="8740" y="8026"/>
                  </a:lnTo>
                  <a:cubicBezTo>
                    <a:pt x="8716" y="7978"/>
                    <a:pt x="8669" y="7954"/>
                    <a:pt x="8621" y="7954"/>
                  </a:cubicBezTo>
                  <a:lnTo>
                    <a:pt x="4858" y="7954"/>
                  </a:lnTo>
                  <a:cubicBezTo>
                    <a:pt x="4454" y="7954"/>
                    <a:pt x="4168" y="7668"/>
                    <a:pt x="4168" y="7264"/>
                  </a:cubicBezTo>
                  <a:lnTo>
                    <a:pt x="4168" y="5549"/>
                  </a:lnTo>
                  <a:lnTo>
                    <a:pt x="5882" y="5549"/>
                  </a:lnTo>
                  <a:cubicBezTo>
                    <a:pt x="6454" y="5549"/>
                    <a:pt x="6930" y="5073"/>
                    <a:pt x="6930" y="4501"/>
                  </a:cubicBezTo>
                  <a:lnTo>
                    <a:pt x="6930" y="3144"/>
                  </a:lnTo>
                  <a:close/>
                  <a:moveTo>
                    <a:pt x="1048" y="0"/>
                  </a:moveTo>
                  <a:cubicBezTo>
                    <a:pt x="477" y="0"/>
                    <a:pt x="0" y="476"/>
                    <a:pt x="0" y="1048"/>
                  </a:cubicBezTo>
                  <a:lnTo>
                    <a:pt x="0" y="4501"/>
                  </a:lnTo>
                  <a:cubicBezTo>
                    <a:pt x="0" y="5001"/>
                    <a:pt x="358" y="5430"/>
                    <a:pt x="858" y="5525"/>
                  </a:cubicBezTo>
                  <a:lnTo>
                    <a:pt x="858" y="6382"/>
                  </a:lnTo>
                  <a:cubicBezTo>
                    <a:pt x="858" y="6478"/>
                    <a:pt x="953" y="6549"/>
                    <a:pt x="1048" y="6549"/>
                  </a:cubicBezTo>
                  <a:cubicBezTo>
                    <a:pt x="1096" y="6549"/>
                    <a:pt x="1120" y="6525"/>
                    <a:pt x="1167" y="6501"/>
                  </a:cubicBezTo>
                  <a:lnTo>
                    <a:pt x="2144" y="5525"/>
                  </a:lnTo>
                  <a:lnTo>
                    <a:pt x="3787" y="5525"/>
                  </a:lnTo>
                  <a:lnTo>
                    <a:pt x="3787" y="7240"/>
                  </a:lnTo>
                  <a:cubicBezTo>
                    <a:pt x="3787" y="7811"/>
                    <a:pt x="4263" y="8288"/>
                    <a:pt x="4811" y="8288"/>
                  </a:cubicBezTo>
                  <a:lnTo>
                    <a:pt x="8550" y="8288"/>
                  </a:lnTo>
                  <a:lnTo>
                    <a:pt x="9526" y="9264"/>
                  </a:lnTo>
                  <a:cubicBezTo>
                    <a:pt x="9550" y="9300"/>
                    <a:pt x="9592" y="9318"/>
                    <a:pt x="9636" y="9318"/>
                  </a:cubicBezTo>
                  <a:cubicBezTo>
                    <a:pt x="9681" y="9318"/>
                    <a:pt x="9729" y="9300"/>
                    <a:pt x="9764" y="9264"/>
                  </a:cubicBezTo>
                  <a:cubicBezTo>
                    <a:pt x="9788" y="9240"/>
                    <a:pt x="9812" y="9169"/>
                    <a:pt x="9812" y="9145"/>
                  </a:cubicBezTo>
                  <a:lnTo>
                    <a:pt x="9812" y="8288"/>
                  </a:lnTo>
                  <a:cubicBezTo>
                    <a:pt x="10336" y="8192"/>
                    <a:pt x="10693" y="7787"/>
                    <a:pt x="10693" y="7264"/>
                  </a:cubicBezTo>
                  <a:lnTo>
                    <a:pt x="10693" y="3810"/>
                  </a:lnTo>
                  <a:cubicBezTo>
                    <a:pt x="10693" y="3263"/>
                    <a:pt x="10241" y="2786"/>
                    <a:pt x="9669" y="2786"/>
                  </a:cubicBezTo>
                  <a:lnTo>
                    <a:pt x="6907" y="2786"/>
                  </a:lnTo>
                  <a:lnTo>
                    <a:pt x="6907" y="1048"/>
                  </a:lnTo>
                  <a:cubicBezTo>
                    <a:pt x="6907" y="476"/>
                    <a:pt x="6430" y="0"/>
                    <a:pt x="5859" y="0"/>
                  </a:cubicBezTo>
                  <a:close/>
                </a:path>
              </a:pathLst>
            </a:custGeom>
            <a:solidFill>
              <a:srgbClr val="858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5"/>
            <p:cNvSpPr/>
            <p:nvPr/>
          </p:nvSpPr>
          <p:spPr>
            <a:xfrm>
              <a:off x="4068126" y="4010271"/>
              <a:ext cx="104936" cy="93706"/>
            </a:xfrm>
            <a:custGeom>
              <a:rect b="b" l="l" r="r" t="t"/>
              <a:pathLst>
                <a:path extrusionOk="0" h="2787" w="3121">
                  <a:moveTo>
                    <a:pt x="1930" y="882"/>
                  </a:moveTo>
                  <a:cubicBezTo>
                    <a:pt x="1858" y="1215"/>
                    <a:pt x="1739" y="1572"/>
                    <a:pt x="1573" y="1834"/>
                  </a:cubicBezTo>
                  <a:cubicBezTo>
                    <a:pt x="1358" y="1548"/>
                    <a:pt x="1239" y="1215"/>
                    <a:pt x="1239" y="882"/>
                  </a:cubicBezTo>
                  <a:close/>
                  <a:moveTo>
                    <a:pt x="1573" y="0"/>
                  </a:moveTo>
                  <a:cubicBezTo>
                    <a:pt x="1477" y="0"/>
                    <a:pt x="1382" y="96"/>
                    <a:pt x="1382" y="167"/>
                  </a:cubicBezTo>
                  <a:lnTo>
                    <a:pt x="1382" y="524"/>
                  </a:lnTo>
                  <a:lnTo>
                    <a:pt x="191" y="524"/>
                  </a:lnTo>
                  <a:cubicBezTo>
                    <a:pt x="96" y="524"/>
                    <a:pt x="1" y="620"/>
                    <a:pt x="1" y="715"/>
                  </a:cubicBezTo>
                  <a:cubicBezTo>
                    <a:pt x="1" y="810"/>
                    <a:pt x="96" y="882"/>
                    <a:pt x="191" y="882"/>
                  </a:cubicBezTo>
                  <a:lnTo>
                    <a:pt x="882" y="882"/>
                  </a:lnTo>
                  <a:cubicBezTo>
                    <a:pt x="906" y="1358"/>
                    <a:pt x="1072" y="1786"/>
                    <a:pt x="1334" y="2120"/>
                  </a:cubicBezTo>
                  <a:cubicBezTo>
                    <a:pt x="1072" y="2310"/>
                    <a:pt x="810" y="2429"/>
                    <a:pt x="525" y="2429"/>
                  </a:cubicBezTo>
                  <a:cubicBezTo>
                    <a:pt x="429" y="2429"/>
                    <a:pt x="334" y="2525"/>
                    <a:pt x="334" y="2620"/>
                  </a:cubicBezTo>
                  <a:cubicBezTo>
                    <a:pt x="334" y="2715"/>
                    <a:pt x="429" y="2787"/>
                    <a:pt x="525" y="2787"/>
                  </a:cubicBezTo>
                  <a:cubicBezTo>
                    <a:pt x="906" y="2787"/>
                    <a:pt x="1263" y="2644"/>
                    <a:pt x="1573" y="2382"/>
                  </a:cubicBezTo>
                  <a:cubicBezTo>
                    <a:pt x="1858" y="2644"/>
                    <a:pt x="2216" y="2787"/>
                    <a:pt x="2597" y="2787"/>
                  </a:cubicBezTo>
                  <a:cubicBezTo>
                    <a:pt x="2692" y="2787"/>
                    <a:pt x="2787" y="2715"/>
                    <a:pt x="2787" y="2620"/>
                  </a:cubicBezTo>
                  <a:cubicBezTo>
                    <a:pt x="2787" y="2525"/>
                    <a:pt x="2692" y="2429"/>
                    <a:pt x="2597" y="2429"/>
                  </a:cubicBezTo>
                  <a:cubicBezTo>
                    <a:pt x="2311" y="2429"/>
                    <a:pt x="2049" y="2310"/>
                    <a:pt x="1811" y="2120"/>
                  </a:cubicBezTo>
                  <a:cubicBezTo>
                    <a:pt x="2049" y="1786"/>
                    <a:pt x="2216" y="1358"/>
                    <a:pt x="2239" y="882"/>
                  </a:cubicBezTo>
                  <a:lnTo>
                    <a:pt x="2930" y="882"/>
                  </a:lnTo>
                  <a:cubicBezTo>
                    <a:pt x="3025" y="882"/>
                    <a:pt x="3120" y="810"/>
                    <a:pt x="3120" y="715"/>
                  </a:cubicBezTo>
                  <a:cubicBezTo>
                    <a:pt x="3120" y="620"/>
                    <a:pt x="3025" y="524"/>
                    <a:pt x="2930" y="524"/>
                  </a:cubicBezTo>
                  <a:lnTo>
                    <a:pt x="1739" y="524"/>
                  </a:lnTo>
                  <a:lnTo>
                    <a:pt x="1739" y="167"/>
                  </a:lnTo>
                  <a:cubicBezTo>
                    <a:pt x="1739" y="96"/>
                    <a:pt x="1644" y="0"/>
                    <a:pt x="1573" y="0"/>
                  </a:cubicBezTo>
                  <a:close/>
                </a:path>
              </a:pathLst>
            </a:custGeom>
            <a:solidFill>
              <a:srgbClr val="8585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45"/>
          <p:cNvGrpSpPr/>
          <p:nvPr/>
        </p:nvGrpSpPr>
        <p:grpSpPr>
          <a:xfrm>
            <a:off x="4771107" y="1758112"/>
            <a:ext cx="360949" cy="349733"/>
            <a:chOff x="4800182" y="2797674"/>
            <a:chExt cx="360949" cy="349733"/>
          </a:xfrm>
        </p:grpSpPr>
        <p:sp>
          <p:nvSpPr>
            <p:cNvPr id="294" name="Google Shape;294;p45"/>
            <p:cNvSpPr/>
            <p:nvPr/>
          </p:nvSpPr>
          <p:spPr>
            <a:xfrm>
              <a:off x="4845886" y="2921212"/>
              <a:ext cx="268733" cy="226195"/>
            </a:xfrm>
            <a:custGeom>
              <a:rect b="b" l="l" r="r" t="t"/>
              <a:pathLst>
                <a:path extrusionOk="0" h="6716" w="7979">
                  <a:moveTo>
                    <a:pt x="2072" y="310"/>
                  </a:moveTo>
                  <a:cubicBezTo>
                    <a:pt x="2334" y="310"/>
                    <a:pt x="2573" y="500"/>
                    <a:pt x="2692" y="738"/>
                  </a:cubicBezTo>
                  <a:cubicBezTo>
                    <a:pt x="2287" y="905"/>
                    <a:pt x="1930" y="1000"/>
                    <a:pt x="1691" y="1000"/>
                  </a:cubicBezTo>
                  <a:lnTo>
                    <a:pt x="1382" y="1000"/>
                  </a:lnTo>
                  <a:cubicBezTo>
                    <a:pt x="1382" y="619"/>
                    <a:pt x="1691" y="310"/>
                    <a:pt x="2072" y="310"/>
                  </a:cubicBezTo>
                  <a:close/>
                  <a:moveTo>
                    <a:pt x="5883" y="310"/>
                  </a:moveTo>
                  <a:cubicBezTo>
                    <a:pt x="6145" y="310"/>
                    <a:pt x="6383" y="500"/>
                    <a:pt x="6502" y="738"/>
                  </a:cubicBezTo>
                  <a:cubicBezTo>
                    <a:pt x="6097" y="905"/>
                    <a:pt x="5740" y="1000"/>
                    <a:pt x="5502" y="1000"/>
                  </a:cubicBezTo>
                  <a:lnTo>
                    <a:pt x="5192" y="1000"/>
                  </a:lnTo>
                  <a:cubicBezTo>
                    <a:pt x="5192" y="619"/>
                    <a:pt x="5502" y="310"/>
                    <a:pt x="5883" y="310"/>
                  </a:cubicBezTo>
                  <a:close/>
                  <a:moveTo>
                    <a:pt x="2787" y="1096"/>
                  </a:moveTo>
                  <a:lnTo>
                    <a:pt x="2787" y="1858"/>
                  </a:lnTo>
                  <a:cubicBezTo>
                    <a:pt x="2787" y="2248"/>
                    <a:pt x="2477" y="2549"/>
                    <a:pt x="2092" y="2549"/>
                  </a:cubicBezTo>
                  <a:cubicBezTo>
                    <a:pt x="2078" y="2549"/>
                    <a:pt x="2063" y="2549"/>
                    <a:pt x="2049" y="2548"/>
                  </a:cubicBezTo>
                  <a:cubicBezTo>
                    <a:pt x="1691" y="2524"/>
                    <a:pt x="1382" y="2215"/>
                    <a:pt x="1382" y="1858"/>
                  </a:cubicBezTo>
                  <a:lnTo>
                    <a:pt x="1382" y="1357"/>
                  </a:lnTo>
                  <a:lnTo>
                    <a:pt x="1549" y="1357"/>
                  </a:lnTo>
                  <a:cubicBezTo>
                    <a:pt x="1811" y="1357"/>
                    <a:pt x="2263" y="1310"/>
                    <a:pt x="2787" y="1096"/>
                  </a:cubicBezTo>
                  <a:close/>
                  <a:moveTo>
                    <a:pt x="6597" y="1096"/>
                  </a:moveTo>
                  <a:lnTo>
                    <a:pt x="6597" y="1858"/>
                  </a:lnTo>
                  <a:cubicBezTo>
                    <a:pt x="6597" y="2248"/>
                    <a:pt x="6288" y="2549"/>
                    <a:pt x="5903" y="2549"/>
                  </a:cubicBezTo>
                  <a:cubicBezTo>
                    <a:pt x="5888" y="2549"/>
                    <a:pt x="5874" y="2549"/>
                    <a:pt x="5859" y="2548"/>
                  </a:cubicBezTo>
                  <a:cubicBezTo>
                    <a:pt x="5478" y="2524"/>
                    <a:pt x="5192" y="2215"/>
                    <a:pt x="5192" y="1858"/>
                  </a:cubicBezTo>
                  <a:lnTo>
                    <a:pt x="5192" y="1357"/>
                  </a:lnTo>
                  <a:lnTo>
                    <a:pt x="5335" y="1357"/>
                  </a:lnTo>
                  <a:cubicBezTo>
                    <a:pt x="5621" y="1357"/>
                    <a:pt x="6050" y="1310"/>
                    <a:pt x="6597" y="1096"/>
                  </a:cubicBezTo>
                  <a:close/>
                  <a:moveTo>
                    <a:pt x="2263" y="2882"/>
                  </a:moveTo>
                  <a:lnTo>
                    <a:pt x="2263" y="3239"/>
                  </a:lnTo>
                  <a:cubicBezTo>
                    <a:pt x="2263" y="3334"/>
                    <a:pt x="2192" y="3382"/>
                    <a:pt x="2096" y="3405"/>
                  </a:cubicBezTo>
                  <a:cubicBezTo>
                    <a:pt x="2075" y="3414"/>
                    <a:pt x="2055" y="3418"/>
                    <a:pt x="2037" y="3418"/>
                  </a:cubicBezTo>
                  <a:cubicBezTo>
                    <a:pt x="1954" y="3418"/>
                    <a:pt x="1906" y="3336"/>
                    <a:pt x="1906" y="3239"/>
                  </a:cubicBezTo>
                  <a:lnTo>
                    <a:pt x="1906" y="2882"/>
                  </a:lnTo>
                  <a:cubicBezTo>
                    <a:pt x="1977" y="2893"/>
                    <a:pt x="2037" y="2899"/>
                    <a:pt x="2093" y="2899"/>
                  </a:cubicBezTo>
                  <a:cubicBezTo>
                    <a:pt x="2150" y="2899"/>
                    <a:pt x="2203" y="2893"/>
                    <a:pt x="2263" y="2882"/>
                  </a:cubicBezTo>
                  <a:close/>
                  <a:moveTo>
                    <a:pt x="6073" y="2882"/>
                  </a:moveTo>
                  <a:lnTo>
                    <a:pt x="6073" y="3239"/>
                  </a:lnTo>
                  <a:cubicBezTo>
                    <a:pt x="6073" y="3334"/>
                    <a:pt x="6002" y="3382"/>
                    <a:pt x="5907" y="3405"/>
                  </a:cubicBezTo>
                  <a:cubicBezTo>
                    <a:pt x="5885" y="3414"/>
                    <a:pt x="5865" y="3418"/>
                    <a:pt x="5847" y="3418"/>
                  </a:cubicBezTo>
                  <a:cubicBezTo>
                    <a:pt x="5764" y="3418"/>
                    <a:pt x="5716" y="3336"/>
                    <a:pt x="5716" y="3239"/>
                  </a:cubicBezTo>
                  <a:lnTo>
                    <a:pt x="5716" y="2882"/>
                  </a:lnTo>
                  <a:cubicBezTo>
                    <a:pt x="5776" y="2893"/>
                    <a:pt x="5829" y="2899"/>
                    <a:pt x="5886" y="2899"/>
                  </a:cubicBezTo>
                  <a:cubicBezTo>
                    <a:pt x="5942" y="2899"/>
                    <a:pt x="6002" y="2893"/>
                    <a:pt x="6073" y="2882"/>
                  </a:cubicBezTo>
                  <a:close/>
                  <a:moveTo>
                    <a:pt x="3049" y="3405"/>
                  </a:moveTo>
                  <a:cubicBezTo>
                    <a:pt x="3430" y="3405"/>
                    <a:pt x="3740" y="3715"/>
                    <a:pt x="3740" y="4096"/>
                  </a:cubicBezTo>
                  <a:lnTo>
                    <a:pt x="3740" y="6358"/>
                  </a:lnTo>
                  <a:lnTo>
                    <a:pt x="3454" y="6358"/>
                  </a:lnTo>
                  <a:lnTo>
                    <a:pt x="3454" y="4310"/>
                  </a:lnTo>
                  <a:cubicBezTo>
                    <a:pt x="3454" y="4215"/>
                    <a:pt x="3382" y="4168"/>
                    <a:pt x="3287" y="4120"/>
                  </a:cubicBezTo>
                  <a:cubicBezTo>
                    <a:pt x="3275" y="4117"/>
                    <a:pt x="3262" y="4116"/>
                    <a:pt x="3251" y="4116"/>
                  </a:cubicBezTo>
                  <a:cubicBezTo>
                    <a:pt x="3149" y="4116"/>
                    <a:pt x="3073" y="4204"/>
                    <a:pt x="3073" y="4310"/>
                  </a:cubicBezTo>
                  <a:lnTo>
                    <a:pt x="3073" y="6358"/>
                  </a:lnTo>
                  <a:lnTo>
                    <a:pt x="1025" y="6358"/>
                  </a:lnTo>
                  <a:lnTo>
                    <a:pt x="1025" y="4310"/>
                  </a:lnTo>
                  <a:cubicBezTo>
                    <a:pt x="1025" y="4215"/>
                    <a:pt x="977" y="4168"/>
                    <a:pt x="882" y="4120"/>
                  </a:cubicBezTo>
                  <a:cubicBezTo>
                    <a:pt x="869" y="4117"/>
                    <a:pt x="857" y="4116"/>
                    <a:pt x="845" y="4116"/>
                  </a:cubicBezTo>
                  <a:cubicBezTo>
                    <a:pt x="744" y="4116"/>
                    <a:pt x="667" y="4204"/>
                    <a:pt x="667" y="4310"/>
                  </a:cubicBezTo>
                  <a:lnTo>
                    <a:pt x="667" y="6358"/>
                  </a:lnTo>
                  <a:lnTo>
                    <a:pt x="310" y="6358"/>
                  </a:lnTo>
                  <a:lnTo>
                    <a:pt x="310" y="4096"/>
                  </a:lnTo>
                  <a:cubicBezTo>
                    <a:pt x="310" y="3715"/>
                    <a:pt x="620" y="3405"/>
                    <a:pt x="1001" y="3405"/>
                  </a:cubicBezTo>
                  <a:lnTo>
                    <a:pt x="1549" y="3405"/>
                  </a:lnTo>
                  <a:cubicBezTo>
                    <a:pt x="1605" y="3632"/>
                    <a:pt x="1811" y="3768"/>
                    <a:pt x="2024" y="3768"/>
                  </a:cubicBezTo>
                  <a:cubicBezTo>
                    <a:pt x="2080" y="3768"/>
                    <a:pt x="2137" y="3759"/>
                    <a:pt x="2192" y="3739"/>
                  </a:cubicBezTo>
                  <a:cubicBezTo>
                    <a:pt x="2334" y="3691"/>
                    <a:pt x="2454" y="3572"/>
                    <a:pt x="2525" y="3405"/>
                  </a:cubicBezTo>
                  <a:close/>
                  <a:moveTo>
                    <a:pt x="6859" y="3405"/>
                  </a:moveTo>
                  <a:cubicBezTo>
                    <a:pt x="7240" y="3405"/>
                    <a:pt x="7550" y="3715"/>
                    <a:pt x="7550" y="4096"/>
                  </a:cubicBezTo>
                  <a:lnTo>
                    <a:pt x="7550" y="6358"/>
                  </a:lnTo>
                  <a:lnTo>
                    <a:pt x="7240" y="6358"/>
                  </a:lnTo>
                  <a:lnTo>
                    <a:pt x="7240" y="4310"/>
                  </a:lnTo>
                  <a:cubicBezTo>
                    <a:pt x="7240" y="4215"/>
                    <a:pt x="7193" y="4168"/>
                    <a:pt x="7097" y="4120"/>
                  </a:cubicBezTo>
                  <a:cubicBezTo>
                    <a:pt x="7085" y="4117"/>
                    <a:pt x="7073" y="4116"/>
                    <a:pt x="7061" y="4116"/>
                  </a:cubicBezTo>
                  <a:cubicBezTo>
                    <a:pt x="6959" y="4116"/>
                    <a:pt x="6883" y="4204"/>
                    <a:pt x="6883" y="4310"/>
                  </a:cubicBezTo>
                  <a:lnTo>
                    <a:pt x="6883" y="6358"/>
                  </a:lnTo>
                  <a:lnTo>
                    <a:pt x="4835" y="6358"/>
                  </a:lnTo>
                  <a:lnTo>
                    <a:pt x="4835" y="4310"/>
                  </a:lnTo>
                  <a:cubicBezTo>
                    <a:pt x="4835" y="4215"/>
                    <a:pt x="4787" y="4168"/>
                    <a:pt x="4692" y="4120"/>
                  </a:cubicBezTo>
                  <a:cubicBezTo>
                    <a:pt x="4680" y="4117"/>
                    <a:pt x="4667" y="4116"/>
                    <a:pt x="4656" y="4116"/>
                  </a:cubicBezTo>
                  <a:cubicBezTo>
                    <a:pt x="4554" y="4116"/>
                    <a:pt x="4478" y="4204"/>
                    <a:pt x="4478" y="4310"/>
                  </a:cubicBezTo>
                  <a:lnTo>
                    <a:pt x="4478" y="6358"/>
                  </a:lnTo>
                  <a:lnTo>
                    <a:pt x="4121" y="6358"/>
                  </a:lnTo>
                  <a:lnTo>
                    <a:pt x="4121" y="4096"/>
                  </a:lnTo>
                  <a:cubicBezTo>
                    <a:pt x="4121" y="3715"/>
                    <a:pt x="4430" y="3405"/>
                    <a:pt x="4811" y="3405"/>
                  </a:cubicBezTo>
                  <a:lnTo>
                    <a:pt x="5335" y="3405"/>
                  </a:lnTo>
                  <a:cubicBezTo>
                    <a:pt x="5410" y="3632"/>
                    <a:pt x="5620" y="3768"/>
                    <a:pt x="5834" y="3768"/>
                  </a:cubicBezTo>
                  <a:cubicBezTo>
                    <a:pt x="5890" y="3768"/>
                    <a:pt x="5947" y="3759"/>
                    <a:pt x="6002" y="3739"/>
                  </a:cubicBezTo>
                  <a:cubicBezTo>
                    <a:pt x="6145" y="3691"/>
                    <a:pt x="6264" y="3572"/>
                    <a:pt x="6335" y="3405"/>
                  </a:cubicBezTo>
                  <a:close/>
                  <a:moveTo>
                    <a:pt x="2072" y="0"/>
                  </a:moveTo>
                  <a:cubicBezTo>
                    <a:pt x="1501" y="0"/>
                    <a:pt x="1025" y="476"/>
                    <a:pt x="1025" y="1024"/>
                  </a:cubicBezTo>
                  <a:lnTo>
                    <a:pt x="1025" y="1905"/>
                  </a:lnTo>
                  <a:cubicBezTo>
                    <a:pt x="1025" y="2262"/>
                    <a:pt x="1239" y="2620"/>
                    <a:pt x="1549" y="2786"/>
                  </a:cubicBezTo>
                  <a:lnTo>
                    <a:pt x="1549" y="3096"/>
                  </a:lnTo>
                  <a:lnTo>
                    <a:pt x="1025" y="3096"/>
                  </a:lnTo>
                  <a:cubicBezTo>
                    <a:pt x="477" y="3096"/>
                    <a:pt x="1" y="3572"/>
                    <a:pt x="1" y="4120"/>
                  </a:cubicBezTo>
                  <a:lnTo>
                    <a:pt x="1" y="6549"/>
                  </a:lnTo>
                  <a:cubicBezTo>
                    <a:pt x="1" y="6620"/>
                    <a:pt x="72" y="6716"/>
                    <a:pt x="167" y="6716"/>
                  </a:cubicBezTo>
                  <a:lnTo>
                    <a:pt x="7788" y="6716"/>
                  </a:lnTo>
                  <a:cubicBezTo>
                    <a:pt x="7883" y="6716"/>
                    <a:pt x="7978" y="6620"/>
                    <a:pt x="7978" y="6549"/>
                  </a:cubicBezTo>
                  <a:lnTo>
                    <a:pt x="7978" y="4096"/>
                  </a:lnTo>
                  <a:cubicBezTo>
                    <a:pt x="7931" y="3525"/>
                    <a:pt x="7502" y="3096"/>
                    <a:pt x="6931" y="3096"/>
                  </a:cubicBezTo>
                  <a:lnTo>
                    <a:pt x="6431" y="3096"/>
                  </a:lnTo>
                  <a:lnTo>
                    <a:pt x="6431" y="2786"/>
                  </a:lnTo>
                  <a:cubicBezTo>
                    <a:pt x="6740" y="2620"/>
                    <a:pt x="6931" y="2262"/>
                    <a:pt x="6931" y="1905"/>
                  </a:cubicBezTo>
                  <a:lnTo>
                    <a:pt x="6931" y="1024"/>
                  </a:lnTo>
                  <a:cubicBezTo>
                    <a:pt x="6931" y="762"/>
                    <a:pt x="6812" y="524"/>
                    <a:pt x="6621" y="310"/>
                  </a:cubicBezTo>
                  <a:cubicBezTo>
                    <a:pt x="6454" y="119"/>
                    <a:pt x="6192" y="0"/>
                    <a:pt x="5883" y="0"/>
                  </a:cubicBezTo>
                  <a:cubicBezTo>
                    <a:pt x="5311" y="0"/>
                    <a:pt x="4835" y="476"/>
                    <a:pt x="4835" y="1024"/>
                  </a:cubicBezTo>
                  <a:lnTo>
                    <a:pt x="4835" y="1905"/>
                  </a:lnTo>
                  <a:cubicBezTo>
                    <a:pt x="4835" y="2262"/>
                    <a:pt x="5049" y="2620"/>
                    <a:pt x="5359" y="2786"/>
                  </a:cubicBezTo>
                  <a:lnTo>
                    <a:pt x="5359" y="3096"/>
                  </a:lnTo>
                  <a:lnTo>
                    <a:pt x="4835" y="3096"/>
                  </a:lnTo>
                  <a:cubicBezTo>
                    <a:pt x="4478" y="3096"/>
                    <a:pt x="4168" y="3263"/>
                    <a:pt x="3978" y="3572"/>
                  </a:cubicBezTo>
                  <a:cubicBezTo>
                    <a:pt x="3811" y="3263"/>
                    <a:pt x="3478" y="3096"/>
                    <a:pt x="3120" y="3096"/>
                  </a:cubicBezTo>
                  <a:lnTo>
                    <a:pt x="2620" y="3096"/>
                  </a:lnTo>
                  <a:lnTo>
                    <a:pt x="2620" y="2786"/>
                  </a:lnTo>
                  <a:cubicBezTo>
                    <a:pt x="2930" y="2620"/>
                    <a:pt x="3120" y="2262"/>
                    <a:pt x="3120" y="1905"/>
                  </a:cubicBezTo>
                  <a:lnTo>
                    <a:pt x="3120" y="1024"/>
                  </a:lnTo>
                  <a:cubicBezTo>
                    <a:pt x="3120" y="762"/>
                    <a:pt x="3001" y="524"/>
                    <a:pt x="2811" y="310"/>
                  </a:cubicBezTo>
                  <a:cubicBezTo>
                    <a:pt x="2644" y="119"/>
                    <a:pt x="2382" y="0"/>
                    <a:pt x="20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5"/>
            <p:cNvSpPr/>
            <p:nvPr/>
          </p:nvSpPr>
          <p:spPr>
            <a:xfrm>
              <a:off x="4800182" y="2797674"/>
              <a:ext cx="162843" cy="140513"/>
            </a:xfrm>
            <a:custGeom>
              <a:rect b="b" l="l" r="r" t="t"/>
              <a:pathLst>
                <a:path extrusionOk="0" h="4172" w="4835">
                  <a:moveTo>
                    <a:pt x="4477" y="358"/>
                  </a:moveTo>
                  <a:lnTo>
                    <a:pt x="4477" y="2763"/>
                  </a:lnTo>
                  <a:lnTo>
                    <a:pt x="2072" y="2763"/>
                  </a:lnTo>
                  <a:cubicBezTo>
                    <a:pt x="1977" y="2763"/>
                    <a:pt x="1882" y="2858"/>
                    <a:pt x="1882" y="2954"/>
                  </a:cubicBezTo>
                  <a:lnTo>
                    <a:pt x="1882" y="3573"/>
                  </a:lnTo>
                  <a:lnTo>
                    <a:pt x="1143" y="2835"/>
                  </a:lnTo>
                  <a:cubicBezTo>
                    <a:pt x="1119" y="2787"/>
                    <a:pt x="1048" y="2763"/>
                    <a:pt x="1024" y="2763"/>
                  </a:cubicBezTo>
                  <a:lnTo>
                    <a:pt x="334" y="2763"/>
                  </a:lnTo>
                  <a:lnTo>
                    <a:pt x="334" y="358"/>
                  </a:lnTo>
                  <a:close/>
                  <a:moveTo>
                    <a:pt x="191" y="1"/>
                  </a:moveTo>
                  <a:cubicBezTo>
                    <a:pt x="95" y="1"/>
                    <a:pt x="0" y="72"/>
                    <a:pt x="0" y="167"/>
                  </a:cubicBezTo>
                  <a:lnTo>
                    <a:pt x="0" y="2930"/>
                  </a:lnTo>
                  <a:cubicBezTo>
                    <a:pt x="0" y="3025"/>
                    <a:pt x="95" y="3120"/>
                    <a:pt x="191" y="3120"/>
                  </a:cubicBezTo>
                  <a:lnTo>
                    <a:pt x="1000" y="3120"/>
                  </a:lnTo>
                  <a:lnTo>
                    <a:pt x="1977" y="4097"/>
                  </a:lnTo>
                  <a:cubicBezTo>
                    <a:pt x="1977" y="4144"/>
                    <a:pt x="2001" y="4144"/>
                    <a:pt x="2024" y="4168"/>
                  </a:cubicBezTo>
                  <a:cubicBezTo>
                    <a:pt x="2037" y="4171"/>
                    <a:pt x="2049" y="4172"/>
                    <a:pt x="2061" y="4172"/>
                  </a:cubicBezTo>
                  <a:cubicBezTo>
                    <a:pt x="2162" y="4172"/>
                    <a:pt x="2239" y="4084"/>
                    <a:pt x="2239" y="3978"/>
                  </a:cubicBezTo>
                  <a:lnTo>
                    <a:pt x="2239" y="3120"/>
                  </a:lnTo>
                  <a:lnTo>
                    <a:pt x="4644" y="3120"/>
                  </a:lnTo>
                  <a:cubicBezTo>
                    <a:pt x="4739" y="3120"/>
                    <a:pt x="4835" y="3025"/>
                    <a:pt x="4835" y="2930"/>
                  </a:cubicBezTo>
                  <a:lnTo>
                    <a:pt x="4835" y="167"/>
                  </a:lnTo>
                  <a:cubicBezTo>
                    <a:pt x="4835" y="72"/>
                    <a:pt x="4739" y="1"/>
                    <a:pt x="46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5"/>
            <p:cNvSpPr/>
            <p:nvPr/>
          </p:nvSpPr>
          <p:spPr>
            <a:xfrm>
              <a:off x="4998288" y="2827346"/>
              <a:ext cx="162843" cy="123269"/>
            </a:xfrm>
            <a:custGeom>
              <a:rect b="b" l="l" r="r" t="t"/>
              <a:pathLst>
                <a:path extrusionOk="0" h="3660" w="4835">
                  <a:moveTo>
                    <a:pt x="4454" y="334"/>
                  </a:moveTo>
                  <a:lnTo>
                    <a:pt x="4454" y="2263"/>
                  </a:lnTo>
                  <a:lnTo>
                    <a:pt x="3763" y="2263"/>
                  </a:lnTo>
                  <a:cubicBezTo>
                    <a:pt x="3715" y="2263"/>
                    <a:pt x="3692" y="2311"/>
                    <a:pt x="3644" y="2335"/>
                  </a:cubicBezTo>
                  <a:lnTo>
                    <a:pt x="2906" y="3073"/>
                  </a:lnTo>
                  <a:lnTo>
                    <a:pt x="2906" y="2454"/>
                  </a:lnTo>
                  <a:cubicBezTo>
                    <a:pt x="2906" y="2358"/>
                    <a:pt x="2810" y="2263"/>
                    <a:pt x="2739" y="2263"/>
                  </a:cubicBezTo>
                  <a:lnTo>
                    <a:pt x="310" y="2263"/>
                  </a:lnTo>
                  <a:lnTo>
                    <a:pt x="310" y="334"/>
                  </a:lnTo>
                  <a:close/>
                  <a:moveTo>
                    <a:pt x="167" y="1"/>
                  </a:moveTo>
                  <a:cubicBezTo>
                    <a:pt x="72" y="1"/>
                    <a:pt x="0" y="96"/>
                    <a:pt x="0" y="191"/>
                  </a:cubicBezTo>
                  <a:lnTo>
                    <a:pt x="0" y="2454"/>
                  </a:lnTo>
                  <a:cubicBezTo>
                    <a:pt x="0" y="2549"/>
                    <a:pt x="72" y="2620"/>
                    <a:pt x="167" y="2620"/>
                  </a:cubicBezTo>
                  <a:lnTo>
                    <a:pt x="2572" y="2620"/>
                  </a:lnTo>
                  <a:lnTo>
                    <a:pt x="2572" y="3501"/>
                  </a:lnTo>
                  <a:cubicBezTo>
                    <a:pt x="2572" y="3549"/>
                    <a:pt x="2620" y="3621"/>
                    <a:pt x="2668" y="3644"/>
                  </a:cubicBezTo>
                  <a:cubicBezTo>
                    <a:pt x="2697" y="3654"/>
                    <a:pt x="2727" y="3660"/>
                    <a:pt x="2756" y="3660"/>
                  </a:cubicBezTo>
                  <a:cubicBezTo>
                    <a:pt x="2798" y="3660"/>
                    <a:pt x="2840" y="3648"/>
                    <a:pt x="2882" y="3621"/>
                  </a:cubicBezTo>
                  <a:lnTo>
                    <a:pt x="3858" y="2620"/>
                  </a:lnTo>
                  <a:lnTo>
                    <a:pt x="4668" y="2620"/>
                  </a:lnTo>
                  <a:cubicBezTo>
                    <a:pt x="4763" y="2620"/>
                    <a:pt x="4835" y="2549"/>
                    <a:pt x="4835" y="2454"/>
                  </a:cubicBezTo>
                  <a:lnTo>
                    <a:pt x="4835" y="191"/>
                  </a:lnTo>
                  <a:cubicBezTo>
                    <a:pt x="4811" y="72"/>
                    <a:pt x="4716" y="1"/>
                    <a:pt x="46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45"/>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Olesia</a:t>
            </a:r>
            <a:endParaRPr b="0" sz="800"/>
          </a:p>
        </p:txBody>
      </p:sp>
      <p:sp>
        <p:nvSpPr>
          <p:cNvPr id="298" name="Google Shape;298;p45"/>
          <p:cNvSpPr txBox="1"/>
          <p:nvPr/>
        </p:nvSpPr>
        <p:spPr>
          <a:xfrm>
            <a:off x="3018475" y="2978513"/>
            <a:ext cx="1834800" cy="1177500"/>
          </a:xfrm>
          <a:prstGeom prst="rect">
            <a:avLst/>
          </a:prstGeom>
          <a:noFill/>
          <a:ln>
            <a:noFill/>
          </a:ln>
        </p:spPr>
        <p:txBody>
          <a:bodyPr anchorCtr="0" anchor="t" bIns="17150" lIns="34300" spcFirstLastPara="1" rIns="34300" wrap="square" tIns="17150">
            <a:spAutoFit/>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Month 2nd -3nd</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Basic loyalty dashboard</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Reward issuance</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Metrics: % reaching 3 credits</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Redemption rate</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60-day retention</a:t>
            </a:r>
            <a:endParaRPr sz="1100">
              <a:solidFill>
                <a:schemeClr val="dk1"/>
              </a:solidFill>
              <a:latin typeface="Lato"/>
              <a:ea typeface="Lato"/>
              <a:cs typeface="Lato"/>
              <a:sym typeface="Lato"/>
            </a:endParaRPr>
          </a:p>
        </p:txBody>
      </p:sp>
      <p:sp>
        <p:nvSpPr>
          <p:cNvPr id="299" name="Google Shape;299;p45"/>
          <p:cNvSpPr txBox="1"/>
          <p:nvPr/>
        </p:nvSpPr>
        <p:spPr>
          <a:xfrm>
            <a:off x="3018481" y="2522400"/>
            <a:ext cx="1749900" cy="404100"/>
          </a:xfrm>
          <a:prstGeom prst="rect">
            <a:avLst/>
          </a:prstGeom>
          <a:noFill/>
          <a:ln>
            <a:noFill/>
          </a:ln>
        </p:spPr>
        <p:txBody>
          <a:bodyPr anchorCtr="0" anchor="b" bIns="17150" lIns="34300" spcFirstLastPara="1" rIns="34300" wrap="square" tIns="17150">
            <a:spAutoFit/>
          </a:bodyPr>
          <a:lstStyle/>
          <a:p>
            <a:pPr indent="0" lvl="0" marL="0" marR="0" rtl="0" algn="l">
              <a:spcBef>
                <a:spcPts val="0"/>
              </a:spcBef>
              <a:spcAft>
                <a:spcPts val="0"/>
              </a:spcAft>
              <a:buNone/>
            </a:pPr>
            <a:r>
              <a:rPr b="1" lang="en" sz="1200">
                <a:solidFill>
                  <a:schemeClr val="dk2"/>
                </a:solidFill>
                <a:latin typeface="Lato"/>
                <a:ea typeface="Lato"/>
                <a:cs typeface="Lato"/>
                <a:sym typeface="Lato"/>
              </a:rPr>
              <a:t>MVP Beta Design and Launch</a:t>
            </a:r>
            <a:endParaRPr sz="500">
              <a:latin typeface="Lato"/>
              <a:ea typeface="Lato"/>
              <a:cs typeface="Lato"/>
              <a:sym typeface="Lato"/>
            </a:endParaRPr>
          </a:p>
        </p:txBody>
      </p:sp>
      <p:sp>
        <p:nvSpPr>
          <p:cNvPr id="300" name="Google Shape;300;p45"/>
          <p:cNvSpPr txBox="1"/>
          <p:nvPr/>
        </p:nvSpPr>
        <p:spPr>
          <a:xfrm>
            <a:off x="4985137" y="3027238"/>
            <a:ext cx="1834800" cy="1177500"/>
          </a:xfrm>
          <a:prstGeom prst="rect">
            <a:avLst/>
          </a:prstGeom>
          <a:noFill/>
          <a:ln>
            <a:noFill/>
          </a:ln>
        </p:spPr>
        <p:txBody>
          <a:bodyPr anchorCtr="0" anchor="t" bIns="17150" lIns="34300" spcFirstLastPara="1" rIns="34300" wrap="square" tIns="17150">
            <a:spAutoFit/>
          </a:bodyPr>
          <a:lstStyle/>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Month 4th-5th</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Basic loyalty dashboard</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Reward issuance</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Metrics: % reaching 3 credits</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Redemption rate</a:t>
            </a:r>
            <a:endParaRPr sz="11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dk1"/>
                </a:solidFill>
                <a:latin typeface="Lato"/>
                <a:ea typeface="Lato"/>
                <a:cs typeface="Lato"/>
                <a:sym typeface="Lato"/>
              </a:rPr>
              <a:t>60-day retention</a:t>
            </a:r>
            <a:endParaRPr sz="1100">
              <a:solidFill>
                <a:schemeClr val="dk1"/>
              </a:solidFill>
              <a:latin typeface="Lato"/>
              <a:ea typeface="Lato"/>
              <a:cs typeface="Lato"/>
              <a:sym typeface="Lato"/>
            </a:endParaRPr>
          </a:p>
        </p:txBody>
      </p:sp>
      <p:sp>
        <p:nvSpPr>
          <p:cNvPr id="301" name="Google Shape;301;p45"/>
          <p:cNvSpPr txBox="1"/>
          <p:nvPr/>
        </p:nvSpPr>
        <p:spPr>
          <a:xfrm>
            <a:off x="4985144" y="2571125"/>
            <a:ext cx="1749900" cy="404100"/>
          </a:xfrm>
          <a:prstGeom prst="rect">
            <a:avLst/>
          </a:prstGeom>
          <a:noFill/>
          <a:ln>
            <a:noFill/>
          </a:ln>
        </p:spPr>
        <p:txBody>
          <a:bodyPr anchorCtr="0" anchor="b" bIns="17150" lIns="34300" spcFirstLastPara="1" rIns="34300" wrap="square" tIns="17150">
            <a:spAutoFit/>
          </a:bodyPr>
          <a:lstStyle/>
          <a:p>
            <a:pPr indent="0" lvl="0" marL="0" marR="0" rtl="0" algn="l">
              <a:spcBef>
                <a:spcPts val="0"/>
              </a:spcBef>
              <a:spcAft>
                <a:spcPts val="0"/>
              </a:spcAft>
              <a:buNone/>
            </a:pPr>
            <a:r>
              <a:rPr b="1" lang="en" sz="1200">
                <a:solidFill>
                  <a:schemeClr val="dk2"/>
                </a:solidFill>
                <a:latin typeface="Lato"/>
                <a:ea typeface="Lato"/>
                <a:cs typeface="Lato"/>
                <a:sym typeface="Lato"/>
              </a:rPr>
              <a:t>MVP Beta Data Collection and Analysis</a:t>
            </a:r>
            <a:endParaRPr sz="500">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46"/>
          <p:cNvPicPr preferRelativeResize="0"/>
          <p:nvPr/>
        </p:nvPicPr>
        <p:blipFill>
          <a:blip r:embed="rId3">
            <a:alphaModFix/>
          </a:blip>
          <a:stretch>
            <a:fillRect/>
          </a:stretch>
        </p:blipFill>
        <p:spPr>
          <a:xfrm>
            <a:off x="7938546" y="575375"/>
            <a:ext cx="725852" cy="224726"/>
          </a:xfrm>
          <a:prstGeom prst="rect">
            <a:avLst/>
          </a:prstGeom>
          <a:noFill/>
          <a:ln>
            <a:noFill/>
          </a:ln>
        </p:spPr>
      </p:pic>
      <p:sp>
        <p:nvSpPr>
          <p:cNvPr id="307" name="Google Shape;307;p46"/>
          <p:cNvSpPr/>
          <p:nvPr/>
        </p:nvSpPr>
        <p:spPr>
          <a:xfrm>
            <a:off x="1377575" y="1607838"/>
            <a:ext cx="2254200" cy="645600"/>
          </a:xfrm>
          <a:prstGeom prst="roundRect">
            <a:avLst>
              <a:gd fmla="val 9252" name="adj"/>
            </a:avLst>
          </a:prstGeom>
          <a:solidFill>
            <a:srgbClr val="5AED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Welcome message “Start earning points to unlock Lounge Pass, Late Checkout, and Weekend Night”</a:t>
            </a:r>
            <a:endParaRPr sz="1000">
              <a:solidFill>
                <a:srgbClr val="3C4856"/>
              </a:solidFill>
              <a:latin typeface="Lato"/>
              <a:ea typeface="Lato"/>
              <a:cs typeface="Lato"/>
              <a:sym typeface="Lato"/>
            </a:endParaRPr>
          </a:p>
        </p:txBody>
      </p:sp>
      <p:sp>
        <p:nvSpPr>
          <p:cNvPr id="308" name="Google Shape;308;p46"/>
          <p:cNvSpPr/>
          <p:nvPr/>
        </p:nvSpPr>
        <p:spPr>
          <a:xfrm>
            <a:off x="1607825" y="2671400"/>
            <a:ext cx="1793700" cy="604500"/>
          </a:xfrm>
          <a:prstGeom prst="roundRect">
            <a:avLst>
              <a:gd fmla="val 16667" name="adj"/>
            </a:avLst>
          </a:prstGeom>
          <a:solidFill>
            <a:srgbClr val="5AED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Search through </a:t>
            </a:r>
            <a:r>
              <a:rPr lang="en" sz="1000">
                <a:solidFill>
                  <a:srgbClr val="3C4856"/>
                </a:solidFill>
                <a:latin typeface="Lato"/>
                <a:ea typeface="Lato"/>
                <a:cs typeface="Lato"/>
                <a:sym typeface="Lato"/>
              </a:rPr>
              <a:t>accommodations. </a:t>
            </a:r>
            <a:r>
              <a:rPr lang="en" sz="1000">
                <a:solidFill>
                  <a:srgbClr val="3C4856"/>
                </a:solidFill>
                <a:latin typeface="Lato"/>
                <a:ea typeface="Lato"/>
                <a:cs typeface="Lato"/>
                <a:sym typeface="Lato"/>
              </a:rPr>
              <a:t>Choose the accommodation</a:t>
            </a:r>
            <a:endParaRPr sz="1200">
              <a:solidFill>
                <a:srgbClr val="3C4856"/>
              </a:solidFill>
              <a:latin typeface="Lato"/>
              <a:ea typeface="Lato"/>
              <a:cs typeface="Lato"/>
              <a:sym typeface="Lato"/>
            </a:endParaRPr>
          </a:p>
        </p:txBody>
      </p:sp>
      <p:cxnSp>
        <p:nvCxnSpPr>
          <p:cNvPr id="309" name="Google Shape;309;p46"/>
          <p:cNvCxnSpPr>
            <a:stCxn id="308" idx="0"/>
            <a:endCxn id="307" idx="2"/>
          </p:cNvCxnSpPr>
          <p:nvPr/>
        </p:nvCxnSpPr>
        <p:spPr>
          <a:xfrm rot="-5400000">
            <a:off x="2296025" y="2462150"/>
            <a:ext cx="417900" cy="600"/>
          </a:xfrm>
          <a:prstGeom prst="bentConnector3">
            <a:avLst>
              <a:gd fmla="val 50007" name="adj1"/>
            </a:avLst>
          </a:prstGeom>
          <a:noFill/>
          <a:ln cap="flat" cmpd="sng" w="9525">
            <a:solidFill>
              <a:srgbClr val="C1C0CE"/>
            </a:solidFill>
            <a:prstDash val="solid"/>
            <a:round/>
            <a:headEnd len="sm" w="sm" type="stealth"/>
            <a:tailEnd len="sm" w="sm" type="none"/>
          </a:ln>
        </p:spPr>
      </p:cxnSp>
      <p:cxnSp>
        <p:nvCxnSpPr>
          <p:cNvPr id="310" name="Google Shape;310;p46"/>
          <p:cNvCxnSpPr>
            <a:stCxn id="311" idx="2"/>
            <a:endCxn id="307" idx="0"/>
          </p:cNvCxnSpPr>
          <p:nvPr/>
        </p:nvCxnSpPr>
        <p:spPr>
          <a:xfrm flipH="1" rot="-5400000">
            <a:off x="2356475" y="1459050"/>
            <a:ext cx="297000" cy="600"/>
          </a:xfrm>
          <a:prstGeom prst="bentConnector3">
            <a:avLst>
              <a:gd fmla="val 49998" name="adj1"/>
            </a:avLst>
          </a:prstGeom>
          <a:noFill/>
          <a:ln cap="flat" cmpd="sng" w="9525">
            <a:solidFill>
              <a:srgbClr val="C1C0CE"/>
            </a:solidFill>
            <a:prstDash val="solid"/>
            <a:round/>
            <a:headEnd len="med" w="med" type="none"/>
            <a:tailEnd len="med" w="med" type="stealth"/>
          </a:ln>
        </p:spPr>
      </p:cxnSp>
      <p:sp>
        <p:nvSpPr>
          <p:cNvPr id="312" name="Google Shape;312;p46"/>
          <p:cNvSpPr/>
          <p:nvPr/>
        </p:nvSpPr>
        <p:spPr>
          <a:xfrm>
            <a:off x="5953350" y="1111500"/>
            <a:ext cx="1104900" cy="1120500"/>
          </a:xfrm>
          <a:prstGeom prst="roundRect">
            <a:avLst>
              <a:gd fmla="val 16667" name="adj"/>
            </a:avLst>
          </a:prstGeom>
          <a:solidFill>
            <a:srgbClr val="C1C0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Display the message “You’re X trips away from your next reward”</a:t>
            </a:r>
            <a:endParaRPr sz="1000">
              <a:solidFill>
                <a:srgbClr val="3C4856"/>
              </a:solidFill>
              <a:latin typeface="Lato"/>
              <a:ea typeface="Lato"/>
              <a:cs typeface="Lato"/>
              <a:sym typeface="Lato"/>
            </a:endParaRPr>
          </a:p>
        </p:txBody>
      </p:sp>
      <p:sp>
        <p:nvSpPr>
          <p:cNvPr id="313" name="Google Shape;313;p46"/>
          <p:cNvSpPr/>
          <p:nvPr/>
        </p:nvSpPr>
        <p:spPr>
          <a:xfrm>
            <a:off x="3931050" y="1412850"/>
            <a:ext cx="1281900" cy="517800"/>
          </a:xfrm>
          <a:prstGeom prst="roundRect">
            <a:avLst>
              <a:gd fmla="val 16667" name="adj"/>
            </a:avLst>
          </a:prstGeom>
          <a:solidFill>
            <a:srgbClr val="C1C0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Not enough points </a:t>
            </a:r>
            <a:endParaRPr i="1" sz="1000">
              <a:solidFill>
                <a:srgbClr val="3C4856"/>
              </a:solidFill>
              <a:latin typeface="Lato"/>
              <a:ea typeface="Lato"/>
              <a:cs typeface="Lato"/>
              <a:sym typeface="Lato"/>
            </a:endParaRPr>
          </a:p>
        </p:txBody>
      </p:sp>
      <p:cxnSp>
        <p:nvCxnSpPr>
          <p:cNvPr id="314" name="Google Shape;314;p46"/>
          <p:cNvCxnSpPr>
            <a:stCxn id="308" idx="3"/>
            <a:endCxn id="313" idx="2"/>
          </p:cNvCxnSpPr>
          <p:nvPr/>
        </p:nvCxnSpPr>
        <p:spPr>
          <a:xfrm flipH="1" rot="10800000">
            <a:off x="3401525" y="1930550"/>
            <a:ext cx="1170600" cy="1043100"/>
          </a:xfrm>
          <a:prstGeom prst="bentConnector2">
            <a:avLst/>
          </a:prstGeom>
          <a:noFill/>
          <a:ln cap="flat" cmpd="sng" w="9525">
            <a:solidFill>
              <a:srgbClr val="C1C0CE"/>
            </a:solidFill>
            <a:prstDash val="solid"/>
            <a:round/>
            <a:headEnd len="med" w="med" type="none"/>
            <a:tailEnd len="med" w="med" type="stealth"/>
          </a:ln>
        </p:spPr>
      </p:cxnSp>
      <p:sp>
        <p:nvSpPr>
          <p:cNvPr id="315" name="Google Shape;315;p46"/>
          <p:cNvSpPr/>
          <p:nvPr/>
        </p:nvSpPr>
        <p:spPr>
          <a:xfrm>
            <a:off x="8063650" y="1994676"/>
            <a:ext cx="931200" cy="804300"/>
          </a:xfrm>
          <a:prstGeom prst="roundRect">
            <a:avLst>
              <a:gd fmla="val 16667" name="adj"/>
            </a:avLst>
          </a:prstGeom>
          <a:solidFill>
            <a:srgbClr val="E5E5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Finalise the booking</a:t>
            </a:r>
            <a:endParaRPr sz="1000">
              <a:solidFill>
                <a:srgbClr val="3C4856"/>
              </a:solidFill>
              <a:latin typeface="Lato"/>
              <a:ea typeface="Lato"/>
              <a:cs typeface="Lato"/>
              <a:sym typeface="Lato"/>
            </a:endParaRPr>
          </a:p>
        </p:txBody>
      </p:sp>
      <p:cxnSp>
        <p:nvCxnSpPr>
          <p:cNvPr id="316" name="Google Shape;316;p46"/>
          <p:cNvCxnSpPr>
            <a:stCxn id="313" idx="3"/>
            <a:endCxn id="312" idx="1"/>
          </p:cNvCxnSpPr>
          <p:nvPr/>
        </p:nvCxnSpPr>
        <p:spPr>
          <a:xfrm>
            <a:off x="5212950" y="1671750"/>
            <a:ext cx="740400" cy="600"/>
          </a:xfrm>
          <a:prstGeom prst="bentConnector3">
            <a:avLst>
              <a:gd fmla="val 50000" name="adj1"/>
            </a:avLst>
          </a:prstGeom>
          <a:noFill/>
          <a:ln cap="flat" cmpd="sng" w="9525">
            <a:solidFill>
              <a:srgbClr val="C1C0CE"/>
            </a:solidFill>
            <a:prstDash val="solid"/>
            <a:round/>
            <a:headEnd len="med" w="med" type="none"/>
            <a:tailEnd len="med" w="med" type="stealth"/>
          </a:ln>
        </p:spPr>
      </p:cxnSp>
      <p:sp>
        <p:nvSpPr>
          <p:cNvPr id="311" name="Google Shape;311;p46"/>
          <p:cNvSpPr/>
          <p:nvPr/>
        </p:nvSpPr>
        <p:spPr>
          <a:xfrm>
            <a:off x="1618775" y="793050"/>
            <a:ext cx="1771800" cy="517800"/>
          </a:xfrm>
          <a:prstGeom prst="roundRect">
            <a:avLst>
              <a:gd fmla="val 9154" name="adj"/>
            </a:avLst>
          </a:prstGeom>
          <a:solidFill>
            <a:srgbClr val="00D3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SSO </a:t>
            </a:r>
            <a:r>
              <a:rPr lang="en" sz="1000">
                <a:solidFill>
                  <a:srgbClr val="3C4856"/>
                </a:solidFill>
                <a:latin typeface="Poppins SemiBold"/>
                <a:ea typeface="Poppins SemiBold"/>
                <a:cs typeface="Poppins SemiBold"/>
                <a:sym typeface="Poppins SemiBold"/>
              </a:rPr>
              <a:t>Login</a:t>
            </a:r>
            <a:r>
              <a:rPr lang="en" sz="1000">
                <a:solidFill>
                  <a:srgbClr val="3C4856"/>
                </a:solidFill>
                <a:latin typeface="Poppins SemiBold"/>
                <a:ea typeface="Poppins SemiBold"/>
                <a:cs typeface="Poppins SemiBold"/>
                <a:sym typeface="Poppins SemiBold"/>
              </a:rPr>
              <a:t> (system identified as a business user)</a:t>
            </a:r>
            <a:endParaRPr sz="1000">
              <a:solidFill>
                <a:srgbClr val="3C4856"/>
              </a:solidFill>
              <a:latin typeface="Poppins SemiBold"/>
              <a:ea typeface="Poppins SemiBold"/>
              <a:cs typeface="Poppins SemiBold"/>
              <a:sym typeface="Poppins SemiBold"/>
            </a:endParaRPr>
          </a:p>
        </p:txBody>
      </p:sp>
      <p:sp>
        <p:nvSpPr>
          <p:cNvPr id="317" name="Google Shape;317;p46"/>
          <p:cNvSpPr/>
          <p:nvPr/>
        </p:nvSpPr>
        <p:spPr>
          <a:xfrm>
            <a:off x="8111800" y="3296449"/>
            <a:ext cx="834900" cy="1565700"/>
          </a:xfrm>
          <a:prstGeom prst="roundRect">
            <a:avLst>
              <a:gd fmla="val 16667" name="adj"/>
            </a:avLst>
          </a:prstGeom>
          <a:solidFill>
            <a:srgbClr val="E5E5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Display the message with loyalty points earned or rewards unlocked</a:t>
            </a:r>
            <a:endParaRPr sz="1000">
              <a:solidFill>
                <a:srgbClr val="3C4856"/>
              </a:solidFill>
              <a:latin typeface="Lato"/>
              <a:ea typeface="Lato"/>
              <a:cs typeface="Lato"/>
              <a:sym typeface="Lato"/>
            </a:endParaRPr>
          </a:p>
        </p:txBody>
      </p:sp>
      <p:cxnSp>
        <p:nvCxnSpPr>
          <p:cNvPr id="318" name="Google Shape;318;p46"/>
          <p:cNvCxnSpPr>
            <a:stCxn id="315" idx="2"/>
            <a:endCxn id="317" idx="0"/>
          </p:cNvCxnSpPr>
          <p:nvPr/>
        </p:nvCxnSpPr>
        <p:spPr>
          <a:xfrm flipH="1" rot="-5400000">
            <a:off x="8280850" y="3047376"/>
            <a:ext cx="497400" cy="600"/>
          </a:xfrm>
          <a:prstGeom prst="bentConnector3">
            <a:avLst>
              <a:gd fmla="val 50007" name="adj1"/>
            </a:avLst>
          </a:prstGeom>
          <a:noFill/>
          <a:ln cap="flat" cmpd="sng" w="9525">
            <a:solidFill>
              <a:srgbClr val="C1C0CE"/>
            </a:solidFill>
            <a:prstDash val="solid"/>
            <a:round/>
            <a:headEnd len="med" w="med" type="none"/>
            <a:tailEnd len="med" w="med" type="stealth"/>
          </a:ln>
        </p:spPr>
      </p:cxnSp>
      <p:sp>
        <p:nvSpPr>
          <p:cNvPr id="319" name="Google Shape;319;p46"/>
          <p:cNvSpPr/>
          <p:nvPr/>
        </p:nvSpPr>
        <p:spPr>
          <a:xfrm>
            <a:off x="5428243" y="3678751"/>
            <a:ext cx="834900" cy="711300"/>
          </a:xfrm>
          <a:prstGeom prst="roundRect">
            <a:avLst>
              <a:gd fmla="val 16667" name="adj"/>
            </a:avLst>
          </a:prstGeom>
          <a:solidFill>
            <a:srgbClr val="C1C0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Display available perk</a:t>
            </a:r>
            <a:endParaRPr sz="1000">
              <a:solidFill>
                <a:srgbClr val="3C4856"/>
              </a:solidFill>
              <a:latin typeface="Lato"/>
              <a:ea typeface="Lato"/>
              <a:cs typeface="Lato"/>
              <a:sym typeface="Lato"/>
            </a:endParaRPr>
          </a:p>
        </p:txBody>
      </p:sp>
      <p:cxnSp>
        <p:nvCxnSpPr>
          <p:cNvPr id="320" name="Google Shape;320;p46"/>
          <p:cNvCxnSpPr>
            <a:stCxn id="319" idx="3"/>
            <a:endCxn id="321" idx="1"/>
          </p:cNvCxnSpPr>
          <p:nvPr/>
        </p:nvCxnSpPr>
        <p:spPr>
          <a:xfrm>
            <a:off x="6263143" y="4034401"/>
            <a:ext cx="215400" cy="372600"/>
          </a:xfrm>
          <a:prstGeom prst="bentConnector3">
            <a:avLst>
              <a:gd fmla="val 49981" name="adj1"/>
            </a:avLst>
          </a:prstGeom>
          <a:noFill/>
          <a:ln cap="flat" cmpd="sng" w="9525">
            <a:solidFill>
              <a:srgbClr val="C1C0CE"/>
            </a:solidFill>
            <a:prstDash val="solid"/>
            <a:round/>
            <a:headEnd len="med" w="med" type="none"/>
            <a:tailEnd len="med" w="med" type="stealth"/>
          </a:ln>
        </p:spPr>
      </p:cxnSp>
      <p:sp>
        <p:nvSpPr>
          <p:cNvPr id="322" name="Google Shape;322;p46"/>
          <p:cNvSpPr/>
          <p:nvPr/>
        </p:nvSpPr>
        <p:spPr>
          <a:xfrm>
            <a:off x="6478459" y="3419521"/>
            <a:ext cx="931200" cy="517800"/>
          </a:xfrm>
          <a:prstGeom prst="roundRect">
            <a:avLst>
              <a:gd fmla="val 16667" name="adj"/>
            </a:avLst>
          </a:prstGeom>
          <a:solidFill>
            <a:srgbClr val="E5E5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Redeem points</a:t>
            </a:r>
            <a:endParaRPr sz="1000">
              <a:solidFill>
                <a:srgbClr val="3C4856"/>
              </a:solidFill>
              <a:latin typeface="Lato"/>
              <a:ea typeface="Lato"/>
              <a:cs typeface="Lato"/>
              <a:sym typeface="Lato"/>
            </a:endParaRPr>
          </a:p>
        </p:txBody>
      </p:sp>
      <p:sp>
        <p:nvSpPr>
          <p:cNvPr id="321" name="Google Shape;321;p46"/>
          <p:cNvSpPr/>
          <p:nvPr/>
        </p:nvSpPr>
        <p:spPr>
          <a:xfrm>
            <a:off x="6478460" y="4220875"/>
            <a:ext cx="931200" cy="372300"/>
          </a:xfrm>
          <a:prstGeom prst="roundRect">
            <a:avLst>
              <a:gd fmla="val 16667" name="adj"/>
            </a:avLst>
          </a:prstGeom>
          <a:solidFill>
            <a:srgbClr val="E5E5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Skip</a:t>
            </a:r>
            <a:endParaRPr sz="1000">
              <a:solidFill>
                <a:srgbClr val="3C4856"/>
              </a:solidFill>
              <a:latin typeface="Lato"/>
              <a:ea typeface="Lato"/>
              <a:cs typeface="Lato"/>
              <a:sym typeface="Lato"/>
            </a:endParaRPr>
          </a:p>
        </p:txBody>
      </p:sp>
      <p:cxnSp>
        <p:nvCxnSpPr>
          <p:cNvPr id="323" name="Google Shape;323;p46"/>
          <p:cNvCxnSpPr>
            <a:stCxn id="319" idx="3"/>
            <a:endCxn id="322" idx="1"/>
          </p:cNvCxnSpPr>
          <p:nvPr/>
        </p:nvCxnSpPr>
        <p:spPr>
          <a:xfrm flipH="1" rot="10800000">
            <a:off x="6263143" y="3678301"/>
            <a:ext cx="215400" cy="356100"/>
          </a:xfrm>
          <a:prstGeom prst="bentConnector3">
            <a:avLst>
              <a:gd fmla="val 49981" name="adj1"/>
            </a:avLst>
          </a:prstGeom>
          <a:noFill/>
          <a:ln cap="flat" cmpd="sng" w="9525">
            <a:solidFill>
              <a:srgbClr val="C1C0CE"/>
            </a:solidFill>
            <a:prstDash val="solid"/>
            <a:round/>
            <a:headEnd len="med" w="med" type="none"/>
            <a:tailEnd len="med" w="med" type="stealth"/>
          </a:ln>
        </p:spPr>
      </p:cxnSp>
      <p:sp>
        <p:nvSpPr>
          <p:cNvPr id="324" name="Google Shape;324;p46"/>
          <p:cNvSpPr/>
          <p:nvPr/>
        </p:nvSpPr>
        <p:spPr>
          <a:xfrm>
            <a:off x="119000" y="793038"/>
            <a:ext cx="1044900" cy="517800"/>
          </a:xfrm>
          <a:prstGeom prst="roundRect">
            <a:avLst>
              <a:gd fmla="val 9154" name="adj"/>
            </a:avLst>
          </a:prstGeom>
          <a:solidFill>
            <a:srgbClr val="00D3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3C4856"/>
                </a:solidFill>
                <a:latin typeface="Poppins SemiBold"/>
                <a:ea typeface="Poppins SemiBold"/>
                <a:cs typeface="Poppins SemiBold"/>
                <a:sym typeface="Poppins SemiBold"/>
              </a:rPr>
              <a:t>Log in from the email notification</a:t>
            </a:r>
            <a:endParaRPr sz="1000">
              <a:solidFill>
                <a:srgbClr val="3C4856"/>
              </a:solidFill>
              <a:latin typeface="Poppins SemiBold"/>
              <a:ea typeface="Poppins SemiBold"/>
              <a:cs typeface="Poppins SemiBold"/>
              <a:sym typeface="Poppins SemiBold"/>
            </a:endParaRPr>
          </a:p>
        </p:txBody>
      </p:sp>
      <p:cxnSp>
        <p:nvCxnSpPr>
          <p:cNvPr id="325" name="Google Shape;325;p46"/>
          <p:cNvCxnSpPr>
            <a:stCxn id="324" idx="2"/>
            <a:endCxn id="326" idx="0"/>
          </p:cNvCxnSpPr>
          <p:nvPr/>
        </p:nvCxnSpPr>
        <p:spPr>
          <a:xfrm flipH="1" rot="-5400000">
            <a:off x="-28300" y="1980588"/>
            <a:ext cx="1340100" cy="600"/>
          </a:xfrm>
          <a:prstGeom prst="bentConnector3">
            <a:avLst>
              <a:gd fmla="val 53428" name="adj1"/>
            </a:avLst>
          </a:prstGeom>
          <a:noFill/>
          <a:ln cap="flat" cmpd="sng" w="9525">
            <a:solidFill>
              <a:srgbClr val="C1C0CE"/>
            </a:solidFill>
            <a:prstDash val="solid"/>
            <a:round/>
            <a:headEnd len="med" w="med" type="none"/>
            <a:tailEnd len="med" w="med" type="stealth"/>
          </a:ln>
        </p:spPr>
      </p:cxnSp>
      <p:sp>
        <p:nvSpPr>
          <p:cNvPr id="326" name="Google Shape;326;p46"/>
          <p:cNvSpPr/>
          <p:nvPr/>
        </p:nvSpPr>
        <p:spPr>
          <a:xfrm>
            <a:off x="88998" y="2650850"/>
            <a:ext cx="1104900" cy="645600"/>
          </a:xfrm>
          <a:prstGeom prst="roundRect">
            <a:avLst>
              <a:gd fmla="val 9252" name="adj"/>
            </a:avLst>
          </a:prstGeom>
          <a:solidFill>
            <a:srgbClr val="5AED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Loyalty dashboard</a:t>
            </a:r>
            <a:endParaRPr sz="1000">
              <a:solidFill>
                <a:srgbClr val="3C4856"/>
              </a:solidFill>
              <a:latin typeface="Lato"/>
              <a:ea typeface="Lato"/>
              <a:cs typeface="Lato"/>
              <a:sym typeface="Lato"/>
            </a:endParaRPr>
          </a:p>
        </p:txBody>
      </p:sp>
      <p:cxnSp>
        <p:nvCxnSpPr>
          <p:cNvPr id="327" name="Google Shape;327;p46"/>
          <p:cNvCxnSpPr>
            <a:stCxn id="326" idx="3"/>
            <a:endCxn id="308" idx="1"/>
          </p:cNvCxnSpPr>
          <p:nvPr/>
        </p:nvCxnSpPr>
        <p:spPr>
          <a:xfrm>
            <a:off x="1193898" y="2973650"/>
            <a:ext cx="414000" cy="600"/>
          </a:xfrm>
          <a:prstGeom prst="bentConnector3">
            <a:avLst>
              <a:gd fmla="val 49991" name="adj1"/>
            </a:avLst>
          </a:prstGeom>
          <a:noFill/>
          <a:ln cap="flat" cmpd="sng" w="9525">
            <a:solidFill>
              <a:srgbClr val="C1C0CE"/>
            </a:solidFill>
            <a:prstDash val="solid"/>
            <a:round/>
            <a:headEnd len="med" w="med" type="none"/>
            <a:tailEnd len="med" w="med" type="stealth"/>
          </a:ln>
        </p:spPr>
      </p:cxnSp>
      <p:sp>
        <p:nvSpPr>
          <p:cNvPr id="328" name="Google Shape;328;p46"/>
          <p:cNvSpPr txBox="1"/>
          <p:nvPr>
            <p:ph type="title"/>
          </p:nvPr>
        </p:nvSpPr>
        <p:spPr>
          <a:xfrm>
            <a:off x="119000" y="36125"/>
            <a:ext cx="1771800" cy="300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User Flow</a:t>
            </a:r>
            <a:endParaRPr sz="1800">
              <a:latin typeface="Poppins"/>
              <a:ea typeface="Poppins"/>
              <a:cs typeface="Poppins"/>
              <a:sym typeface="Poppins"/>
            </a:endParaRPr>
          </a:p>
        </p:txBody>
      </p:sp>
      <p:sp>
        <p:nvSpPr>
          <p:cNvPr id="329" name="Google Shape;329;p46"/>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Olesia</a:t>
            </a:r>
            <a:endParaRPr b="0" sz="800"/>
          </a:p>
        </p:txBody>
      </p:sp>
      <p:cxnSp>
        <p:nvCxnSpPr>
          <p:cNvPr id="330" name="Google Shape;330;p46"/>
          <p:cNvCxnSpPr>
            <a:stCxn id="307" idx="1"/>
          </p:cNvCxnSpPr>
          <p:nvPr/>
        </p:nvCxnSpPr>
        <p:spPr>
          <a:xfrm flipH="1">
            <a:off x="756875" y="1930638"/>
            <a:ext cx="620700" cy="711300"/>
          </a:xfrm>
          <a:prstGeom prst="bentConnector2">
            <a:avLst/>
          </a:prstGeom>
          <a:noFill/>
          <a:ln cap="flat" cmpd="sng" w="9525">
            <a:solidFill>
              <a:srgbClr val="C1C0CE"/>
            </a:solidFill>
            <a:prstDash val="solid"/>
            <a:round/>
            <a:headEnd len="med" w="med" type="none"/>
            <a:tailEnd len="med" w="med" type="stealth"/>
          </a:ln>
        </p:spPr>
      </p:cxnSp>
      <p:sp>
        <p:nvSpPr>
          <p:cNvPr id="331" name="Google Shape;331;p46"/>
          <p:cNvSpPr/>
          <p:nvPr/>
        </p:nvSpPr>
        <p:spPr>
          <a:xfrm>
            <a:off x="3931050" y="3775500"/>
            <a:ext cx="1281900" cy="517800"/>
          </a:xfrm>
          <a:prstGeom prst="roundRect">
            <a:avLst>
              <a:gd fmla="val 16667" name="adj"/>
            </a:avLst>
          </a:prstGeom>
          <a:solidFill>
            <a:srgbClr val="C1C0C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3C4856"/>
                </a:solidFill>
                <a:latin typeface="Lato"/>
                <a:ea typeface="Lato"/>
                <a:cs typeface="Lato"/>
                <a:sym typeface="Lato"/>
              </a:rPr>
              <a:t>Enough points</a:t>
            </a:r>
            <a:endParaRPr i="1" sz="1000">
              <a:solidFill>
                <a:srgbClr val="3C4856"/>
              </a:solidFill>
              <a:latin typeface="Lato"/>
              <a:ea typeface="Lato"/>
              <a:cs typeface="Lato"/>
              <a:sym typeface="Lato"/>
            </a:endParaRPr>
          </a:p>
        </p:txBody>
      </p:sp>
      <p:cxnSp>
        <p:nvCxnSpPr>
          <p:cNvPr id="332" name="Google Shape;332;p46"/>
          <p:cNvCxnSpPr>
            <a:stCxn id="308" idx="3"/>
            <a:endCxn id="331" idx="1"/>
          </p:cNvCxnSpPr>
          <p:nvPr/>
        </p:nvCxnSpPr>
        <p:spPr>
          <a:xfrm>
            <a:off x="3401525" y="2973650"/>
            <a:ext cx="529500" cy="1060800"/>
          </a:xfrm>
          <a:prstGeom prst="bentConnector3">
            <a:avLst>
              <a:gd fmla="val 50002" name="adj1"/>
            </a:avLst>
          </a:prstGeom>
          <a:noFill/>
          <a:ln cap="flat" cmpd="sng" w="9525">
            <a:solidFill>
              <a:srgbClr val="C1C0CE"/>
            </a:solidFill>
            <a:prstDash val="solid"/>
            <a:round/>
            <a:headEnd len="med" w="med" type="none"/>
            <a:tailEnd len="med" w="med" type="stealth"/>
          </a:ln>
        </p:spPr>
      </p:cxnSp>
      <p:cxnSp>
        <p:nvCxnSpPr>
          <p:cNvPr id="333" name="Google Shape;333;p46"/>
          <p:cNvCxnSpPr>
            <a:stCxn id="331" idx="3"/>
            <a:endCxn id="319" idx="1"/>
          </p:cNvCxnSpPr>
          <p:nvPr/>
        </p:nvCxnSpPr>
        <p:spPr>
          <a:xfrm>
            <a:off x="5212950" y="4034400"/>
            <a:ext cx="215400" cy="600"/>
          </a:xfrm>
          <a:prstGeom prst="bentConnector3">
            <a:avLst>
              <a:gd fmla="val 49975" name="adj1"/>
            </a:avLst>
          </a:prstGeom>
          <a:noFill/>
          <a:ln cap="flat" cmpd="sng" w="9525">
            <a:solidFill>
              <a:srgbClr val="C1C0CE"/>
            </a:solidFill>
            <a:prstDash val="solid"/>
            <a:round/>
            <a:headEnd len="med" w="med" type="none"/>
            <a:tailEnd len="med" w="med" type="stealth"/>
          </a:ln>
        </p:spPr>
      </p:cxnSp>
      <p:cxnSp>
        <p:nvCxnSpPr>
          <p:cNvPr id="334" name="Google Shape;334;p46"/>
          <p:cNvCxnSpPr>
            <a:stCxn id="312" idx="3"/>
            <a:endCxn id="315" idx="1"/>
          </p:cNvCxnSpPr>
          <p:nvPr/>
        </p:nvCxnSpPr>
        <p:spPr>
          <a:xfrm>
            <a:off x="7058250" y="1671750"/>
            <a:ext cx="1005300" cy="725100"/>
          </a:xfrm>
          <a:prstGeom prst="bentConnector3">
            <a:avLst>
              <a:gd fmla="val 50005" name="adj1"/>
            </a:avLst>
          </a:prstGeom>
          <a:noFill/>
          <a:ln cap="flat" cmpd="sng" w="9525">
            <a:solidFill>
              <a:srgbClr val="C1C0CE"/>
            </a:solidFill>
            <a:prstDash val="solid"/>
            <a:round/>
            <a:headEnd len="med" w="med" type="none"/>
            <a:tailEnd len="med" w="med" type="stealth"/>
          </a:ln>
        </p:spPr>
      </p:cxnSp>
      <p:cxnSp>
        <p:nvCxnSpPr>
          <p:cNvPr id="335" name="Google Shape;335;p46"/>
          <p:cNvCxnSpPr>
            <a:stCxn id="322" idx="3"/>
            <a:endCxn id="315" idx="1"/>
          </p:cNvCxnSpPr>
          <p:nvPr/>
        </p:nvCxnSpPr>
        <p:spPr>
          <a:xfrm flipH="1" rot="10800000">
            <a:off x="7409659" y="2396821"/>
            <a:ext cx="654000" cy="1281600"/>
          </a:xfrm>
          <a:prstGeom prst="bentConnector3">
            <a:avLst>
              <a:gd fmla="val 49999" name="adj1"/>
            </a:avLst>
          </a:prstGeom>
          <a:noFill/>
          <a:ln cap="flat" cmpd="sng" w="9525">
            <a:solidFill>
              <a:srgbClr val="C1C0CE"/>
            </a:solidFill>
            <a:prstDash val="solid"/>
            <a:round/>
            <a:headEnd len="med" w="med" type="none"/>
            <a:tailEnd len="med" w="med" type="stealth"/>
          </a:ln>
        </p:spPr>
      </p:cxnSp>
      <p:cxnSp>
        <p:nvCxnSpPr>
          <p:cNvPr id="336" name="Google Shape;336;p46"/>
          <p:cNvCxnSpPr>
            <a:stCxn id="321" idx="3"/>
            <a:endCxn id="315" idx="1"/>
          </p:cNvCxnSpPr>
          <p:nvPr/>
        </p:nvCxnSpPr>
        <p:spPr>
          <a:xfrm flipH="1" rot="10800000">
            <a:off x="7409660" y="2396725"/>
            <a:ext cx="654000" cy="2010300"/>
          </a:xfrm>
          <a:prstGeom prst="bentConnector3">
            <a:avLst>
              <a:gd fmla="val 49999" name="adj1"/>
            </a:avLst>
          </a:prstGeom>
          <a:noFill/>
          <a:ln cap="flat" cmpd="sng" w="9525">
            <a:solidFill>
              <a:srgbClr val="C1C0CE"/>
            </a:solidFill>
            <a:prstDash val="solid"/>
            <a:round/>
            <a:headEnd len="med" w="med" type="none"/>
            <a:tailEnd len="med" w="med" type="stealth"/>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7"/>
          <p:cNvSpPr txBox="1"/>
          <p:nvPr>
            <p:ph type="title"/>
          </p:nvPr>
        </p:nvSpPr>
        <p:spPr>
          <a:xfrm>
            <a:off x="123800" y="0"/>
            <a:ext cx="3089700" cy="45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Engineering Roadmap</a:t>
            </a:r>
            <a:endParaRPr/>
          </a:p>
        </p:txBody>
      </p:sp>
      <p:graphicFrame>
        <p:nvGraphicFramePr>
          <p:cNvPr id="342" name="Google Shape;342;p47"/>
          <p:cNvGraphicFramePr/>
          <p:nvPr/>
        </p:nvGraphicFramePr>
        <p:xfrm>
          <a:off x="0" y="372275"/>
          <a:ext cx="3000000" cy="3000000"/>
        </p:xfrm>
        <a:graphic>
          <a:graphicData uri="http://schemas.openxmlformats.org/drawingml/2006/table">
            <a:tbl>
              <a:tblPr>
                <a:noFill/>
                <a:tableStyleId>{9D674B5D-665A-4A29-8576-8D9D123CEF60}</a:tableStyleId>
              </a:tblPr>
              <a:tblGrid>
                <a:gridCol w="1720050"/>
                <a:gridCol w="4678425"/>
                <a:gridCol w="669575"/>
                <a:gridCol w="2075950"/>
              </a:tblGrid>
              <a:tr h="194200">
                <a:tc>
                  <a:txBody>
                    <a:bodyPr/>
                    <a:lstStyle/>
                    <a:p>
                      <a:pPr indent="0" lvl="0" marL="0" rtl="0" algn="l">
                        <a:lnSpc>
                          <a:spcPct val="115000"/>
                        </a:lnSpc>
                        <a:spcBef>
                          <a:spcPts val="0"/>
                        </a:spcBef>
                        <a:spcAft>
                          <a:spcPts val="0"/>
                        </a:spcAft>
                        <a:buNone/>
                      </a:pPr>
                      <a:r>
                        <a:rPr b="1" lang="en" sz="900">
                          <a:solidFill>
                            <a:srgbClr val="85859F"/>
                          </a:solidFill>
                          <a:latin typeface="Poppins"/>
                          <a:ea typeface="Poppins"/>
                          <a:cs typeface="Poppins"/>
                          <a:sym typeface="Poppins"/>
                        </a:rPr>
                        <a:t>OWNER</a:t>
                      </a:r>
                      <a:endParaRPr sz="900"/>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85859F"/>
                          </a:solidFill>
                          <a:latin typeface="Poppins"/>
                          <a:ea typeface="Poppins"/>
                          <a:cs typeface="Poppins"/>
                          <a:sym typeface="Poppins"/>
                        </a:rPr>
                        <a:t>TASK</a:t>
                      </a:r>
                      <a:endParaRPr sz="900"/>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solidFill>
                            <a:srgbClr val="85859F"/>
                          </a:solidFill>
                          <a:latin typeface="Poppins"/>
                          <a:ea typeface="Poppins"/>
                          <a:cs typeface="Poppins"/>
                          <a:sym typeface="Poppins"/>
                        </a:rPr>
                        <a:t>ROADMAP PHASE</a:t>
                      </a:r>
                      <a:endParaRPr sz="900"/>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900">
                          <a:solidFill>
                            <a:srgbClr val="85859F"/>
                          </a:solidFill>
                          <a:latin typeface="Poppins"/>
                          <a:ea typeface="Poppins"/>
                          <a:cs typeface="Poppins"/>
                          <a:sym typeface="Poppins"/>
                        </a:rPr>
                        <a:t>MILESTONE</a:t>
                      </a:r>
                      <a:endParaRPr sz="900"/>
                    </a:p>
                  </a:txBody>
                  <a:tcPr marT="25400" marB="25400" marR="25400" marL="25400"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32925">
                <a:tc>
                  <a:txBody>
                    <a:bodyPr/>
                    <a:lstStyle/>
                    <a:p>
                      <a:pPr indent="0" lvl="0" marL="0" rtl="0" algn="ctr">
                        <a:lnSpc>
                          <a:spcPct val="115000"/>
                        </a:lnSpc>
                        <a:spcBef>
                          <a:spcPts val="0"/>
                        </a:spcBef>
                        <a:spcAft>
                          <a:spcPts val="0"/>
                        </a:spcAft>
                        <a:buNone/>
                      </a:pPr>
                      <a:r>
                        <a:rPr lang="en" sz="1100">
                          <a:solidFill>
                            <a:schemeClr val="dk2"/>
                          </a:solidFill>
                          <a:latin typeface="Lato"/>
                          <a:ea typeface="Lato"/>
                          <a:cs typeface="Lato"/>
                          <a:sym typeface="Lato"/>
                        </a:rPr>
                        <a:t>Back-End Engineering</a:t>
                      </a:r>
                      <a:endParaRPr sz="1100">
                        <a:solidFill>
                          <a:srgbClr val="103869"/>
                        </a:solidFill>
                        <a:latin typeface="Lato"/>
                        <a:ea typeface="Lato"/>
                        <a:cs typeface="Lato"/>
                        <a:sym typeface="Lato"/>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Analytics of loyalty program </a:t>
                      </a:r>
                      <a:r>
                        <a:rPr lang="en" sz="1100">
                          <a:latin typeface="Lato"/>
                          <a:ea typeface="Lato"/>
                          <a:cs typeface="Lato"/>
                          <a:sym typeface="Lato"/>
                        </a:rPr>
                        <a:t>sign</a:t>
                      </a:r>
                      <a:r>
                        <a:rPr lang="en" sz="1100">
                          <a:latin typeface="Lato"/>
                          <a:ea typeface="Lato"/>
                          <a:cs typeface="Lato"/>
                          <a:sym typeface="Lato"/>
                        </a:rPr>
                        <a:t>-ups</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1</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Fake door</a:t>
                      </a:r>
                      <a:endParaRPr sz="1100">
                        <a:solidFill>
                          <a:srgbClr val="BC3485"/>
                        </a:solidFill>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7730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Front-End Engineering</a:t>
                      </a:r>
                      <a:endParaRPr sz="1100">
                        <a:solidFill>
                          <a:srgbClr val="103869"/>
                        </a:solidFill>
                        <a:latin typeface="Lato"/>
                        <a:ea typeface="Lato"/>
                        <a:cs typeface="Lato"/>
                        <a:sym typeface="Lato"/>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Website page with a sign-up button, website page with a “Coming soon message”</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1</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Fake door</a:t>
                      </a:r>
                      <a:endParaRPr sz="1100">
                        <a:solidFill>
                          <a:srgbClr val="BC3485"/>
                        </a:solidFill>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54375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Back-End Engineering</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Extend user back-end database to </a:t>
                      </a:r>
                      <a:r>
                        <a:rPr lang="en" sz="1100">
                          <a:latin typeface="Lato"/>
                          <a:ea typeface="Lato"/>
                          <a:cs typeface="Lato"/>
                          <a:sym typeface="Lato"/>
                        </a:rPr>
                        <a:t>differentiate</a:t>
                      </a:r>
                      <a:r>
                        <a:rPr lang="en" sz="1100">
                          <a:latin typeface="Lato"/>
                          <a:ea typeface="Lato"/>
                          <a:cs typeface="Lato"/>
                          <a:sym typeface="Lato"/>
                        </a:rPr>
                        <a:t> loyalty program users from others and track user loyalty points.</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BC3485"/>
                          </a:solidFill>
                          <a:latin typeface="Lato"/>
                          <a:ea typeface="Lato"/>
                          <a:cs typeface="Lato"/>
                          <a:sym typeface="Lato"/>
                        </a:rPr>
                        <a:t>Infrastructure ready</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7730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Back-End Engineering</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Build database logic to map points to perks (3/6/12 points → Lounge Pass / Spa Voucher/ Weekend Night).</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BC3485"/>
                          </a:solidFill>
                          <a:latin typeface="Lato"/>
                          <a:ea typeface="Lato"/>
                          <a:cs typeface="Lato"/>
                          <a:sym typeface="Lato"/>
                        </a:rPr>
                        <a:t>Infrastructure ready</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54375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UX Design</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BAF7EC"/>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Design updated app interface showing points, progress ladder, and future benefit notifications (“You’re 2 trips away from Lounge Pass”).</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03876F"/>
                          </a:solidFill>
                          <a:latin typeface="Lato"/>
                          <a:ea typeface="Lato"/>
                          <a:cs typeface="Lato"/>
                          <a:sym typeface="Lato"/>
                        </a:rPr>
                        <a:t>Interface design</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7730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Front End Engineering</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D8D8E9"/>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Develop front-end dashboard for users: points display, progress ladder, reward redemption.</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03876F"/>
                          </a:solidFill>
                          <a:latin typeface="Lato"/>
                          <a:ea typeface="Lato"/>
                          <a:cs typeface="Lato"/>
                          <a:sym typeface="Lato"/>
                        </a:rPr>
                        <a:t>Interface launch</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32925">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Documentation Writer</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FFF1DD"/>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Document the Loyalty Program feature.</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0F7C8A"/>
                          </a:solidFill>
                          <a:latin typeface="Lato"/>
                          <a:ea typeface="Lato"/>
                          <a:cs typeface="Lato"/>
                          <a:sym typeface="Lato"/>
                        </a:rPr>
                        <a:t>Documented</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37730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Customer Support</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E5E5EB"/>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Train the customer support team on the questions related to Loyalty program functionality</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0F7C8A"/>
                          </a:solidFill>
                          <a:latin typeface="Lato"/>
                          <a:ea typeface="Lato"/>
                          <a:cs typeface="Lato"/>
                          <a:sym typeface="Lato"/>
                        </a:rPr>
                        <a:t>Team ready</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54375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Marketing</a:t>
                      </a:r>
                      <a:endParaRPr sz="1000"/>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FFDBD8"/>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Develop and launch GTM campaign for Loyalty Program; include messaging about points ladder and future benefits.</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2</a:t>
                      </a:r>
                      <a:endParaRPr sz="1000"/>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MVP </a:t>
                      </a:r>
                      <a:r>
                        <a:rPr lang="en" sz="1100">
                          <a:solidFill>
                            <a:srgbClr val="0F7C8A"/>
                          </a:solidFill>
                          <a:latin typeface="Lato"/>
                          <a:ea typeface="Lato"/>
                          <a:cs typeface="Lato"/>
                          <a:sym typeface="Lato"/>
                        </a:rPr>
                        <a:t>Launch</a:t>
                      </a:r>
                      <a:endParaRPr sz="1000"/>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r h="543750">
                <a:tc>
                  <a:txBody>
                    <a:bodyPr/>
                    <a:lstStyle/>
                    <a:p>
                      <a:pPr indent="0" lvl="0" marL="0" rtl="0" algn="ctr">
                        <a:lnSpc>
                          <a:spcPct val="115000"/>
                        </a:lnSpc>
                        <a:spcBef>
                          <a:spcPts val="0"/>
                        </a:spcBef>
                        <a:spcAft>
                          <a:spcPts val="0"/>
                        </a:spcAft>
                        <a:buNone/>
                      </a:pPr>
                      <a:r>
                        <a:rPr lang="en" sz="1100">
                          <a:solidFill>
                            <a:srgbClr val="103869"/>
                          </a:solidFill>
                          <a:latin typeface="Lato"/>
                          <a:ea typeface="Lato"/>
                          <a:cs typeface="Lato"/>
                          <a:sym typeface="Lato"/>
                        </a:rPr>
                        <a:t>Analytics</a:t>
                      </a:r>
                      <a:endParaRPr sz="1100">
                        <a:solidFill>
                          <a:srgbClr val="103869"/>
                        </a:solidFill>
                        <a:latin typeface="Lato"/>
                        <a:ea typeface="Lato"/>
                        <a:cs typeface="Lato"/>
                        <a:sym typeface="Lato"/>
                      </a:endParaRPr>
                    </a:p>
                  </a:txBody>
                  <a:tcPr marT="25400" marB="25400" marR="25400" marL="25400" anchor="ctr">
                    <a:lnL cap="flat" cmpd="sng" w="178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solidFill>
                      <a:srgbClr val="FFDBD8"/>
                    </a:solidFill>
                  </a:tcPr>
                </a:tc>
                <a:tc>
                  <a:txBody>
                    <a:bodyPr/>
                    <a:lstStyle/>
                    <a:p>
                      <a:pPr indent="0" lvl="0" marL="0" rtl="0" algn="l">
                        <a:lnSpc>
                          <a:spcPct val="115000"/>
                        </a:lnSpc>
                        <a:spcBef>
                          <a:spcPts val="0"/>
                        </a:spcBef>
                        <a:spcAft>
                          <a:spcPts val="0"/>
                        </a:spcAft>
                        <a:buNone/>
                      </a:pPr>
                      <a:r>
                        <a:rPr lang="en" sz="1100">
                          <a:latin typeface="Lato"/>
                          <a:ea typeface="Lato"/>
                          <a:cs typeface="Lato"/>
                          <a:sym typeface="Lato"/>
                        </a:rPr>
                        <a:t>Add an MVP analytics to the company dashboard tracking metrics from PRD</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Lato"/>
                          <a:ea typeface="Lato"/>
                          <a:cs typeface="Lato"/>
                          <a:sym typeface="Lato"/>
                        </a:rPr>
                        <a:t>3</a:t>
                      </a:r>
                      <a:endParaRPr sz="1100">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rgbClr val="BC3485"/>
                          </a:solidFill>
                          <a:latin typeface="Lato"/>
                          <a:ea typeface="Lato"/>
                          <a:cs typeface="Lato"/>
                          <a:sym typeface="Lato"/>
                        </a:rPr>
                        <a:t>Analytics set up</a:t>
                      </a:r>
                      <a:endParaRPr sz="1100">
                        <a:solidFill>
                          <a:srgbClr val="BC3485"/>
                        </a:solidFill>
                        <a:latin typeface="Lato"/>
                        <a:ea typeface="Lato"/>
                        <a:cs typeface="Lato"/>
                        <a:sym typeface="Lato"/>
                      </a:endParaRPr>
                    </a:p>
                  </a:txBody>
                  <a:tcPr marT="25400" marB="25400" marR="25400" marL="25400" anchor="ctr">
                    <a:lnL cap="flat" cmpd="sng" w="5950">
                      <a:solidFill>
                        <a:srgbClr val="CCCCCC"/>
                      </a:solidFill>
                      <a:prstDash val="solid"/>
                      <a:round/>
                      <a:headEnd len="sm" w="sm" type="none"/>
                      <a:tailEnd len="sm" w="sm" type="none"/>
                    </a:lnL>
                    <a:lnR cap="flat" cmpd="sng" w="17850">
                      <a:solidFill>
                        <a:srgbClr val="CCCCCC"/>
                      </a:solidFill>
                      <a:prstDash val="solid"/>
                      <a:round/>
                      <a:headEnd len="sm" w="sm" type="none"/>
                      <a:tailEnd len="sm" w="sm" type="none"/>
                    </a:lnR>
                    <a:lnT cap="flat" cmpd="sng" w="17850">
                      <a:solidFill>
                        <a:srgbClr val="CCCCCC"/>
                      </a:solidFill>
                      <a:prstDash val="solid"/>
                      <a:round/>
                      <a:headEnd len="sm" w="sm" type="none"/>
                      <a:tailEnd len="sm" w="sm" type="none"/>
                    </a:lnT>
                    <a:lnB cap="flat" cmpd="sng" w="17850">
                      <a:solidFill>
                        <a:srgbClr val="CCCCCC"/>
                      </a:solidFill>
                      <a:prstDash val="solid"/>
                      <a:round/>
                      <a:headEnd len="sm" w="sm" type="none"/>
                      <a:tailEnd len="sm" w="sm" type="none"/>
                    </a:lnB>
                  </a:tcPr>
                </a:tc>
              </a:tr>
            </a:tbl>
          </a:graphicData>
        </a:graphic>
      </p:graphicFrame>
      <p:sp>
        <p:nvSpPr>
          <p:cNvPr id="343" name="Google Shape;343;p47"/>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Olesia</a:t>
            </a:r>
            <a:endParaRPr b="0" sz="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8"/>
          <p:cNvSpPr txBox="1"/>
          <p:nvPr>
            <p:ph type="title"/>
          </p:nvPr>
        </p:nvSpPr>
        <p:spPr>
          <a:xfrm>
            <a:off x="68425" y="0"/>
            <a:ext cx="3089700" cy="45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Engineering Sprints</a:t>
            </a:r>
            <a:endParaRPr/>
          </a:p>
        </p:txBody>
      </p:sp>
      <p:graphicFrame>
        <p:nvGraphicFramePr>
          <p:cNvPr id="349" name="Google Shape;349;p48"/>
          <p:cNvGraphicFramePr/>
          <p:nvPr/>
        </p:nvGraphicFramePr>
        <p:xfrm>
          <a:off x="68425" y="451800"/>
          <a:ext cx="3000000" cy="3000000"/>
        </p:xfrm>
        <a:graphic>
          <a:graphicData uri="http://schemas.openxmlformats.org/drawingml/2006/table">
            <a:tbl>
              <a:tblPr>
                <a:noFill/>
                <a:tableStyleId>{9D674B5D-665A-4A29-8576-8D9D123CEF60}</a:tableStyleId>
              </a:tblPr>
              <a:tblGrid>
                <a:gridCol w="1316850"/>
                <a:gridCol w="2717325"/>
                <a:gridCol w="2717325"/>
                <a:gridCol w="1617450"/>
              </a:tblGrid>
              <a:tr h="342900">
                <a:tc>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OWNER</a:t>
                      </a:r>
                      <a:endParaRPr sz="1000"/>
                    </a:p>
                  </a:txBody>
                  <a:tcPr marT="25400" marB="25400" marR="25400" marL="25400" anchor="b">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TASK</a:t>
                      </a:r>
                      <a:endParaRPr sz="1000"/>
                    </a:p>
                  </a:txBody>
                  <a:tcPr marT="25400" marB="25400" marR="25400" marL="25400" anchor="b">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solidFill>
                            <a:srgbClr val="85859F"/>
                          </a:solidFill>
                          <a:latin typeface="Poppins"/>
                          <a:ea typeface="Poppins"/>
                          <a:cs typeface="Poppins"/>
                          <a:sym typeface="Poppins"/>
                        </a:rPr>
                        <a:t>TASK CONSIDERATIONS</a:t>
                      </a:r>
                      <a:endParaRPr sz="1000"/>
                    </a:p>
                  </a:txBody>
                  <a:tcPr marT="25400" marB="25400" marR="25400" marL="25400" anchor="b">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solidFill>
                            <a:srgbClr val="85859F"/>
                          </a:solidFill>
                          <a:latin typeface="Poppins"/>
                          <a:ea typeface="Poppins"/>
                          <a:cs typeface="Poppins"/>
                          <a:sym typeface="Poppins"/>
                        </a:rPr>
                        <a:t>AVERAGE SPRINT POINT (PER PERSON)</a:t>
                      </a:r>
                      <a:endParaRPr sz="1000"/>
                    </a:p>
                  </a:txBody>
                  <a:tcPr marT="25400" marB="25400" marR="25400" marL="25400" anchor="b">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Designer</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BAF7EC"/>
                    </a:solidFill>
                  </a:tcPr>
                </a:tc>
                <a:tc>
                  <a:txBody>
                    <a:bodyPr/>
                    <a:lstStyle/>
                    <a:p>
                      <a:pPr indent="0" lvl="0" marL="0" rtl="0" algn="l">
                        <a:lnSpc>
                          <a:spcPct val="115000"/>
                        </a:lnSpc>
                        <a:spcBef>
                          <a:spcPts val="0"/>
                        </a:spcBef>
                        <a:spcAft>
                          <a:spcPts val="0"/>
                        </a:spcAft>
                        <a:buNone/>
                      </a:pPr>
                      <a:r>
                        <a:rPr lang="en" sz="1000"/>
                        <a:t>Design a fake door page with a “Join loyalty program” button, a fake door page with a “coming soon” message</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CTA should be clear and prominent; align with brand. Keep messaging consistent with brand; emphasize exclusivity of upcoming benefits.</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3</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Technical analyst</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FFF1DD"/>
                    </a:solidFill>
                  </a:tcPr>
                </a:tc>
                <a:tc>
                  <a:txBody>
                    <a:bodyPr/>
                    <a:lstStyle/>
                    <a:p>
                      <a:pPr indent="0" lvl="0" marL="0" rtl="0" algn="l">
                        <a:lnSpc>
                          <a:spcPct val="115000"/>
                        </a:lnSpc>
                        <a:spcBef>
                          <a:spcPts val="0"/>
                        </a:spcBef>
                        <a:spcAft>
                          <a:spcPts val="0"/>
                        </a:spcAft>
                        <a:buNone/>
                      </a:pPr>
                      <a:r>
                        <a:rPr lang="en" sz="1000"/>
                        <a:t>Develop API for a fake door (document)</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Ensure security.</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3</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Database back-end dev</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E5E5EB"/>
                    </a:solidFill>
                  </a:tcPr>
                </a:tc>
                <a:tc>
                  <a:txBody>
                    <a:bodyPr/>
                    <a:lstStyle/>
                    <a:p>
                      <a:pPr indent="0" lvl="0" marL="0" rtl="0" algn="l">
                        <a:lnSpc>
                          <a:spcPct val="115000"/>
                        </a:lnSpc>
                        <a:spcBef>
                          <a:spcPts val="0"/>
                        </a:spcBef>
                        <a:spcAft>
                          <a:spcPts val="0"/>
                        </a:spcAft>
                        <a:buNone/>
                      </a:pPr>
                      <a:r>
                        <a:rPr lang="en" sz="1000"/>
                        <a:t>Extend the database</a:t>
                      </a:r>
                      <a:endParaRPr/>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Add loyalty program table &amp; fields to track user interest, points, and rewards; design for future scaling</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6</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Back-end dev</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E5E5EB"/>
                    </a:solidFill>
                  </a:tcPr>
                </a:tc>
                <a:tc>
                  <a:txBody>
                    <a:bodyPr/>
                    <a:lstStyle/>
                    <a:p>
                      <a:pPr indent="0" lvl="0" marL="0" rtl="0" algn="l">
                        <a:lnSpc>
                          <a:spcPct val="115000"/>
                        </a:lnSpc>
                        <a:spcBef>
                          <a:spcPts val="0"/>
                        </a:spcBef>
                        <a:spcAft>
                          <a:spcPts val="0"/>
                        </a:spcAft>
                        <a:buNone/>
                      </a:pPr>
                      <a:r>
                        <a:rPr lang="en" sz="1000"/>
                        <a:t>Implement API</a:t>
                      </a:r>
                      <a:endParaRPr/>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Consider errors</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4</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Front-end dev</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E5E5EB"/>
                    </a:solidFill>
                  </a:tcPr>
                </a:tc>
                <a:tc>
                  <a:txBody>
                    <a:bodyPr/>
                    <a:lstStyle/>
                    <a:p>
                      <a:pPr indent="0" lvl="0" marL="0" rtl="0" algn="l">
                        <a:lnSpc>
                          <a:spcPct val="115000"/>
                        </a:lnSpc>
                        <a:spcBef>
                          <a:spcPts val="0"/>
                        </a:spcBef>
                        <a:spcAft>
                          <a:spcPts val="0"/>
                        </a:spcAft>
                        <a:buNone/>
                      </a:pPr>
                      <a:r>
                        <a:rPr lang="en" sz="1000"/>
                        <a:t>Implement fake door page</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Build “Join Loyalty Program” and/or “Coming Soon” page; simple CTA; mobile + desktop responsive; connect to API for signups</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4</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Database back-end dev</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000"/>
                        <a:t>Add a list of benefit and their providers to a table, matching amount of points it costs.</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4</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Database back-end dev</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solidFill>
                      <a:srgbClr val="B9EFF5"/>
                    </a:solidFill>
                  </a:tcPr>
                </a:tc>
                <a:tc>
                  <a:txBody>
                    <a:bodyPr/>
                    <a:lstStyle/>
                    <a:p>
                      <a:pPr indent="0" lvl="0" marL="0" rtl="0" algn="l">
                        <a:lnSpc>
                          <a:spcPct val="115000"/>
                        </a:lnSpc>
                        <a:spcBef>
                          <a:spcPts val="0"/>
                        </a:spcBef>
                        <a:spcAft>
                          <a:spcPts val="0"/>
                        </a:spcAft>
                        <a:buNone/>
                      </a:pPr>
                      <a:r>
                        <a:rPr lang="en" sz="1000"/>
                        <a:t>Add a list of users to the loyalty program and assign points to them</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Depends on BD documenting benefit providers and benefits. Avoid giving points manually in prod; consider automated rules for eligibility</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3</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Front-end engineer</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E6E6F0"/>
                    </a:solidFill>
                  </a:tcPr>
                </a:tc>
                <a:tc>
                  <a:txBody>
                    <a:bodyPr/>
                    <a:lstStyle/>
                    <a:p>
                      <a:pPr indent="0" lvl="0" marL="0" rtl="0" algn="l">
                        <a:lnSpc>
                          <a:spcPct val="115000"/>
                        </a:lnSpc>
                        <a:spcBef>
                          <a:spcPts val="0"/>
                        </a:spcBef>
                        <a:spcAft>
                          <a:spcPts val="0"/>
                        </a:spcAft>
                        <a:buNone/>
                      </a:pPr>
                      <a:r>
                        <a:rPr lang="en" sz="1000"/>
                        <a:t>Implement MVP loyalty dashboard with points ladder and amount, benefits unlocked</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Show current points, upcoming rewards, and progress toward next reward; simple, clear UI</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5</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Front-end engineer</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E6E6F0"/>
                    </a:solidFill>
                  </a:tcPr>
                </a:tc>
                <a:tc>
                  <a:txBody>
                    <a:bodyPr/>
                    <a:lstStyle/>
                    <a:p>
                      <a:pPr indent="0" lvl="0" marL="0" rtl="0" algn="l">
                        <a:lnSpc>
                          <a:spcPct val="115000"/>
                        </a:lnSpc>
                        <a:spcBef>
                          <a:spcPts val="0"/>
                        </a:spcBef>
                        <a:spcAft>
                          <a:spcPts val="0"/>
                        </a:spcAft>
                        <a:buNone/>
                      </a:pPr>
                      <a:r>
                        <a:rPr lang="en" sz="1000"/>
                        <a:t>Display future-benefit notifications</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Show “You’re X trips away from next reward” in dashboard and in-app notifications</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2</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QA Engineer</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63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solidFill>
                      <a:srgbClr val="FFDBD8"/>
                    </a:solidFill>
                  </a:tcPr>
                </a:tc>
                <a:tc>
                  <a:txBody>
                    <a:bodyPr/>
                    <a:lstStyle/>
                    <a:p>
                      <a:pPr indent="0" lvl="0" marL="0" rtl="0" algn="l">
                        <a:lnSpc>
                          <a:spcPct val="115000"/>
                        </a:lnSpc>
                        <a:spcBef>
                          <a:spcPts val="0"/>
                        </a:spcBef>
                        <a:spcAft>
                          <a:spcPts val="0"/>
                        </a:spcAft>
                        <a:buNone/>
                      </a:pPr>
                      <a:r>
                        <a:rPr lang="en" sz="1000"/>
                        <a:t>Test reward unlock and redemption</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Ensure points update correctly; redemption works without errors. Vouchers get issued correctly.</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5</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None/>
                      </a:pPr>
                      <a:r>
                        <a:rPr lang="en" sz="1000"/>
                        <a:t>Technical Analyst</a:t>
                      </a:r>
                      <a:endParaRPr sz="1000"/>
                    </a:p>
                  </a:txBody>
                  <a:tcPr marT="25400" marB="25400" marR="25400" marL="25400" anchor="ctr">
                    <a:lnL cap="flat" cmpd="sng" w="190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6350">
                      <a:solidFill>
                        <a:srgbClr val="EFEFEF"/>
                      </a:solidFill>
                      <a:prstDash val="solid"/>
                      <a:round/>
                      <a:headEnd len="sm" w="sm" type="none"/>
                      <a:tailEnd len="sm" w="sm" type="none"/>
                    </a:lnB>
                    <a:solidFill>
                      <a:srgbClr val="FFF1DD"/>
                    </a:solidFill>
                  </a:tcPr>
                </a:tc>
                <a:tc>
                  <a:txBody>
                    <a:bodyPr/>
                    <a:lstStyle/>
                    <a:p>
                      <a:pPr indent="0" lvl="0" marL="0" rtl="0" algn="l">
                        <a:lnSpc>
                          <a:spcPct val="115000"/>
                        </a:lnSpc>
                        <a:spcBef>
                          <a:spcPts val="0"/>
                        </a:spcBef>
                        <a:spcAft>
                          <a:spcPts val="0"/>
                        </a:spcAft>
                        <a:buNone/>
                      </a:pPr>
                      <a:r>
                        <a:rPr lang="en" sz="1000"/>
                        <a:t>Integrate front-end dashboard with back-end</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Connect dashboard to DB/API for real-time points, progress, and reward redemption</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2</a:t>
                      </a:r>
                      <a:endParaRPr sz="1000"/>
                    </a:p>
                  </a:txBody>
                  <a:tcPr marT="25400" marB="25400" marR="25400" marL="25400" anchor="ctr">
                    <a:lnL cap="flat" cmpd="sng" w="6350">
                      <a:solidFill>
                        <a:srgbClr val="EFEFEF"/>
                      </a:solidFill>
                      <a:prstDash val="solid"/>
                      <a:round/>
                      <a:headEnd len="sm" w="sm" type="none"/>
                      <a:tailEnd len="sm" w="sm" type="none"/>
                    </a:lnL>
                    <a:lnR cap="flat" cmpd="sng" w="6350">
                      <a:solidFill>
                        <a:srgbClr val="EFEFEF"/>
                      </a:solidFill>
                      <a:prstDash val="solid"/>
                      <a:round/>
                      <a:headEnd len="sm" w="sm" type="none"/>
                      <a:tailEnd len="sm" w="sm" type="none"/>
                    </a:lnR>
                    <a:lnT cap="flat" cmpd="sng" w="19050">
                      <a:solidFill>
                        <a:srgbClr val="EFEFEF"/>
                      </a:solidFill>
                      <a:prstDash val="solid"/>
                      <a:round/>
                      <a:headEnd len="sm" w="sm" type="none"/>
                      <a:tailEnd len="sm" w="sm" type="none"/>
                    </a:lnT>
                    <a:lnB cap="flat" cmpd="sng" w="19050">
                      <a:solidFill>
                        <a:srgbClr val="EFEFEF"/>
                      </a:solidFill>
                      <a:prstDash val="solid"/>
                      <a:round/>
                      <a:headEnd len="sm" w="sm" type="none"/>
                      <a:tailEnd len="sm" w="sm" type="none"/>
                    </a:lnB>
                  </a:tcPr>
                </a:tc>
              </a:tr>
            </a:tbl>
          </a:graphicData>
        </a:graphic>
      </p:graphicFrame>
      <p:sp>
        <p:nvSpPr>
          <p:cNvPr id="350" name="Google Shape;350;p48"/>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Olesia</a:t>
            </a:r>
            <a:endParaRPr b="0" sz="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9"/>
          <p:cNvSpPr txBox="1"/>
          <p:nvPr>
            <p:ph type="title"/>
          </p:nvPr>
        </p:nvSpPr>
        <p:spPr>
          <a:xfrm>
            <a:off x="44450" y="0"/>
            <a:ext cx="2748000" cy="49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Go to Market Strategy</a:t>
            </a:r>
            <a:endParaRPr sz="1800">
              <a:latin typeface="Poppins"/>
              <a:ea typeface="Poppins"/>
              <a:cs typeface="Poppins"/>
              <a:sym typeface="Poppins"/>
            </a:endParaRPr>
          </a:p>
        </p:txBody>
      </p:sp>
      <p:pic>
        <p:nvPicPr>
          <p:cNvPr id="356" name="Google Shape;356;p49"/>
          <p:cNvPicPr preferRelativeResize="0"/>
          <p:nvPr/>
        </p:nvPicPr>
        <p:blipFill>
          <a:blip r:embed="rId3">
            <a:alphaModFix/>
          </a:blip>
          <a:stretch>
            <a:fillRect/>
          </a:stretch>
        </p:blipFill>
        <p:spPr>
          <a:xfrm>
            <a:off x="7463512" y="575375"/>
            <a:ext cx="1108987" cy="224725"/>
          </a:xfrm>
          <a:prstGeom prst="rect">
            <a:avLst/>
          </a:prstGeom>
          <a:noFill/>
          <a:ln>
            <a:noFill/>
          </a:ln>
        </p:spPr>
      </p:pic>
      <p:sp>
        <p:nvSpPr>
          <p:cNvPr id="357" name="Google Shape;357;p49"/>
          <p:cNvSpPr txBox="1"/>
          <p:nvPr/>
        </p:nvSpPr>
        <p:spPr>
          <a:xfrm>
            <a:off x="6731175" y="1649175"/>
            <a:ext cx="2430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2"/>
              </a:solidFill>
              <a:latin typeface="Lato"/>
              <a:ea typeface="Lato"/>
              <a:cs typeface="Lato"/>
              <a:sym typeface="Lato"/>
            </a:endParaRPr>
          </a:p>
        </p:txBody>
      </p:sp>
      <p:sp>
        <p:nvSpPr>
          <p:cNvPr id="358" name="Google Shape;358;p49"/>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Austin</a:t>
            </a:r>
            <a:endParaRPr b="0" sz="800"/>
          </a:p>
        </p:txBody>
      </p:sp>
      <p:graphicFrame>
        <p:nvGraphicFramePr>
          <p:cNvPr id="359" name="Google Shape;359;p49"/>
          <p:cNvGraphicFramePr/>
          <p:nvPr/>
        </p:nvGraphicFramePr>
        <p:xfrm>
          <a:off x="227400" y="1213213"/>
          <a:ext cx="3000000" cy="3000000"/>
        </p:xfrm>
        <a:graphic>
          <a:graphicData uri="http://schemas.openxmlformats.org/drawingml/2006/table">
            <a:tbl>
              <a:tblPr>
                <a:noFill/>
                <a:tableStyleId>{649DE109-F2CC-45FD-8F9A-4B69E8F95048}</a:tableStyleId>
              </a:tblPr>
              <a:tblGrid>
                <a:gridCol w="4281150"/>
                <a:gridCol w="4281150"/>
              </a:tblGrid>
              <a:tr h="1467925">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Target Persons</a:t>
                      </a:r>
                      <a:endParaRPr>
                        <a:solidFill>
                          <a:schemeClr val="accent1"/>
                        </a:solidFill>
                      </a:endParaRPr>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Business travelers booking their business travels  themselves</a:t>
                      </a:r>
                      <a:endParaRPr/>
                    </a:p>
                  </a:txBody>
                  <a:tcPr marT="91425" marB="91425" marR="91425" marL="91425"/>
                </a:tc>
              </a:tr>
              <a:tr h="561150">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Monetization Strategy</a:t>
                      </a:r>
                      <a:endParaRPr>
                        <a:solidFill>
                          <a:schemeClr val="accent1"/>
                        </a:solidFill>
                      </a:endParaRPr>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Points based loyalty program, resulting in increase of bookings for StayNsleep overall</a:t>
                      </a:r>
                      <a:endParaRPr/>
                    </a:p>
                  </a:txBody>
                  <a:tcPr marT="91425" marB="91425" marR="91425" marL="91425"/>
                </a:tc>
              </a:tr>
              <a:tr h="561150">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Marketing Strategy</a:t>
                      </a:r>
                      <a:endParaRPr>
                        <a:solidFill>
                          <a:schemeClr val="accent1"/>
                        </a:solidFill>
                      </a:endParaRPr>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BAU introduction on selection of the target group</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Segment /month 1-2/ Existing 200K+ customers in Europe/via Email / social media / app (push notifications)</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0" y="0"/>
            <a:ext cx="2782200" cy="57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a:solidFill>
                  <a:srgbClr val="000000"/>
                </a:solidFill>
                <a:latin typeface="Arial"/>
                <a:ea typeface="Arial"/>
                <a:cs typeface="Arial"/>
                <a:sym typeface="Arial"/>
              </a:rPr>
              <a:t>Go to Market Strategy</a:t>
            </a:r>
            <a:endParaRPr sz="2200">
              <a:solidFill>
                <a:srgbClr val="000000"/>
              </a:solidFill>
            </a:endParaRPr>
          </a:p>
          <a:p>
            <a:pPr indent="0" lvl="0" marL="0" rtl="0" algn="l">
              <a:spcBef>
                <a:spcPts val="0"/>
              </a:spcBef>
              <a:spcAft>
                <a:spcPts val="0"/>
              </a:spcAft>
              <a:buNone/>
            </a:pPr>
            <a:r>
              <a:t/>
            </a:r>
            <a:endParaRPr/>
          </a:p>
        </p:txBody>
      </p:sp>
      <p:sp>
        <p:nvSpPr>
          <p:cNvPr id="365" name="Google Shape;365;p50"/>
          <p:cNvSpPr txBox="1"/>
          <p:nvPr>
            <p:ph type="title"/>
          </p:nvPr>
        </p:nvSpPr>
        <p:spPr>
          <a:xfrm>
            <a:off x="8789700" y="4729500"/>
            <a:ext cx="354300" cy="41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b="0" lang="en" sz="800">
                <a:solidFill>
                  <a:srgbClr val="000000"/>
                </a:solidFill>
                <a:latin typeface="Arial"/>
                <a:ea typeface="Arial"/>
                <a:cs typeface="Arial"/>
                <a:sym typeface="Arial"/>
              </a:rPr>
              <a:t>Austin</a:t>
            </a:r>
            <a:endParaRPr b="0" sz="800"/>
          </a:p>
        </p:txBody>
      </p:sp>
      <p:graphicFrame>
        <p:nvGraphicFramePr>
          <p:cNvPr id="366" name="Google Shape;366;p50"/>
          <p:cNvGraphicFramePr/>
          <p:nvPr/>
        </p:nvGraphicFramePr>
        <p:xfrm>
          <a:off x="227400" y="1467413"/>
          <a:ext cx="3000000" cy="3000000"/>
        </p:xfrm>
        <a:graphic>
          <a:graphicData uri="http://schemas.openxmlformats.org/drawingml/2006/table">
            <a:tbl>
              <a:tblPr>
                <a:noFill/>
                <a:tableStyleId>{649DE109-F2CC-45FD-8F9A-4B69E8F95048}</a:tableStyleId>
              </a:tblPr>
              <a:tblGrid>
                <a:gridCol w="4281150"/>
                <a:gridCol w="4281150"/>
              </a:tblGrid>
              <a:tr h="1467925">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Campaign Effectiveness</a:t>
                      </a:r>
                      <a:endParaRPr>
                        <a:solidFill>
                          <a:schemeClr val="accent1"/>
                        </a:solidFill>
                      </a:endParaRPr>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At least 20</a:t>
                      </a:r>
                      <a:r>
                        <a:rPr lang="en" sz="1200">
                          <a:solidFill>
                            <a:schemeClr val="dk1"/>
                          </a:solidFill>
                          <a:latin typeface="Lato"/>
                          <a:ea typeface="Lato"/>
                          <a:cs typeface="Lato"/>
                          <a:sym typeface="Lato"/>
                        </a:rPr>
                        <a:t>% of increase WOW (WAU) in app /website usage especially loyalty page</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At least 10% of increase  WOW (WAU) conversion in bookings</a:t>
                      </a:r>
                      <a:endParaRPr b="1" sz="1200">
                        <a:solidFill>
                          <a:schemeClr val="dk1"/>
                        </a:solidFill>
                        <a:latin typeface="Lato"/>
                        <a:ea typeface="Lato"/>
                        <a:cs typeface="Lato"/>
                        <a:sym typeface="Lato"/>
                      </a:endParaRPr>
                    </a:p>
                  </a:txBody>
                  <a:tcPr marT="91425" marB="91425" marR="91425" marL="91425"/>
                </a:tc>
              </a:tr>
              <a:tr h="561150">
                <a:tc>
                  <a:txBody>
                    <a:bodyPr/>
                    <a:lstStyle/>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Customer Adoption (during campaign)</a:t>
                      </a:r>
                      <a:endParaRPr>
                        <a:solidFill>
                          <a:schemeClr val="accent1"/>
                        </a:solidFill>
                      </a:endParaRPr>
                    </a:p>
                  </a:txBody>
                  <a:tcPr marT="91425" marB="91425" marR="91425" marL="91425"/>
                </a:tc>
                <a:tc>
                  <a:txBody>
                    <a:bodyPr/>
                    <a:lstStyle/>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Train CS team about new Loyalty Program  / in app and website FAQ’s </a:t>
                      </a:r>
                      <a:endParaRPr/>
                    </a:p>
                  </a:txBody>
                  <a:tcPr marT="91425" marB="91425" marR="91425" marL="91425"/>
                </a:tc>
              </a:tr>
              <a:tr h="561150">
                <a:tc>
                  <a:txBody>
                    <a:bodyPr/>
                    <a:lstStyle/>
                    <a:p>
                      <a:pPr indent="0" lvl="0" marL="0" rtl="0" algn="l">
                        <a:lnSpc>
                          <a:spcPct val="115000"/>
                        </a:lnSpc>
                        <a:spcBef>
                          <a:spcPts val="0"/>
                        </a:spcBef>
                        <a:spcAft>
                          <a:spcPts val="0"/>
                        </a:spcAft>
                        <a:buNone/>
                      </a:pPr>
                      <a:r>
                        <a:t/>
                      </a:r>
                      <a:endParaRPr sz="1200">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accent1"/>
                          </a:solidFill>
                          <a:latin typeface="Poppins SemiBold"/>
                          <a:ea typeface="Poppins SemiBold"/>
                          <a:cs typeface="Poppins SemiBold"/>
                          <a:sym typeface="Poppins SemiBold"/>
                        </a:rPr>
                        <a:t>Support  &amp; Maintenance (post campaign)</a:t>
                      </a:r>
                      <a:endParaRPr sz="1200">
                        <a:solidFill>
                          <a:schemeClr val="accent1"/>
                        </a:solidFill>
                        <a:latin typeface="Poppins SemiBold"/>
                        <a:ea typeface="Poppins SemiBold"/>
                        <a:cs typeface="Poppins SemiBold"/>
                        <a:sym typeface="Poppins SemiBold"/>
                      </a:endParaRPr>
                    </a:p>
                  </a:txBody>
                  <a:tcPr marT="91425" marB="91425" marR="91425" marL="91425"/>
                </a:tc>
                <a:tc>
                  <a:txBody>
                    <a:bodyPr/>
                    <a:lstStyle/>
                    <a:p>
                      <a:pPr indent="0" lvl="0" marL="0" rtl="0" algn="l">
                        <a:lnSpc>
                          <a:spcPct val="115000"/>
                        </a:lnSpc>
                        <a:spcBef>
                          <a:spcPts val="0"/>
                        </a:spcBef>
                        <a:spcAft>
                          <a:spcPts val="0"/>
                        </a:spcAft>
                        <a:buNone/>
                      </a:pPr>
                      <a:r>
                        <a:t/>
                      </a:r>
                      <a:endParaRPr sz="1100">
                        <a:solidFill>
                          <a:schemeClr val="dk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In 3 months perform new campaign</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Reduce support with 20%  from CS over time in  3 months</a:t>
                      </a:r>
                      <a:endParaRPr sz="1200">
                        <a:solidFill>
                          <a:schemeClr val="dk1"/>
                        </a:solidFill>
                        <a:latin typeface="Lato"/>
                        <a:ea typeface="Lato"/>
                        <a:cs typeface="Lato"/>
                        <a:sym typeface="Lato"/>
                      </a:endParaRPr>
                    </a:p>
                  </a:txBody>
                  <a:tcPr marT="91425" marB="91425" marR="91425" marL="91425"/>
                </a:tc>
              </a:tr>
            </a:tbl>
          </a:graphicData>
        </a:graphic>
      </p:graphicFrame>
      <p:pic>
        <p:nvPicPr>
          <p:cNvPr id="367" name="Google Shape;367;p50"/>
          <p:cNvPicPr preferRelativeResize="0"/>
          <p:nvPr/>
        </p:nvPicPr>
        <p:blipFill>
          <a:blip r:embed="rId3">
            <a:alphaModFix/>
          </a:blip>
          <a:stretch>
            <a:fillRect/>
          </a:stretch>
        </p:blipFill>
        <p:spPr>
          <a:xfrm>
            <a:off x="7504587" y="346775"/>
            <a:ext cx="1108987" cy="224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BFFF9"/>
        </a:solidFill>
      </p:bgPr>
    </p:bg>
    <p:spTree>
      <p:nvGrpSpPr>
        <p:cNvPr id="371" name="Shape 371"/>
        <p:cNvGrpSpPr/>
        <p:nvPr/>
      </p:nvGrpSpPr>
      <p:grpSpPr>
        <a:xfrm>
          <a:off x="0" y="0"/>
          <a:ext cx="0" cy="0"/>
          <a:chOff x="0" y="0"/>
          <a:chExt cx="0" cy="0"/>
        </a:xfrm>
      </p:grpSpPr>
      <p:sp>
        <p:nvSpPr>
          <p:cNvPr id="372" name="Google Shape;372;p51"/>
          <p:cNvSpPr txBox="1"/>
          <p:nvPr>
            <p:ph type="title"/>
          </p:nvPr>
        </p:nvSpPr>
        <p:spPr>
          <a:xfrm>
            <a:off x="571500" y="800100"/>
            <a:ext cx="3089700" cy="914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03876F"/>
                </a:solidFill>
              </a:rPr>
              <a:t>You are ready to deliver you final presentation!!!</a:t>
            </a:r>
            <a:endParaRPr>
              <a:solidFill>
                <a:srgbClr val="03876F"/>
              </a:solidFill>
            </a:endParaRPr>
          </a:p>
        </p:txBody>
      </p:sp>
      <p:sp>
        <p:nvSpPr>
          <p:cNvPr id="373" name="Google Shape;373;p51"/>
          <p:cNvSpPr txBox="1"/>
          <p:nvPr/>
        </p:nvSpPr>
        <p:spPr>
          <a:xfrm>
            <a:off x="571500" y="575375"/>
            <a:ext cx="4000500" cy="224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00">
                <a:solidFill>
                  <a:schemeClr val="accent4"/>
                </a:solidFill>
                <a:latin typeface="Lato"/>
                <a:ea typeface="Lato"/>
                <a:cs typeface="Lato"/>
                <a:sym typeface="Lato"/>
              </a:rPr>
              <a:t>Final Presentation &gt; </a:t>
            </a:r>
            <a:r>
              <a:rPr b="1" lang="en" sz="900">
                <a:solidFill>
                  <a:schemeClr val="accent4"/>
                </a:solidFill>
                <a:latin typeface="Lato"/>
                <a:ea typeface="Lato"/>
                <a:cs typeface="Lato"/>
                <a:sym typeface="Lato"/>
              </a:rPr>
              <a:t>Next steps</a:t>
            </a:r>
            <a:endParaRPr b="1" sz="900">
              <a:solidFill>
                <a:schemeClr val="accent4"/>
              </a:solidFill>
              <a:latin typeface="Lato"/>
              <a:ea typeface="Lato"/>
              <a:cs typeface="Lato"/>
              <a:sym typeface="Lato"/>
            </a:endParaRPr>
          </a:p>
        </p:txBody>
      </p:sp>
      <p:sp>
        <p:nvSpPr>
          <p:cNvPr id="374" name="Google Shape;374;p51"/>
          <p:cNvSpPr txBox="1"/>
          <p:nvPr>
            <p:ph idx="1" type="body"/>
          </p:nvPr>
        </p:nvSpPr>
        <p:spPr>
          <a:xfrm>
            <a:off x="571500" y="1714500"/>
            <a:ext cx="3089700" cy="285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3876F"/>
                </a:solidFill>
              </a:rPr>
              <a:t>Make sure to keep track of time! </a:t>
            </a:r>
            <a:r>
              <a:rPr b="1" lang="en">
                <a:solidFill>
                  <a:srgbClr val="03876F"/>
                </a:solidFill>
              </a:rPr>
              <a:t>You'll have only 5 minutes to present your ideas.</a:t>
            </a:r>
            <a:endParaRPr>
              <a:solidFill>
                <a:srgbClr val="03876F"/>
              </a:solidFill>
            </a:endParaRPr>
          </a:p>
          <a:p>
            <a:pPr indent="0" lvl="0" marL="0" rtl="0" algn="l">
              <a:spcBef>
                <a:spcPts val="1000"/>
              </a:spcBef>
              <a:spcAft>
                <a:spcPts val="0"/>
              </a:spcAft>
              <a:buNone/>
            </a:pPr>
            <a:r>
              <a:rPr lang="en">
                <a:solidFill>
                  <a:srgbClr val="03876F"/>
                </a:solidFill>
              </a:rPr>
              <a:t>Additionally, don't forget to upload a copy of your presentation into Docebo. The upload can be found in the “Live Sessions” section of course content, by scrolling to the bottom to find “Session Decks.” </a:t>
            </a:r>
            <a:endParaRPr>
              <a:solidFill>
                <a:srgbClr val="03876F"/>
              </a:solidFill>
            </a:endParaRPr>
          </a:p>
          <a:p>
            <a:pPr indent="0" lvl="0" marL="0" rtl="0" algn="l">
              <a:spcBef>
                <a:spcPts val="1000"/>
              </a:spcBef>
              <a:spcAft>
                <a:spcPts val="1000"/>
              </a:spcAft>
              <a:buNone/>
            </a:pPr>
            <a:r>
              <a:rPr lang="en">
                <a:solidFill>
                  <a:srgbClr val="03876F"/>
                </a:solidFill>
              </a:rPr>
              <a:t>Be sure to complete this task by the end of Module 10, or Day 4 - depending on your course timeline.</a:t>
            </a:r>
            <a:endParaRPr>
              <a:solidFill>
                <a:srgbClr val="03876F"/>
              </a:solidFill>
            </a:endParaRPr>
          </a:p>
        </p:txBody>
      </p:sp>
      <p:sp>
        <p:nvSpPr>
          <p:cNvPr id="375" name="Google Shape;375;p51"/>
          <p:cNvSpPr/>
          <p:nvPr/>
        </p:nvSpPr>
        <p:spPr>
          <a:xfrm>
            <a:off x="5000825" y="964500"/>
            <a:ext cx="3201600" cy="3214500"/>
          </a:xfrm>
          <a:prstGeom prst="roundRect">
            <a:avLst>
              <a:gd fmla="val 2543" name="adj"/>
            </a:avLst>
          </a:prstGeom>
          <a:solidFill>
            <a:schemeClr val="accent6"/>
          </a:solidFill>
          <a:ln>
            <a:noFill/>
          </a:ln>
          <a:effectLst>
            <a:outerShdw blurRad="57150" rotWithShape="0" algn="bl" dir="5400000" dist="19050">
              <a:schemeClr val="accent6">
                <a:alpha val="50000"/>
              </a:schemeClr>
            </a:outerShdw>
          </a:effectLst>
        </p:spPr>
        <p:txBody>
          <a:bodyPr anchorCtr="0" anchor="ctr" bIns="91425" lIns="365750" spcFirstLastPara="1" rIns="365750" wrap="square" tIns="91425">
            <a:noAutofit/>
          </a:bodyPr>
          <a:lstStyle/>
          <a:p>
            <a:pPr indent="0" lvl="0" marL="0" marR="0" rtl="0" algn="ctr">
              <a:lnSpc>
                <a:spcPct val="115000"/>
              </a:lnSpc>
              <a:spcBef>
                <a:spcPts val="0"/>
              </a:spcBef>
              <a:spcAft>
                <a:spcPts val="0"/>
              </a:spcAft>
              <a:buNone/>
            </a:pPr>
            <a:r>
              <a:rPr b="1" lang="en" sz="1000">
                <a:solidFill>
                  <a:schemeClr val="accent1"/>
                </a:solidFill>
                <a:latin typeface="Poppins"/>
                <a:ea typeface="Poppins"/>
                <a:cs typeface="Poppins"/>
                <a:sym typeface="Poppins"/>
              </a:rPr>
              <a:t>IMPORTANT</a:t>
            </a:r>
            <a:endParaRPr b="1" sz="1000">
              <a:solidFill>
                <a:schemeClr val="accent1"/>
              </a:solidFill>
              <a:latin typeface="Poppins"/>
              <a:ea typeface="Poppins"/>
              <a:cs typeface="Poppins"/>
              <a:sym typeface="Poppins"/>
            </a:endParaRPr>
          </a:p>
          <a:p>
            <a:pPr indent="0" lvl="0" marL="0" rtl="0" algn="ctr">
              <a:lnSpc>
                <a:spcPct val="115000"/>
              </a:lnSpc>
              <a:spcBef>
                <a:spcPts val="0"/>
              </a:spcBef>
              <a:spcAft>
                <a:spcPts val="0"/>
              </a:spcAft>
              <a:buNone/>
            </a:pPr>
            <a:r>
              <a:rPr lang="en">
                <a:solidFill>
                  <a:srgbClr val="06563A"/>
                </a:solidFill>
                <a:latin typeface="Poppins SemiBold"/>
                <a:ea typeface="Poppins SemiBold"/>
                <a:cs typeface="Poppins SemiBold"/>
                <a:sym typeface="Poppins SemiBold"/>
              </a:rPr>
              <a:t>Don’t forget to upload a copy of your presentation into Docebo. </a:t>
            </a:r>
            <a:endParaRPr>
              <a:solidFill>
                <a:srgbClr val="06563A"/>
              </a:solidFill>
              <a:latin typeface="Poppins SemiBold"/>
              <a:ea typeface="Poppins SemiBold"/>
              <a:cs typeface="Poppins SemiBold"/>
              <a:sym typeface="Poppins SemiBold"/>
            </a:endParaRPr>
          </a:p>
        </p:txBody>
      </p:sp>
      <p:pic>
        <p:nvPicPr>
          <p:cNvPr id="376" name="Google Shape;376;p51"/>
          <p:cNvPicPr preferRelativeResize="0"/>
          <p:nvPr/>
        </p:nvPicPr>
        <p:blipFill rotWithShape="1">
          <a:blip r:embed="rId3">
            <a:alphaModFix/>
          </a:blip>
          <a:srcRect b="0" l="0" r="83757" t="0"/>
          <a:stretch/>
        </p:blipFill>
        <p:spPr>
          <a:xfrm>
            <a:off x="8378792" y="571500"/>
            <a:ext cx="222649" cy="237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380" name="Shape 380"/>
        <p:cNvGrpSpPr/>
        <p:nvPr/>
      </p:nvGrpSpPr>
      <p:grpSpPr>
        <a:xfrm>
          <a:off x="0" y="0"/>
          <a:ext cx="0" cy="0"/>
          <a:chOff x="0" y="0"/>
          <a:chExt cx="0" cy="0"/>
        </a:xfrm>
      </p:grpSpPr>
      <p:pic>
        <p:nvPicPr>
          <p:cNvPr id="381" name="Google Shape;381;p52"/>
          <p:cNvPicPr preferRelativeResize="0"/>
          <p:nvPr/>
        </p:nvPicPr>
        <p:blipFill rotWithShape="1">
          <a:blip r:embed="rId3">
            <a:alphaModFix/>
          </a:blip>
          <a:srcRect b="0" l="0" r="0" t="17668"/>
          <a:stretch/>
        </p:blipFill>
        <p:spPr>
          <a:xfrm>
            <a:off x="4007750" y="911225"/>
            <a:ext cx="5136251" cy="4228675"/>
          </a:xfrm>
          <a:prstGeom prst="rect">
            <a:avLst/>
          </a:prstGeom>
          <a:noFill/>
          <a:ln>
            <a:noFill/>
          </a:ln>
        </p:spPr>
      </p:pic>
      <p:sp>
        <p:nvSpPr>
          <p:cNvPr id="382" name="Google Shape;382;p52"/>
          <p:cNvSpPr txBox="1"/>
          <p:nvPr>
            <p:ph type="ctrTitle"/>
          </p:nvPr>
        </p:nvSpPr>
        <p:spPr>
          <a:xfrm>
            <a:off x="571500" y="1714500"/>
            <a:ext cx="4624800" cy="1600800"/>
          </a:xfrm>
          <a:prstGeom prst="rect">
            <a:avLst/>
          </a:prstGeom>
        </p:spPr>
        <p:txBody>
          <a:bodyPr anchorCtr="0" anchor="ctr" bIns="0" lIns="0" spcFirstLastPara="1" rIns="91425" wrap="square" tIns="0">
            <a:spAutoFit/>
          </a:bodyPr>
          <a:lstStyle/>
          <a:p>
            <a:pPr indent="0" lvl="0" marL="0" rtl="0" algn="l">
              <a:spcBef>
                <a:spcPts val="0"/>
              </a:spcBef>
              <a:spcAft>
                <a:spcPts val="0"/>
              </a:spcAft>
              <a:buNone/>
            </a:pPr>
            <a:r>
              <a:rPr lang="en" sz="2400">
                <a:solidFill>
                  <a:schemeClr val="accent1"/>
                </a:solidFill>
              </a:rPr>
              <a:t>Presentation time!</a:t>
            </a:r>
            <a:endParaRPr sz="2400">
              <a:solidFill>
                <a:schemeClr val="accent1"/>
              </a:solidFill>
            </a:endParaRPr>
          </a:p>
          <a:p>
            <a:pPr indent="0" lvl="0" marL="0" rtl="0" algn="l">
              <a:spcBef>
                <a:spcPts val="0"/>
              </a:spcBef>
              <a:spcAft>
                <a:spcPts val="0"/>
              </a:spcAft>
              <a:buNone/>
            </a:pPr>
            <a:r>
              <a:rPr lang="en">
                <a:solidFill>
                  <a:srgbClr val="03876F"/>
                </a:solidFill>
              </a:rPr>
              <a:t>It's your moment</a:t>
            </a:r>
            <a:endParaRPr>
              <a:solidFill>
                <a:srgbClr val="03876F"/>
              </a:solidFill>
            </a:endParaRPr>
          </a:p>
          <a:p>
            <a:pPr indent="0" lvl="0" marL="0" rtl="0" algn="l">
              <a:spcBef>
                <a:spcPts val="0"/>
              </a:spcBef>
              <a:spcAft>
                <a:spcPts val="0"/>
              </a:spcAft>
              <a:buNone/>
            </a:pPr>
            <a:r>
              <a:rPr lang="en">
                <a:solidFill>
                  <a:srgbClr val="03876F"/>
                </a:solidFill>
              </a:rPr>
              <a:t>to shine 🌟 </a:t>
            </a:r>
            <a:endParaRPr>
              <a:solidFill>
                <a:srgbClr val="03876F"/>
              </a:solidFill>
            </a:endParaRPr>
          </a:p>
        </p:txBody>
      </p:sp>
      <p:sp>
        <p:nvSpPr>
          <p:cNvPr id="383" name="Google Shape;383;p52"/>
          <p:cNvSpPr txBox="1"/>
          <p:nvPr/>
        </p:nvSpPr>
        <p:spPr>
          <a:xfrm>
            <a:off x="787025" y="4343400"/>
            <a:ext cx="13638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lang="en" sz="900">
                <a:solidFill>
                  <a:srgbClr val="03876F"/>
                </a:solidFill>
                <a:latin typeface="Lato"/>
                <a:ea typeface="Lato"/>
                <a:cs typeface="Lato"/>
                <a:sym typeface="Lato"/>
              </a:rPr>
              <a:t>Estimated time: 5 </a:t>
            </a:r>
            <a:r>
              <a:rPr lang="en" sz="900">
                <a:solidFill>
                  <a:srgbClr val="03876F"/>
                </a:solidFill>
                <a:latin typeface="Lato"/>
                <a:ea typeface="Lato"/>
                <a:cs typeface="Lato"/>
                <a:sym typeface="Lato"/>
              </a:rPr>
              <a:t>minutes</a:t>
            </a:r>
            <a:endParaRPr sz="900">
              <a:solidFill>
                <a:srgbClr val="03876F"/>
              </a:solidFill>
              <a:latin typeface="Lato"/>
              <a:ea typeface="Lato"/>
              <a:cs typeface="Lato"/>
              <a:sym typeface="Lato"/>
            </a:endParaRPr>
          </a:p>
        </p:txBody>
      </p:sp>
      <p:pic>
        <p:nvPicPr>
          <p:cNvPr id="384" name="Google Shape;384;p52"/>
          <p:cNvPicPr preferRelativeResize="0"/>
          <p:nvPr/>
        </p:nvPicPr>
        <p:blipFill>
          <a:blip r:embed="rId4">
            <a:alphaModFix/>
          </a:blip>
          <a:stretch>
            <a:fillRect/>
          </a:stretch>
        </p:blipFill>
        <p:spPr>
          <a:xfrm>
            <a:off x="573588" y="4351000"/>
            <a:ext cx="213425" cy="21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3"/>
          <p:cNvSpPr txBox="1"/>
          <p:nvPr>
            <p:ph type="title"/>
          </p:nvPr>
        </p:nvSpPr>
        <p:spPr>
          <a:xfrm>
            <a:off x="0" y="0"/>
            <a:ext cx="3089700" cy="914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Sources</a:t>
            </a:r>
            <a:endParaRPr/>
          </a:p>
        </p:txBody>
      </p:sp>
      <p:graphicFrame>
        <p:nvGraphicFramePr>
          <p:cNvPr id="390" name="Google Shape;390;p53"/>
          <p:cNvGraphicFramePr/>
          <p:nvPr/>
        </p:nvGraphicFramePr>
        <p:xfrm>
          <a:off x="-2" y="738598"/>
          <a:ext cx="3000000" cy="3000000"/>
        </p:xfrm>
        <a:graphic>
          <a:graphicData uri="http://schemas.openxmlformats.org/drawingml/2006/table">
            <a:tbl>
              <a:tblPr>
                <a:noFill/>
                <a:tableStyleId>{649DE109-F2CC-45FD-8F9A-4B69E8F95048}</a:tableStyleId>
              </a:tblPr>
              <a:tblGrid>
                <a:gridCol w="1606100"/>
                <a:gridCol w="1933925"/>
              </a:tblGrid>
              <a:tr h="107875">
                <a:tc gridSpan="2">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TEMPLATES</a:t>
                      </a:r>
                      <a:endParaRPr b="1" sz="900">
                        <a:solidFill>
                          <a:srgbClr val="103869"/>
                        </a:solidFill>
                        <a:latin typeface="Poppins"/>
                        <a:ea typeface="Poppins"/>
                        <a:cs typeface="Poppins"/>
                        <a:sym typeface="Poppins"/>
                      </a:endParaRPr>
                    </a:p>
                  </a:txBody>
                  <a:tcPr marT="0" marB="91425" marR="0" marL="0"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E5E5EB"/>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3"/>
                        </a:rPr>
                        <a:t>🔗 Personas</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E5E5EB"/>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4"/>
                        </a:rPr>
                        <a:t>🔗 Hypothesis Statement</a:t>
                      </a:r>
                      <a:endParaRPr sz="1000">
                        <a:solidFill>
                          <a:srgbClr val="37415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100" u="sng">
                          <a:solidFill>
                            <a:schemeClr val="hlink"/>
                          </a:solidFill>
                          <a:hlinkClick r:id="rId5"/>
                        </a:rPr>
                        <a:t>https://docs.google.com/document/d/1TioKoXiZO-rF_6sveKNezAxrH9Zd3ET8JNwkb_aij0g/edit?tab=t.0</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6"/>
                        </a:rPr>
                        <a:t>🔗 Validation </a:t>
                      </a:r>
                      <a:endParaRPr sz="1000">
                        <a:solidFill>
                          <a:srgbClr val="37415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100" u="sng">
                          <a:solidFill>
                            <a:schemeClr val="hlink"/>
                          </a:solidFill>
                          <a:hlinkClick r:id="rId7"/>
                        </a:rPr>
                        <a:t>https://docs.google.com/document/d/1Z6GSTU8cXLGAxgXtmDo_3aQFd6rXwfHfBt4br3ByiQc/edit?tab=t.0</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bl>
          </a:graphicData>
        </a:graphic>
      </p:graphicFrame>
      <p:graphicFrame>
        <p:nvGraphicFramePr>
          <p:cNvPr id="391" name="Google Shape;391;p53"/>
          <p:cNvGraphicFramePr/>
          <p:nvPr/>
        </p:nvGraphicFramePr>
        <p:xfrm>
          <a:off x="-2" y="2966036"/>
          <a:ext cx="3000000" cy="3000000"/>
        </p:xfrm>
        <a:graphic>
          <a:graphicData uri="http://schemas.openxmlformats.org/drawingml/2006/table">
            <a:tbl>
              <a:tblPr>
                <a:noFill/>
                <a:tableStyleId>{649DE109-F2CC-45FD-8F9A-4B69E8F95048}</a:tableStyleId>
              </a:tblPr>
              <a:tblGrid>
                <a:gridCol w="1606100"/>
                <a:gridCol w="1933925"/>
              </a:tblGrid>
              <a:tr h="107875">
                <a:tc gridSpan="2">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TEMPLATES</a:t>
                      </a:r>
                      <a:endParaRPr b="1" sz="900">
                        <a:solidFill>
                          <a:srgbClr val="103869"/>
                        </a:solidFill>
                        <a:latin typeface="Poppins"/>
                        <a:ea typeface="Poppins"/>
                        <a:cs typeface="Poppins"/>
                        <a:sym typeface="Poppins"/>
                      </a:endParaRPr>
                    </a:p>
                  </a:txBody>
                  <a:tcPr marT="0" marB="91425" marR="0" marL="0"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E5E5EB"/>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8"/>
                        </a:rPr>
                        <a:t>🔗 Product Requirement Document (PRD)</a:t>
                      </a:r>
                      <a:endParaRPr sz="1000">
                        <a:solidFill>
                          <a:srgbClr val="37415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000">
                          <a:solidFill>
                            <a:srgbClr val="374151"/>
                          </a:solidFill>
                          <a:latin typeface="Poppins SemiBold"/>
                          <a:ea typeface="Poppins SemiBold"/>
                          <a:cs typeface="Poppins SemiBold"/>
                          <a:sym typeface="Poppins SemiBold"/>
                        </a:rPr>
                        <a:t>https://docs.google.com/document/d/1-E0nIva696qxCr5BzvZydH0P1Ssn2pM5XyIHSO1gDwI/edit?usp=sharing</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E5E5EB"/>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r h="548675">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9"/>
                        </a:rPr>
                        <a:t>🔗 Minimum Viable Product (MVP)</a:t>
                      </a:r>
                      <a:endParaRPr sz="1000">
                        <a:solidFill>
                          <a:srgbClr val="37415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000">
                          <a:solidFill>
                            <a:srgbClr val="374151"/>
                          </a:solidFill>
                          <a:latin typeface="Poppins SemiBold"/>
                          <a:ea typeface="Poppins SemiBold"/>
                          <a:cs typeface="Poppins SemiBold"/>
                          <a:sym typeface="Poppins SemiBold"/>
                        </a:rPr>
                        <a:t>https://docs.google.com/document/d/1-E0nIva696qxCr5BzvZydH0P1Ssn2pM5XyIHSO1gDwI/edit?usp=sharing</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bl>
          </a:graphicData>
        </a:graphic>
      </p:graphicFrame>
      <p:graphicFrame>
        <p:nvGraphicFramePr>
          <p:cNvPr id="392" name="Google Shape;392;p53"/>
          <p:cNvGraphicFramePr/>
          <p:nvPr/>
        </p:nvGraphicFramePr>
        <p:xfrm>
          <a:off x="4254223" y="1420573"/>
          <a:ext cx="3000000" cy="3000000"/>
        </p:xfrm>
        <a:graphic>
          <a:graphicData uri="http://schemas.openxmlformats.org/drawingml/2006/table">
            <a:tbl>
              <a:tblPr>
                <a:noFill/>
                <a:tableStyleId>{649DE109-F2CC-45FD-8F9A-4B69E8F95048}</a:tableStyleId>
              </a:tblPr>
              <a:tblGrid>
                <a:gridCol w="1606100"/>
                <a:gridCol w="1933925"/>
              </a:tblGrid>
              <a:tr h="107875">
                <a:tc gridSpan="2">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TEMPLATE</a:t>
                      </a:r>
                      <a:endParaRPr b="1" sz="900">
                        <a:solidFill>
                          <a:srgbClr val="103869"/>
                        </a:solidFill>
                        <a:latin typeface="Poppins"/>
                        <a:ea typeface="Poppins"/>
                        <a:cs typeface="Poppins"/>
                        <a:sym typeface="Poppins"/>
                      </a:endParaRPr>
                    </a:p>
                  </a:txBody>
                  <a:tcPr marT="0" marB="91425" marR="0" marL="0"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E5E5EB"/>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10"/>
                        </a:rPr>
                        <a:t>🔗 User Flow</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E5E5EB"/>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bl>
          </a:graphicData>
        </a:graphic>
      </p:graphicFrame>
      <p:graphicFrame>
        <p:nvGraphicFramePr>
          <p:cNvPr id="393" name="Google Shape;393;p53"/>
          <p:cNvGraphicFramePr/>
          <p:nvPr/>
        </p:nvGraphicFramePr>
        <p:xfrm>
          <a:off x="4254223" y="2378161"/>
          <a:ext cx="3000000" cy="3000000"/>
        </p:xfrm>
        <a:graphic>
          <a:graphicData uri="http://schemas.openxmlformats.org/drawingml/2006/table">
            <a:tbl>
              <a:tblPr>
                <a:noFill/>
                <a:tableStyleId>{649DE109-F2CC-45FD-8F9A-4B69E8F95048}</a:tableStyleId>
              </a:tblPr>
              <a:tblGrid>
                <a:gridCol w="1606100"/>
                <a:gridCol w="1933925"/>
              </a:tblGrid>
              <a:tr h="107875">
                <a:tc gridSpan="2">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TEMPLATE</a:t>
                      </a:r>
                      <a:endParaRPr b="1" sz="900">
                        <a:solidFill>
                          <a:srgbClr val="103869"/>
                        </a:solidFill>
                        <a:latin typeface="Poppins"/>
                        <a:ea typeface="Poppins"/>
                        <a:cs typeface="Poppins"/>
                        <a:sym typeface="Poppins"/>
                      </a:endParaRPr>
                    </a:p>
                  </a:txBody>
                  <a:tcPr marT="0" marB="91425" marR="0" marL="0"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E5E5EB"/>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11"/>
                        </a:rPr>
                        <a:t>🔗 Roadmap</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E5E5EB"/>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bl>
          </a:graphicData>
        </a:graphic>
      </p:graphicFrame>
      <p:graphicFrame>
        <p:nvGraphicFramePr>
          <p:cNvPr id="394" name="Google Shape;394;p53"/>
          <p:cNvGraphicFramePr/>
          <p:nvPr/>
        </p:nvGraphicFramePr>
        <p:xfrm>
          <a:off x="4254223" y="3143261"/>
          <a:ext cx="3000000" cy="3000000"/>
        </p:xfrm>
        <a:graphic>
          <a:graphicData uri="http://schemas.openxmlformats.org/drawingml/2006/table">
            <a:tbl>
              <a:tblPr>
                <a:noFill/>
                <a:tableStyleId>{649DE109-F2CC-45FD-8F9A-4B69E8F95048}</a:tableStyleId>
              </a:tblPr>
              <a:tblGrid>
                <a:gridCol w="1606100"/>
                <a:gridCol w="1933925"/>
              </a:tblGrid>
              <a:tr h="107875">
                <a:tc gridSpan="2">
                  <a:txBody>
                    <a:bodyPr/>
                    <a:lstStyle/>
                    <a:p>
                      <a:pPr indent="0" lvl="0" marL="0" rtl="0" algn="l">
                        <a:lnSpc>
                          <a:spcPct val="115000"/>
                        </a:lnSpc>
                        <a:spcBef>
                          <a:spcPts val="0"/>
                        </a:spcBef>
                        <a:spcAft>
                          <a:spcPts val="0"/>
                        </a:spcAft>
                        <a:buNone/>
                      </a:pPr>
                      <a:r>
                        <a:rPr b="1" lang="en" sz="1000">
                          <a:solidFill>
                            <a:srgbClr val="85859F"/>
                          </a:solidFill>
                          <a:latin typeface="Poppins"/>
                          <a:ea typeface="Poppins"/>
                          <a:cs typeface="Poppins"/>
                          <a:sym typeface="Poppins"/>
                        </a:rPr>
                        <a:t>TEMPLATE</a:t>
                      </a:r>
                      <a:endParaRPr b="1" sz="900">
                        <a:solidFill>
                          <a:srgbClr val="103869"/>
                        </a:solidFill>
                        <a:latin typeface="Poppins"/>
                        <a:ea typeface="Poppins"/>
                        <a:cs typeface="Poppins"/>
                        <a:sym typeface="Poppins"/>
                      </a:endParaRPr>
                    </a:p>
                  </a:txBody>
                  <a:tcPr marT="0" marB="91425" marR="0" marL="0"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FCFCFC"/>
                      </a:solidFill>
                      <a:prstDash val="solid"/>
                      <a:round/>
                      <a:headEnd len="sm" w="sm" type="none"/>
                      <a:tailEnd len="sm" w="sm" type="none"/>
                    </a:lnT>
                    <a:lnB cap="flat" cmpd="sng" w="9525">
                      <a:solidFill>
                        <a:srgbClr val="E5E5EB"/>
                      </a:solidFill>
                      <a:prstDash val="solid"/>
                      <a:round/>
                      <a:headEnd len="sm" w="sm" type="none"/>
                      <a:tailEnd len="sm" w="sm" type="none"/>
                    </a:lnB>
                  </a:tcPr>
                </a:tc>
                <a:tc hMerge="1"/>
              </a:tr>
              <a:tr h="344050">
                <a:tc gridSpan="2">
                  <a:txBody>
                    <a:bodyPr/>
                    <a:lstStyle/>
                    <a:p>
                      <a:pPr indent="0" lvl="0" marL="0" rtl="0" algn="l">
                        <a:lnSpc>
                          <a:spcPct val="115000"/>
                        </a:lnSpc>
                        <a:spcBef>
                          <a:spcPts val="0"/>
                        </a:spcBef>
                        <a:spcAft>
                          <a:spcPts val="0"/>
                        </a:spcAft>
                        <a:buNone/>
                      </a:pPr>
                      <a:r>
                        <a:rPr lang="en" sz="1000" u="sng">
                          <a:solidFill>
                            <a:schemeClr val="hlink"/>
                          </a:solidFill>
                          <a:latin typeface="Poppins SemiBold"/>
                          <a:ea typeface="Poppins SemiBold"/>
                          <a:cs typeface="Poppins SemiBold"/>
                          <a:sym typeface="Poppins SemiBold"/>
                          <a:hlinkClick r:id="rId12"/>
                        </a:rPr>
                        <a:t>🔗 Sprint</a:t>
                      </a:r>
                      <a:endParaRPr sz="1000">
                        <a:solidFill>
                          <a:srgbClr val="374151"/>
                        </a:solidFill>
                        <a:latin typeface="Poppins SemiBold"/>
                        <a:ea typeface="Poppins SemiBold"/>
                        <a:cs typeface="Poppins SemiBold"/>
                        <a:sym typeface="Poppins SemiBold"/>
                      </a:endParaRPr>
                    </a:p>
                  </a:txBody>
                  <a:tcPr marT="73150" marB="73150" marR="91425" marL="91425" anchor="ctr">
                    <a:lnL cap="flat" cmpd="sng" w="9525">
                      <a:solidFill>
                        <a:srgbClr val="FCFCFC"/>
                      </a:solidFill>
                      <a:prstDash val="solid"/>
                      <a:round/>
                      <a:headEnd len="sm" w="sm" type="none"/>
                      <a:tailEnd len="sm" w="sm" type="none"/>
                    </a:lnL>
                    <a:lnR cap="flat" cmpd="sng" w="9525">
                      <a:solidFill>
                        <a:srgbClr val="FCFCFC"/>
                      </a:solidFill>
                      <a:prstDash val="solid"/>
                      <a:round/>
                      <a:headEnd len="sm" w="sm" type="none"/>
                      <a:tailEnd len="sm" w="sm" type="none"/>
                    </a:lnR>
                    <a:lnT cap="flat" cmpd="sng" w="9525">
                      <a:solidFill>
                        <a:srgbClr val="E5E5EB"/>
                      </a:solidFill>
                      <a:prstDash val="solid"/>
                      <a:round/>
                      <a:headEnd len="sm" w="sm" type="none"/>
                      <a:tailEnd len="sm" w="sm" type="none"/>
                    </a:lnT>
                    <a:lnB cap="flat" cmpd="sng" w="9525">
                      <a:solidFill>
                        <a:srgbClr val="FCFCFC"/>
                      </a:solidFill>
                      <a:prstDash val="solid"/>
                      <a:round/>
                      <a:headEnd len="sm" w="sm" type="none"/>
                      <a:tailEnd len="sm" w="sm" type="none"/>
                    </a:lnB>
                  </a:tcPr>
                </a:tc>
                <a:tc h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Product School Foundations">
  <a:themeElements>
    <a:clrScheme name="Simple Light">
      <a:dk1>
        <a:srgbClr val="07182C"/>
      </a:dk1>
      <a:lt1>
        <a:srgbClr val="FCFCFC"/>
      </a:lt1>
      <a:dk2>
        <a:srgbClr val="103869"/>
      </a:dk2>
      <a:lt2>
        <a:srgbClr val="0F243E"/>
      </a:lt2>
      <a:accent1>
        <a:srgbClr val="00D3AD"/>
      </a:accent1>
      <a:accent2>
        <a:srgbClr val="18C3D9"/>
      </a:accent2>
      <a:accent3>
        <a:srgbClr val="E46EB5"/>
      </a:accent3>
      <a:accent4>
        <a:srgbClr val="85859F"/>
      </a:accent4>
      <a:accent5>
        <a:srgbClr val="E5E5EB"/>
      </a:accent5>
      <a:accent6>
        <a:srgbClr val="BAF7EC"/>
      </a:accent6>
      <a:hlink>
        <a:srgbClr val="1038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